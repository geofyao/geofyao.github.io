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72" r:id="rId3"/>
    <p:sldId id="274" r:id="rId4"/>
    <p:sldId id="290" r:id="rId5"/>
    <p:sldId id="291" r:id="rId6"/>
    <p:sldId id="288" r:id="rId7"/>
    <p:sldId id="295" r:id="rId8"/>
    <p:sldId id="294" r:id="rId9"/>
    <p:sldId id="279" r:id="rId10"/>
    <p:sldId id="285" r:id="rId11"/>
    <p:sldId id="296" r:id="rId12"/>
    <p:sldId id="298" r:id="rId13"/>
    <p:sldId id="280" r:id="rId14"/>
    <p:sldId id="283" r:id="rId15"/>
    <p:sldId id="284" r:id="rId16"/>
    <p:sldId id="299" r:id="rId17"/>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04" userDrawn="1">
          <p15:clr>
            <a:srgbClr val="A4A3A4"/>
          </p15:clr>
        </p15:guide>
        <p15:guide id="2" pos="7368" userDrawn="1">
          <p15:clr>
            <a:srgbClr val="A4A3A4"/>
          </p15:clr>
        </p15:guide>
        <p15:guide id="3" orient="horz" pos="472" userDrawn="1">
          <p15:clr>
            <a:srgbClr val="A4A3A4"/>
          </p15:clr>
        </p15:guide>
        <p15:guide id="4" orient="horz" pos="41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9B7A"/>
    <a:srgbClr val="9A80C7"/>
    <a:srgbClr val="4393CF"/>
    <a:srgbClr val="D97757"/>
    <a:srgbClr val="4A4A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8915" autoAdjust="0"/>
    <p:restoredTop sz="88821"/>
  </p:normalViewPr>
  <p:slideViewPr>
    <p:cSldViewPr snapToGrid="0" showGuides="1">
      <p:cViewPr varScale="1">
        <p:scale>
          <a:sx n="126" d="100"/>
          <a:sy n="126" d="100"/>
        </p:scale>
        <p:origin x="1408" y="192"/>
      </p:cViewPr>
      <p:guideLst>
        <p:guide pos="304"/>
        <p:guide pos="7368"/>
        <p:guide orient="horz" pos="472"/>
        <p:guide orient="horz" pos="4156"/>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FF7382-B1F7-4D68-995D-F8373CE65DC0}" type="datetimeFigureOut">
              <a:rPr lang="zh-CN" altLang="en-US" smtClean="0"/>
              <a:t>2026/10/22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886D82-40B8-4175-AE33-CCD3B53A526C}" type="slidenum">
              <a:rPr lang="zh-CN" altLang="en-US" smtClean="0"/>
              <a:t>‹#›</a:t>
            </a:fld>
            <a:endParaRPr lang="zh-CN" altLang="en-US"/>
          </a:p>
        </p:txBody>
      </p:sp>
    </p:spTree>
    <p:extLst>
      <p:ext uri="{BB962C8B-B14F-4D97-AF65-F5344CB8AC3E}">
        <p14:creationId xmlns:p14="http://schemas.microsoft.com/office/powerpoint/2010/main" val="290637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8F886D82-40B8-4175-AE33-CCD3B53A526C}" type="slidenum">
              <a:rPr lang="zh-CN" altLang="en-US" smtClean="0"/>
              <a:t>1</a:t>
            </a:fld>
            <a:endParaRPr lang="zh-CN" altLang="en-US"/>
          </a:p>
        </p:txBody>
      </p:sp>
    </p:spTree>
    <p:extLst>
      <p:ext uri="{BB962C8B-B14F-4D97-AF65-F5344CB8AC3E}">
        <p14:creationId xmlns:p14="http://schemas.microsoft.com/office/powerpoint/2010/main" val="3409087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N"/>
          </a:p>
        </p:txBody>
      </p:sp>
      <p:sp>
        <p:nvSpPr>
          <p:cNvPr id="3" name="Notes Placeholder 2"/>
          <p:cNvSpPr>
            <a:spLocks noGrp="1"/>
          </p:cNvSpPr>
          <p:nvPr>
            <p:ph type="body" idx="1"/>
          </p:nvPr>
        </p:nvSpPr>
        <p:spPr/>
        <p:txBody>
          <a:bodyPr/>
          <a:lstStyle/>
          <a:p>
            <a:r>
              <a:rPr lang="en-CN" dirty="0"/>
              <a:t>爱丁堡大学地球科学学院在最新一轮</a:t>
            </a:r>
            <a:r>
              <a:rPr lang="zh-CN" altLang="en-US" dirty="0"/>
              <a:t>（</a:t>
            </a:r>
            <a:r>
              <a:rPr lang="en-US" altLang="zh-CN" dirty="0"/>
              <a:t>2021</a:t>
            </a:r>
            <a:r>
              <a:rPr lang="zh-CN" altLang="en-US" dirty="0"/>
              <a:t>年）英国卓越研究框架（</a:t>
            </a:r>
            <a:r>
              <a:rPr lang="en-US" altLang="zh-CN" dirty="0"/>
              <a:t>REF</a:t>
            </a:r>
            <a:r>
              <a:rPr lang="zh-CN" altLang="en-US" dirty="0"/>
              <a:t>）评估中，研究影响力位列全英第一。</a:t>
            </a:r>
            <a:endParaRPr lang="en-CN" dirty="0"/>
          </a:p>
        </p:txBody>
      </p:sp>
      <p:sp>
        <p:nvSpPr>
          <p:cNvPr id="4" name="Slide Number Placeholder 3"/>
          <p:cNvSpPr>
            <a:spLocks noGrp="1"/>
          </p:cNvSpPr>
          <p:nvPr>
            <p:ph type="sldNum" sz="quarter" idx="5"/>
          </p:nvPr>
        </p:nvSpPr>
        <p:spPr/>
        <p:txBody>
          <a:bodyPr/>
          <a:lstStyle/>
          <a:p>
            <a:fld id="{8F886D82-40B8-4175-AE33-CCD3B53A526C}" type="slidenum">
              <a:rPr lang="zh-CN" altLang="en-US" smtClean="0"/>
              <a:t>2</a:t>
            </a:fld>
            <a:endParaRPr lang="zh-CN" altLang="en-US"/>
          </a:p>
        </p:txBody>
      </p:sp>
    </p:spTree>
    <p:extLst>
      <p:ext uri="{BB962C8B-B14F-4D97-AF65-F5344CB8AC3E}">
        <p14:creationId xmlns:p14="http://schemas.microsoft.com/office/powerpoint/2010/main" val="3018090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N"/>
          </a:p>
        </p:txBody>
      </p:sp>
      <p:sp>
        <p:nvSpPr>
          <p:cNvPr id="3" name="Notes Placeholder 2"/>
          <p:cNvSpPr>
            <a:spLocks noGrp="1"/>
          </p:cNvSpPr>
          <p:nvPr>
            <p:ph type="body" idx="1"/>
          </p:nvPr>
        </p:nvSpPr>
        <p:spPr/>
        <p:txBody>
          <a:bodyPr/>
          <a:lstStyle/>
          <a:p>
            <a:r>
              <a:rPr lang="en-US" dirty="0"/>
              <a:t>主持或参与科研项目</a:t>
            </a:r>
            <a:r>
              <a:rPr lang="zh-CN" altLang="en-US" dirty="0"/>
              <a:t>不是优势，故不具体列出。</a:t>
            </a:r>
            <a:endParaRPr lang="en-US" dirty="0"/>
          </a:p>
          <a:p>
            <a:r>
              <a:rPr lang="en-US" dirty="0"/>
              <a:t>Sci. Total Environ. 为</a:t>
            </a:r>
            <a:r>
              <a:rPr lang="en-US" altLang="zh-CN" dirty="0"/>
              <a:t>2024</a:t>
            </a:r>
            <a:r>
              <a:rPr lang="zh-CN" altLang="en-US" dirty="0"/>
              <a:t>年最后一次影响因子。</a:t>
            </a:r>
            <a:endParaRPr lang="en-US" altLang="zh-CN" dirty="0"/>
          </a:p>
          <a:p>
            <a:r>
              <a:rPr lang="en-US" dirty="0" err="1"/>
              <a:t>做顶刊的钉子户</a:t>
            </a:r>
            <a:r>
              <a:rPr lang="zh-CN" altLang="en-US" dirty="0"/>
              <a:t>，争取子刊有所突破。</a:t>
            </a:r>
            <a:endParaRPr lang="en-CN" dirty="0"/>
          </a:p>
        </p:txBody>
      </p:sp>
      <p:sp>
        <p:nvSpPr>
          <p:cNvPr id="4" name="Slide Number Placeholder 3"/>
          <p:cNvSpPr>
            <a:spLocks noGrp="1"/>
          </p:cNvSpPr>
          <p:nvPr>
            <p:ph type="sldNum" sz="quarter" idx="5"/>
          </p:nvPr>
        </p:nvSpPr>
        <p:spPr/>
        <p:txBody>
          <a:bodyPr/>
          <a:lstStyle/>
          <a:p>
            <a:fld id="{8F886D82-40B8-4175-AE33-CCD3B53A526C}" type="slidenum">
              <a:rPr lang="zh-CN" altLang="en-US" smtClean="0"/>
              <a:t>3</a:t>
            </a:fld>
            <a:endParaRPr lang="zh-CN" altLang="en-US"/>
          </a:p>
        </p:txBody>
      </p:sp>
    </p:spTree>
    <p:extLst>
      <p:ext uri="{BB962C8B-B14F-4D97-AF65-F5344CB8AC3E}">
        <p14:creationId xmlns:p14="http://schemas.microsoft.com/office/powerpoint/2010/main" val="1892224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N"/>
          </a:p>
        </p:txBody>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8F886D82-40B8-4175-AE33-CCD3B53A526C}" type="slidenum">
              <a:rPr lang="zh-CN" altLang="en-US" smtClean="0"/>
              <a:t>4</a:t>
            </a:fld>
            <a:endParaRPr lang="zh-CN" altLang="en-US"/>
          </a:p>
        </p:txBody>
      </p:sp>
    </p:spTree>
    <p:extLst>
      <p:ext uri="{BB962C8B-B14F-4D97-AF65-F5344CB8AC3E}">
        <p14:creationId xmlns:p14="http://schemas.microsoft.com/office/powerpoint/2010/main" val="1231680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8F886D82-40B8-4175-AE33-CCD3B53A526C}" type="slidenum">
              <a:rPr lang="zh-CN" altLang="en-US" smtClean="0"/>
              <a:t>6</a:t>
            </a:fld>
            <a:endParaRPr lang="zh-CN" altLang="en-US"/>
          </a:p>
        </p:txBody>
      </p:sp>
    </p:spTree>
    <p:extLst>
      <p:ext uri="{BB962C8B-B14F-4D97-AF65-F5344CB8AC3E}">
        <p14:creationId xmlns:p14="http://schemas.microsoft.com/office/powerpoint/2010/main" val="3716179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8F93A-E34D-A8E6-A3CD-5AA24A20FA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D0C21-BE92-9F8C-E00F-A175E286D19A}"/>
              </a:ext>
            </a:extLst>
          </p:cNvPr>
          <p:cNvSpPr>
            <a:spLocks noGrp="1" noRot="1" noChangeAspect="1"/>
          </p:cNvSpPr>
          <p:nvPr>
            <p:ph type="sldImg"/>
          </p:nvPr>
        </p:nvSpPr>
        <p:spPr/>
        <p:txBody>
          <a:bodyPr/>
          <a:lstStyle/>
          <a:p>
            <a:endParaRPr lang="en-CN"/>
          </a:p>
        </p:txBody>
      </p:sp>
      <p:sp>
        <p:nvSpPr>
          <p:cNvPr id="3" name="Notes Placeholder 2">
            <a:extLst>
              <a:ext uri="{FF2B5EF4-FFF2-40B4-BE49-F238E27FC236}">
                <a16:creationId xmlns:a16="http://schemas.microsoft.com/office/drawing/2014/main" id="{D79E4869-F1E3-013D-16ED-34810217370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https://</a:t>
            </a:r>
            <a:r>
              <a:rPr lang="en-US" altLang="zh-CN" dirty="0" err="1"/>
              <a:t>news.sciencenet.cn</a:t>
            </a:r>
            <a:r>
              <a:rPr lang="en-US" altLang="zh-CN" dirty="0"/>
              <a:t>/</a:t>
            </a:r>
            <a:r>
              <a:rPr lang="en-US" altLang="zh-CN" dirty="0" err="1"/>
              <a:t>htmlpaper</a:t>
            </a:r>
            <a:r>
              <a:rPr lang="en-US" altLang="zh-CN" dirty="0"/>
              <a:t>/2026/9/20269519523399155197.shtm</a:t>
            </a:r>
          </a:p>
          <a:p>
            <a:r>
              <a:rPr lang="zh-CN" altLang="en-US" dirty="0"/>
              <a:t>彭书时说：“破解谜团的价值，不止于解释历史。”</a:t>
            </a:r>
            <a:endParaRPr lang="en-US" altLang="zh-CN" dirty="0"/>
          </a:p>
          <a:p>
            <a:r>
              <a:rPr lang="zh-CN" altLang="en-US" dirty="0"/>
              <a:t>模型验证除了颗粒物浓度及其沉降外，还应该加上装机容量估算</a:t>
            </a:r>
            <a:r>
              <a:rPr lang="en-US" altLang="zh-CN" dirty="0"/>
              <a:t>/</a:t>
            </a:r>
            <a:r>
              <a:rPr lang="zh-CN" altLang="en-US" dirty="0"/>
              <a:t>发电量估算，参考刘瑜</a:t>
            </a:r>
            <a:r>
              <a:rPr lang="en-US" altLang="zh-CN" dirty="0"/>
              <a:t>Nature</a:t>
            </a:r>
            <a:r>
              <a:rPr lang="zh-CN" altLang="en-US" dirty="0"/>
              <a:t>文章。</a:t>
            </a:r>
            <a:endParaRPr lang="en-CN" dirty="0"/>
          </a:p>
        </p:txBody>
      </p:sp>
      <p:sp>
        <p:nvSpPr>
          <p:cNvPr id="4" name="Slide Number Placeholder 3">
            <a:extLst>
              <a:ext uri="{FF2B5EF4-FFF2-40B4-BE49-F238E27FC236}">
                <a16:creationId xmlns:a16="http://schemas.microsoft.com/office/drawing/2014/main" id="{70C53756-19A5-8F49-FE79-E7D1C55E6999}"/>
              </a:ext>
            </a:extLst>
          </p:cNvPr>
          <p:cNvSpPr>
            <a:spLocks noGrp="1"/>
          </p:cNvSpPr>
          <p:nvPr>
            <p:ph type="sldNum" sz="quarter" idx="5"/>
          </p:nvPr>
        </p:nvSpPr>
        <p:spPr/>
        <p:txBody>
          <a:bodyPr/>
          <a:lstStyle/>
          <a:p>
            <a:fld id="{8F886D82-40B8-4175-AE33-CCD3B53A526C}" type="slidenum">
              <a:rPr lang="zh-CN" altLang="en-US" smtClean="0"/>
              <a:t>8</a:t>
            </a:fld>
            <a:endParaRPr lang="zh-CN" altLang="en-US"/>
          </a:p>
        </p:txBody>
      </p:sp>
    </p:spTree>
    <p:extLst>
      <p:ext uri="{BB962C8B-B14F-4D97-AF65-F5344CB8AC3E}">
        <p14:creationId xmlns:p14="http://schemas.microsoft.com/office/powerpoint/2010/main" val="2405828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92BE7-7DB5-8706-344B-E22681F16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53050-08E2-4A18-D16E-9CA178B8BA0F}"/>
              </a:ext>
            </a:extLst>
          </p:cNvPr>
          <p:cNvSpPr>
            <a:spLocks noGrp="1" noRot="1" noChangeAspect="1"/>
          </p:cNvSpPr>
          <p:nvPr>
            <p:ph type="sldImg"/>
          </p:nvPr>
        </p:nvSpPr>
        <p:spPr/>
        <p:txBody>
          <a:bodyPr/>
          <a:lstStyle/>
          <a:p>
            <a:endParaRPr lang="en-CN"/>
          </a:p>
        </p:txBody>
      </p:sp>
      <p:sp>
        <p:nvSpPr>
          <p:cNvPr id="3" name="Notes Placeholder 2">
            <a:extLst>
              <a:ext uri="{FF2B5EF4-FFF2-40B4-BE49-F238E27FC236}">
                <a16:creationId xmlns:a16="http://schemas.microsoft.com/office/drawing/2014/main" id="{63592468-A869-4177-7AD4-3BDE512E77AB}"/>
              </a:ext>
            </a:extLst>
          </p:cNvPr>
          <p:cNvSpPr>
            <a:spLocks noGrp="1"/>
          </p:cNvSpPr>
          <p:nvPr>
            <p:ph type="body" idx="1"/>
          </p:nvPr>
        </p:nvSpPr>
        <p:spPr/>
        <p:txBody>
          <a:bodyPr/>
          <a:lstStyle/>
          <a:p>
            <a:endParaRPr lang="en-US" altLang="zh-CN" dirty="0"/>
          </a:p>
        </p:txBody>
      </p:sp>
      <p:sp>
        <p:nvSpPr>
          <p:cNvPr id="4" name="Slide Number Placeholder 3">
            <a:extLst>
              <a:ext uri="{FF2B5EF4-FFF2-40B4-BE49-F238E27FC236}">
                <a16:creationId xmlns:a16="http://schemas.microsoft.com/office/drawing/2014/main" id="{E3373E03-A162-50C3-01AB-252F44A0A136}"/>
              </a:ext>
            </a:extLst>
          </p:cNvPr>
          <p:cNvSpPr>
            <a:spLocks noGrp="1"/>
          </p:cNvSpPr>
          <p:nvPr>
            <p:ph type="sldNum" sz="quarter" idx="5"/>
          </p:nvPr>
        </p:nvSpPr>
        <p:spPr/>
        <p:txBody>
          <a:bodyPr/>
          <a:lstStyle/>
          <a:p>
            <a:fld id="{8F886D82-40B8-4175-AE33-CCD3B53A526C}" type="slidenum">
              <a:rPr lang="zh-CN" altLang="en-US" smtClean="0"/>
              <a:t>10</a:t>
            </a:fld>
            <a:endParaRPr lang="zh-CN" altLang="en-US"/>
          </a:p>
        </p:txBody>
      </p:sp>
    </p:spTree>
    <p:extLst>
      <p:ext uri="{BB962C8B-B14F-4D97-AF65-F5344CB8AC3E}">
        <p14:creationId xmlns:p14="http://schemas.microsoft.com/office/powerpoint/2010/main" val="927326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N"/>
          </a:p>
        </p:txBody>
      </p:sp>
      <p:sp>
        <p:nvSpPr>
          <p:cNvPr id="3" name="Notes Placeholder 2"/>
          <p:cNvSpPr>
            <a:spLocks noGrp="1"/>
          </p:cNvSpPr>
          <p:nvPr>
            <p:ph type="body" idx="1"/>
          </p:nvPr>
        </p:nvSpPr>
        <p:spPr/>
        <p:txBody>
          <a:bodyPr/>
          <a:lstStyle/>
          <a:p>
            <a:endParaRPr lang="en-US" altLang="zh-CN" dirty="0"/>
          </a:p>
        </p:txBody>
      </p:sp>
      <p:sp>
        <p:nvSpPr>
          <p:cNvPr id="4" name="Slide Number Placeholder 3"/>
          <p:cNvSpPr>
            <a:spLocks noGrp="1"/>
          </p:cNvSpPr>
          <p:nvPr>
            <p:ph type="sldNum" sz="quarter" idx="5"/>
          </p:nvPr>
        </p:nvSpPr>
        <p:spPr/>
        <p:txBody>
          <a:bodyPr/>
          <a:lstStyle/>
          <a:p>
            <a:fld id="{8F886D82-40B8-4175-AE33-CCD3B53A526C}" type="slidenum">
              <a:rPr lang="zh-CN" altLang="en-US" smtClean="0"/>
              <a:t>15</a:t>
            </a:fld>
            <a:endParaRPr lang="zh-CN" altLang="en-US"/>
          </a:p>
        </p:txBody>
      </p:sp>
    </p:spTree>
    <p:extLst>
      <p:ext uri="{BB962C8B-B14F-4D97-AF65-F5344CB8AC3E}">
        <p14:creationId xmlns:p14="http://schemas.microsoft.com/office/powerpoint/2010/main" val="34149169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 et al. (Sci. Data, 2025)</a:t>
            </a:r>
            <a:r>
              <a:rPr lang="en-US" dirty="0" err="1"/>
              <a:t>指出Kruitwagen</a:t>
            </a:r>
            <a:r>
              <a:rPr lang="en-US" dirty="0"/>
              <a:t> et al. (Nature, 2020)中的一些光伏设施自</a:t>
            </a:r>
            <a:r>
              <a:rPr lang="en-US" altLang="zh-CN" dirty="0"/>
              <a:t>2019</a:t>
            </a:r>
            <a:r>
              <a:rPr lang="zh-CN" altLang="en-US" dirty="0"/>
              <a:t>年后消失（</a:t>
            </a:r>
            <a:r>
              <a:rPr lang="en-US" altLang="zh-CN" dirty="0"/>
              <a:t>disappeared</a:t>
            </a:r>
            <a:r>
              <a:rPr lang="zh-CN" altLang="en-US" dirty="0"/>
              <a:t>）</a:t>
            </a:r>
            <a:endParaRPr lang="en-US" altLang="zh-CN" dirty="0"/>
          </a:p>
          <a:p>
            <a:r>
              <a:rPr lang="en-US" dirty="0"/>
              <a:t>Song et al. (Nat. Sustain., 2026)</a:t>
            </a:r>
            <a:r>
              <a:rPr lang="en-US" dirty="0" err="1"/>
              <a:t>提取的光伏设施足迹考虑了光伏板之间的gaps</a:t>
            </a:r>
            <a:r>
              <a:rPr lang="zh-CN" altLang="en-US" dirty="0"/>
              <a:t>，因此在后续计算装机容量和发电量及其损失，不用再额外考虑</a:t>
            </a:r>
            <a:r>
              <a:rPr lang="en-US" altLang="zh-CN" dirty="0"/>
              <a:t>ground</a:t>
            </a:r>
            <a:r>
              <a:rPr lang="zh-CN" altLang="en-US" dirty="0"/>
              <a:t> </a:t>
            </a:r>
            <a:r>
              <a:rPr lang="en-US" altLang="zh-CN" dirty="0"/>
              <a:t>coverage</a:t>
            </a:r>
            <a:r>
              <a:rPr lang="zh-CN" altLang="en-US" dirty="0"/>
              <a:t> </a:t>
            </a:r>
            <a:r>
              <a:rPr lang="en-US" altLang="zh-CN" dirty="0"/>
              <a:t>ratios</a:t>
            </a:r>
            <a:r>
              <a:rPr lang="zh-CN" altLang="en-US" dirty="0"/>
              <a:t>，这个尤其要注意</a:t>
            </a:r>
            <a:r>
              <a:rPr lang="en-US" altLang="zh-CN" dirty="0"/>
              <a:t>PVLIB-Python</a:t>
            </a:r>
            <a:r>
              <a:rPr lang="zh-CN" altLang="en-US" dirty="0"/>
              <a:t>针对</a:t>
            </a:r>
            <a:r>
              <a:rPr lang="en-US" altLang="zh-CN" dirty="0"/>
              <a:t>one-axis tracking panels</a:t>
            </a:r>
            <a:r>
              <a:rPr lang="zh-CN" altLang="en-US" dirty="0"/>
              <a:t>有一个</a:t>
            </a:r>
            <a:r>
              <a:rPr lang="en-US" altLang="zh-CN" dirty="0"/>
              <a:t>default</a:t>
            </a:r>
            <a:r>
              <a:rPr lang="zh-CN" altLang="en-US" dirty="0"/>
              <a:t> </a:t>
            </a:r>
            <a:r>
              <a:rPr lang="en-US" altLang="zh-CN" dirty="0" err="1"/>
              <a:t>gcr</a:t>
            </a:r>
            <a:r>
              <a:rPr lang="en-US" altLang="zh-CN" dirty="0"/>
              <a:t>=2/7.</a:t>
            </a:r>
          </a:p>
          <a:p>
            <a:r>
              <a:rPr lang="en-US" dirty="0" err="1"/>
              <a:t>RF等传统方法给出的pixel</a:t>
            </a:r>
            <a:r>
              <a:rPr lang="zh-CN" altLang="en-US" dirty="0"/>
              <a:t> </a:t>
            </a:r>
            <a:r>
              <a:rPr lang="en-US" altLang="zh-CN" dirty="0"/>
              <a:t>probability</a:t>
            </a:r>
            <a:r>
              <a:rPr lang="zh-CN" altLang="en-US" dirty="0"/>
              <a:t>也可进一步转化为</a:t>
            </a:r>
            <a:r>
              <a:rPr lang="en-US" altLang="zh-CN" dirty="0"/>
              <a:t>vector</a:t>
            </a:r>
            <a:r>
              <a:rPr lang="zh-CN" altLang="en-US" dirty="0"/>
              <a:t>数据，如</a:t>
            </a:r>
            <a:r>
              <a:rPr lang="en-US" altLang="zh-CN" dirty="0"/>
              <a:t>Zhang et al. (Earth Syst. Sci. Data, 2022)</a:t>
            </a:r>
            <a:r>
              <a:rPr lang="zh-CN" altLang="en-US" dirty="0"/>
              <a:t>，尽管</a:t>
            </a:r>
            <a:r>
              <a:rPr lang="en-US" altLang="zh-CN" dirty="0"/>
              <a:t>Li et al. (Sci. Data, 2025)</a:t>
            </a:r>
            <a:r>
              <a:rPr lang="zh-CN" altLang="en-US" dirty="0"/>
              <a:t>没有采取类似的操作。</a:t>
            </a:r>
            <a:endParaRPr lang="en-US" altLang="zh-CN" dirty="0"/>
          </a:p>
          <a:p>
            <a:endParaRPr lang="en-CN" dirty="0"/>
          </a:p>
        </p:txBody>
      </p:sp>
      <p:sp>
        <p:nvSpPr>
          <p:cNvPr id="4" name="Slide Number Placeholder 3"/>
          <p:cNvSpPr>
            <a:spLocks noGrp="1"/>
          </p:cNvSpPr>
          <p:nvPr>
            <p:ph type="sldNum" sz="quarter" idx="5"/>
          </p:nvPr>
        </p:nvSpPr>
        <p:spPr/>
        <p:txBody>
          <a:bodyPr/>
          <a:lstStyle/>
          <a:p>
            <a:fld id="{8F886D82-40B8-4175-AE33-CCD3B53A526C}" type="slidenum">
              <a:rPr lang="zh-CN" altLang="en-US" smtClean="0"/>
              <a:t>16</a:t>
            </a:fld>
            <a:endParaRPr lang="zh-CN" altLang="en-US"/>
          </a:p>
        </p:txBody>
      </p:sp>
    </p:spTree>
    <p:extLst>
      <p:ext uri="{BB962C8B-B14F-4D97-AF65-F5344CB8AC3E}">
        <p14:creationId xmlns:p14="http://schemas.microsoft.com/office/powerpoint/2010/main" val="951045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BD8F6F-08AB-422E-BF07-88B099000CA3}"/>
              </a:ext>
            </a:extLst>
          </p:cNvPr>
          <p:cNvSpPr>
            <a:spLocks noGrp="1"/>
          </p:cNvSpPr>
          <p:nvPr>
            <p:ph type="ctrTitle"/>
          </p:nvPr>
        </p:nvSpPr>
        <p:spPr>
          <a:xfrm>
            <a:off x="495300" y="1122363"/>
            <a:ext cx="11201400" cy="2387600"/>
          </a:xfrm>
        </p:spPr>
        <p:txBody>
          <a:bodyPr anchor="ctr"/>
          <a:lstStyle>
            <a:lvl1pPr algn="ctr">
              <a:defRPr sz="6000"/>
            </a:lvl1pPr>
          </a:lstStyle>
          <a:p>
            <a:r>
              <a:rPr lang="zh-CN" altLang="en-US" dirty="0"/>
              <a:t>单击此处编辑母版标题样式</a:t>
            </a:r>
          </a:p>
        </p:txBody>
      </p:sp>
      <p:sp>
        <p:nvSpPr>
          <p:cNvPr id="3" name="副标题 2">
            <a:extLst>
              <a:ext uri="{FF2B5EF4-FFF2-40B4-BE49-F238E27FC236}">
                <a16:creationId xmlns:a16="http://schemas.microsoft.com/office/drawing/2014/main" id="{5B68DE6F-6712-4B07-97EE-B9935CF4B6E7}"/>
              </a:ext>
            </a:extLst>
          </p:cNvPr>
          <p:cNvSpPr>
            <a:spLocks noGrp="1"/>
          </p:cNvSpPr>
          <p:nvPr>
            <p:ph type="subTitle" idx="1"/>
          </p:nvPr>
        </p:nvSpPr>
        <p:spPr>
          <a:xfrm>
            <a:off x="482600" y="3602038"/>
            <a:ext cx="112141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2728316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FA7FF2-BE51-489D-AA15-0DD2A6AA8AD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D6AF0AD-2601-4F52-BC4F-A9D4D9D41A5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灯片编号占位符 5">
            <a:extLst>
              <a:ext uri="{FF2B5EF4-FFF2-40B4-BE49-F238E27FC236}">
                <a16:creationId xmlns:a16="http://schemas.microsoft.com/office/drawing/2014/main" id="{5A9749F1-FE75-45FB-95A9-1B839DBA4611}"/>
              </a:ext>
            </a:extLst>
          </p:cNvPr>
          <p:cNvSpPr>
            <a:spLocks noGrp="1"/>
          </p:cNvSpPr>
          <p:nvPr>
            <p:ph type="sldNum" sz="quarter" idx="12"/>
          </p:nvPr>
        </p:nvSpPr>
        <p:spPr/>
        <p:txBody>
          <a:bodyPr/>
          <a:lstStyle/>
          <a:p>
            <a:fld id="{3ACD1EC8-6F57-41A7-99F1-FEDB2874BA2B}" type="slidenum">
              <a:rPr lang="zh-CN" altLang="en-US" smtClean="0"/>
              <a:t>‹#›</a:t>
            </a:fld>
            <a:endParaRPr lang="zh-CN" altLang="en-US"/>
          </a:p>
        </p:txBody>
      </p:sp>
    </p:spTree>
    <p:extLst>
      <p:ext uri="{BB962C8B-B14F-4D97-AF65-F5344CB8AC3E}">
        <p14:creationId xmlns:p14="http://schemas.microsoft.com/office/powerpoint/2010/main" val="1520473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B0259C-CF72-49AD-8FAD-12AB6C7FF30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279AC4F-B399-41E7-8954-866E1E09B1F4}"/>
              </a:ext>
            </a:extLst>
          </p:cNvPr>
          <p:cNvSpPr>
            <a:spLocks noGrp="1"/>
          </p:cNvSpPr>
          <p:nvPr>
            <p:ph sz="half" idx="1"/>
          </p:nvPr>
        </p:nvSpPr>
        <p:spPr>
          <a:xfrm>
            <a:off x="838200" y="1036320"/>
            <a:ext cx="5181600" cy="514064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16E20B4-2A29-48CF-9837-10F7757FB6C7}"/>
              </a:ext>
            </a:extLst>
          </p:cNvPr>
          <p:cNvSpPr>
            <a:spLocks noGrp="1"/>
          </p:cNvSpPr>
          <p:nvPr>
            <p:ph sz="half" idx="2"/>
          </p:nvPr>
        </p:nvSpPr>
        <p:spPr>
          <a:xfrm>
            <a:off x="6172200" y="1036320"/>
            <a:ext cx="5181600" cy="514064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灯片编号占位符 6">
            <a:extLst>
              <a:ext uri="{FF2B5EF4-FFF2-40B4-BE49-F238E27FC236}">
                <a16:creationId xmlns:a16="http://schemas.microsoft.com/office/drawing/2014/main" id="{7AD3033B-76E7-4F25-BE95-E084E5162D5A}"/>
              </a:ext>
            </a:extLst>
          </p:cNvPr>
          <p:cNvSpPr>
            <a:spLocks noGrp="1"/>
          </p:cNvSpPr>
          <p:nvPr>
            <p:ph type="sldNum" sz="quarter" idx="12"/>
          </p:nvPr>
        </p:nvSpPr>
        <p:spPr/>
        <p:txBody>
          <a:bodyPr/>
          <a:lstStyle/>
          <a:p>
            <a:fld id="{3ACD1EC8-6F57-41A7-99F1-FEDB2874BA2B}" type="slidenum">
              <a:rPr lang="zh-CN" altLang="en-US" smtClean="0"/>
              <a:t>‹#›</a:t>
            </a:fld>
            <a:endParaRPr lang="zh-CN" altLang="en-US"/>
          </a:p>
        </p:txBody>
      </p:sp>
    </p:spTree>
    <p:extLst>
      <p:ext uri="{BB962C8B-B14F-4D97-AF65-F5344CB8AC3E}">
        <p14:creationId xmlns:p14="http://schemas.microsoft.com/office/powerpoint/2010/main" val="779849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9C42F6-7BC7-4B9F-8BBD-23FE1B41C79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1904565-16B3-4AD3-A820-2CF381E55182}"/>
              </a:ext>
            </a:extLst>
          </p:cNvPr>
          <p:cNvSpPr>
            <a:spLocks noGrp="1"/>
          </p:cNvSpPr>
          <p:nvPr>
            <p:ph type="dt" sz="half" idx="10"/>
          </p:nvPr>
        </p:nvSpPr>
        <p:spPr>
          <a:xfrm>
            <a:off x="838200" y="6356350"/>
            <a:ext cx="2743200" cy="365125"/>
          </a:xfrm>
          <a:prstGeom prst="rect">
            <a:avLst/>
          </a:prstGeom>
        </p:spPr>
        <p:txBody>
          <a:bodyPr/>
          <a:lstStyle/>
          <a:p>
            <a:fld id="{73B6875E-AEA4-42E3-A6DA-2440C2C8329E}" type="datetime1">
              <a:rPr lang="zh-CN" altLang="en-US" smtClean="0"/>
              <a:t>2026/10/22</a:t>
            </a:fld>
            <a:endParaRPr lang="zh-CN" altLang="en-US"/>
          </a:p>
        </p:txBody>
      </p:sp>
      <p:sp>
        <p:nvSpPr>
          <p:cNvPr id="4" name="页脚占位符 3">
            <a:extLst>
              <a:ext uri="{FF2B5EF4-FFF2-40B4-BE49-F238E27FC236}">
                <a16:creationId xmlns:a16="http://schemas.microsoft.com/office/drawing/2014/main" id="{EF59F35C-A224-4CAC-B5E9-C90ECF49846B}"/>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71F5DC01-F74D-4510-A748-035E31EE6368}"/>
              </a:ext>
            </a:extLst>
          </p:cNvPr>
          <p:cNvSpPr>
            <a:spLocks noGrp="1"/>
          </p:cNvSpPr>
          <p:nvPr>
            <p:ph type="sldNum" sz="quarter" idx="12"/>
          </p:nvPr>
        </p:nvSpPr>
        <p:spPr/>
        <p:txBody>
          <a:bodyPr/>
          <a:lstStyle/>
          <a:p>
            <a:fld id="{3ACD1EC8-6F57-41A7-99F1-FEDB2874BA2B}" type="slidenum">
              <a:rPr lang="zh-CN" altLang="en-US" smtClean="0"/>
              <a:t>‹#›</a:t>
            </a:fld>
            <a:endParaRPr lang="zh-CN" altLang="en-US"/>
          </a:p>
        </p:txBody>
      </p:sp>
    </p:spTree>
    <p:extLst>
      <p:ext uri="{BB962C8B-B14F-4D97-AF65-F5344CB8AC3E}">
        <p14:creationId xmlns:p14="http://schemas.microsoft.com/office/powerpoint/2010/main" val="1446294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5FA9B5E-1179-424A-9D9B-043584A45B1F}"/>
              </a:ext>
            </a:extLst>
          </p:cNvPr>
          <p:cNvSpPr>
            <a:spLocks noGrp="1"/>
          </p:cNvSpPr>
          <p:nvPr>
            <p:ph type="sldNum" sz="quarter" idx="12"/>
          </p:nvPr>
        </p:nvSpPr>
        <p:spPr/>
        <p:txBody>
          <a:bodyPr/>
          <a:lstStyle/>
          <a:p>
            <a:fld id="{3ACD1EC8-6F57-41A7-99F1-FEDB2874BA2B}" type="slidenum">
              <a:rPr lang="zh-CN" altLang="en-US" smtClean="0"/>
              <a:t>‹#›</a:t>
            </a:fld>
            <a:endParaRPr lang="zh-CN" altLang="en-US"/>
          </a:p>
        </p:txBody>
      </p:sp>
    </p:spTree>
    <p:extLst>
      <p:ext uri="{BB962C8B-B14F-4D97-AF65-F5344CB8AC3E}">
        <p14:creationId xmlns:p14="http://schemas.microsoft.com/office/powerpoint/2010/main" val="40113207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45496D6-6340-4D75-9F6E-2AC17D25826D}"/>
              </a:ext>
            </a:extLst>
          </p:cNvPr>
          <p:cNvSpPr>
            <a:spLocks noGrp="1"/>
          </p:cNvSpPr>
          <p:nvPr>
            <p:ph type="title"/>
          </p:nvPr>
        </p:nvSpPr>
        <p:spPr>
          <a:xfrm>
            <a:off x="482600" y="136525"/>
            <a:ext cx="11214100" cy="615159"/>
          </a:xfrm>
          <a:prstGeom prst="rect">
            <a:avLst/>
          </a:prstGeom>
        </p:spPr>
        <p:txBody>
          <a:bodyPr vert="horz" lIns="91440" tIns="45720" rIns="91440" bIns="45720" rtlCol="0" anchor="ctr">
            <a:no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0804680-DAF3-4C26-8CDB-11093A408EB4}"/>
              </a:ext>
            </a:extLst>
          </p:cNvPr>
          <p:cNvSpPr>
            <a:spLocks noGrp="1"/>
          </p:cNvSpPr>
          <p:nvPr>
            <p:ph type="body" idx="1"/>
          </p:nvPr>
        </p:nvSpPr>
        <p:spPr>
          <a:xfrm>
            <a:off x="482600" y="868182"/>
            <a:ext cx="11214100" cy="551118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矩形 6">
            <a:extLst>
              <a:ext uri="{FF2B5EF4-FFF2-40B4-BE49-F238E27FC236}">
                <a16:creationId xmlns:a16="http://schemas.microsoft.com/office/drawing/2014/main" id="{9B4D84BF-2AF5-4184-BA51-DAE90778BA19}"/>
              </a:ext>
            </a:extLst>
          </p:cNvPr>
          <p:cNvSpPr/>
          <p:nvPr userDrawn="1"/>
        </p:nvSpPr>
        <p:spPr>
          <a:xfrm>
            <a:off x="0" y="6570000"/>
            <a:ext cx="12192000" cy="28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grpSp>
        <p:nvGrpSpPr>
          <p:cNvPr id="8" name="Group 4">
            <a:extLst>
              <a:ext uri="{FF2B5EF4-FFF2-40B4-BE49-F238E27FC236}">
                <a16:creationId xmlns:a16="http://schemas.microsoft.com/office/drawing/2014/main" id="{B61E0390-630C-4AF6-B2A1-6CE666C986D8}"/>
              </a:ext>
            </a:extLst>
          </p:cNvPr>
          <p:cNvGrpSpPr>
            <a:grpSpLocks noChangeAspect="1"/>
          </p:cNvGrpSpPr>
          <p:nvPr userDrawn="1"/>
        </p:nvGrpSpPr>
        <p:grpSpPr bwMode="auto">
          <a:xfrm>
            <a:off x="9939005" y="397033"/>
            <a:ext cx="2252995" cy="356370"/>
            <a:chOff x="768" y="1292"/>
            <a:chExt cx="5241" cy="829"/>
          </a:xfrm>
          <a:solidFill>
            <a:schemeClr val="accent1"/>
          </a:solidFill>
        </p:grpSpPr>
        <p:sp>
          <p:nvSpPr>
            <p:cNvPr id="9" name="Freeform 5">
              <a:extLst>
                <a:ext uri="{FF2B5EF4-FFF2-40B4-BE49-F238E27FC236}">
                  <a16:creationId xmlns:a16="http://schemas.microsoft.com/office/drawing/2014/main" id="{75B8AD57-3ED2-4C7E-9BB6-F795E9E53466}"/>
                </a:ext>
              </a:extLst>
            </p:cNvPr>
            <p:cNvSpPr>
              <a:spLocks/>
            </p:cNvSpPr>
            <p:nvPr/>
          </p:nvSpPr>
          <p:spPr bwMode="auto">
            <a:xfrm>
              <a:off x="4267" y="1292"/>
              <a:ext cx="1742" cy="829"/>
            </a:xfrm>
            <a:custGeom>
              <a:avLst/>
              <a:gdLst>
                <a:gd name="T0" fmla="*/ 1742 w 1742"/>
                <a:gd name="T1" fmla="*/ 829 h 829"/>
                <a:gd name="T2" fmla="*/ 851 w 1742"/>
                <a:gd name="T3" fmla="*/ 829 h 829"/>
                <a:gd name="T4" fmla="*/ 851 w 1742"/>
                <a:gd name="T5" fmla="*/ 9 h 829"/>
                <a:gd name="T6" fmla="*/ 751 w 1742"/>
                <a:gd name="T7" fmla="*/ 9 h 829"/>
                <a:gd name="T8" fmla="*/ 751 w 1742"/>
                <a:gd name="T9" fmla="*/ 24 h 829"/>
                <a:gd name="T10" fmla="*/ 724 w 1742"/>
                <a:gd name="T11" fmla="*/ 24 h 829"/>
                <a:gd name="T12" fmla="*/ 724 w 1742"/>
                <a:gd name="T13" fmla="*/ 9 h 829"/>
                <a:gd name="T14" fmla="*/ 258 w 1742"/>
                <a:gd name="T15" fmla="*/ 9 h 829"/>
                <a:gd name="T16" fmla="*/ 258 w 1742"/>
                <a:gd name="T17" fmla="*/ 24 h 829"/>
                <a:gd name="T18" fmla="*/ 231 w 1742"/>
                <a:gd name="T19" fmla="*/ 24 h 829"/>
                <a:gd name="T20" fmla="*/ 231 w 1742"/>
                <a:gd name="T21" fmla="*/ 9 h 829"/>
                <a:gd name="T22" fmla="*/ 132 w 1742"/>
                <a:gd name="T23" fmla="*/ 9 h 829"/>
                <a:gd name="T24" fmla="*/ 132 w 1742"/>
                <a:gd name="T25" fmla="*/ 829 h 829"/>
                <a:gd name="T26" fmla="*/ 0 w 1742"/>
                <a:gd name="T27" fmla="*/ 829 h 829"/>
                <a:gd name="T28" fmla="*/ 0 w 1742"/>
                <a:gd name="T29" fmla="*/ 820 h 829"/>
                <a:gd name="T30" fmla="*/ 123 w 1742"/>
                <a:gd name="T31" fmla="*/ 820 h 829"/>
                <a:gd name="T32" fmla="*/ 123 w 1742"/>
                <a:gd name="T33" fmla="*/ 0 h 829"/>
                <a:gd name="T34" fmla="*/ 239 w 1742"/>
                <a:gd name="T35" fmla="*/ 0 h 829"/>
                <a:gd name="T36" fmla="*/ 239 w 1742"/>
                <a:gd name="T37" fmla="*/ 14 h 829"/>
                <a:gd name="T38" fmla="*/ 250 w 1742"/>
                <a:gd name="T39" fmla="*/ 14 h 829"/>
                <a:gd name="T40" fmla="*/ 250 w 1742"/>
                <a:gd name="T41" fmla="*/ 0 h 829"/>
                <a:gd name="T42" fmla="*/ 732 w 1742"/>
                <a:gd name="T43" fmla="*/ 0 h 829"/>
                <a:gd name="T44" fmla="*/ 732 w 1742"/>
                <a:gd name="T45" fmla="*/ 14 h 829"/>
                <a:gd name="T46" fmla="*/ 743 w 1742"/>
                <a:gd name="T47" fmla="*/ 14 h 829"/>
                <a:gd name="T48" fmla="*/ 743 w 1742"/>
                <a:gd name="T49" fmla="*/ 0 h 829"/>
                <a:gd name="T50" fmla="*/ 861 w 1742"/>
                <a:gd name="T51" fmla="*/ 0 h 829"/>
                <a:gd name="T52" fmla="*/ 861 w 1742"/>
                <a:gd name="T53" fmla="*/ 820 h 829"/>
                <a:gd name="T54" fmla="*/ 1742 w 1742"/>
                <a:gd name="T55" fmla="*/ 820 h 829"/>
                <a:gd name="T56" fmla="*/ 1742 w 1742"/>
                <a:gd name="T57" fmla="*/ 829 h 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42" h="829">
                  <a:moveTo>
                    <a:pt x="1742" y="829"/>
                  </a:moveTo>
                  <a:lnTo>
                    <a:pt x="851" y="829"/>
                  </a:lnTo>
                  <a:lnTo>
                    <a:pt x="851" y="9"/>
                  </a:lnTo>
                  <a:lnTo>
                    <a:pt x="751" y="9"/>
                  </a:lnTo>
                  <a:lnTo>
                    <a:pt x="751" y="24"/>
                  </a:lnTo>
                  <a:lnTo>
                    <a:pt x="724" y="24"/>
                  </a:lnTo>
                  <a:lnTo>
                    <a:pt x="724" y="9"/>
                  </a:lnTo>
                  <a:lnTo>
                    <a:pt x="258" y="9"/>
                  </a:lnTo>
                  <a:lnTo>
                    <a:pt x="258" y="24"/>
                  </a:lnTo>
                  <a:lnTo>
                    <a:pt x="231" y="24"/>
                  </a:lnTo>
                  <a:lnTo>
                    <a:pt x="231" y="9"/>
                  </a:lnTo>
                  <a:lnTo>
                    <a:pt x="132" y="9"/>
                  </a:lnTo>
                  <a:lnTo>
                    <a:pt x="132" y="829"/>
                  </a:lnTo>
                  <a:lnTo>
                    <a:pt x="0" y="829"/>
                  </a:lnTo>
                  <a:lnTo>
                    <a:pt x="0" y="820"/>
                  </a:lnTo>
                  <a:lnTo>
                    <a:pt x="123" y="820"/>
                  </a:lnTo>
                  <a:lnTo>
                    <a:pt x="123" y="0"/>
                  </a:lnTo>
                  <a:lnTo>
                    <a:pt x="239" y="0"/>
                  </a:lnTo>
                  <a:lnTo>
                    <a:pt x="239" y="14"/>
                  </a:lnTo>
                  <a:lnTo>
                    <a:pt x="250" y="14"/>
                  </a:lnTo>
                  <a:lnTo>
                    <a:pt x="250" y="0"/>
                  </a:lnTo>
                  <a:lnTo>
                    <a:pt x="732" y="0"/>
                  </a:lnTo>
                  <a:lnTo>
                    <a:pt x="732" y="14"/>
                  </a:lnTo>
                  <a:lnTo>
                    <a:pt x="743" y="14"/>
                  </a:lnTo>
                  <a:lnTo>
                    <a:pt x="743" y="0"/>
                  </a:lnTo>
                  <a:lnTo>
                    <a:pt x="861" y="0"/>
                  </a:lnTo>
                  <a:lnTo>
                    <a:pt x="861" y="820"/>
                  </a:lnTo>
                  <a:lnTo>
                    <a:pt x="1742" y="820"/>
                  </a:lnTo>
                  <a:lnTo>
                    <a:pt x="1742" y="829"/>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sz="1800"/>
            </a:p>
          </p:txBody>
        </p:sp>
        <p:sp>
          <p:nvSpPr>
            <p:cNvPr id="10" name="Freeform 6">
              <a:extLst>
                <a:ext uri="{FF2B5EF4-FFF2-40B4-BE49-F238E27FC236}">
                  <a16:creationId xmlns:a16="http://schemas.microsoft.com/office/drawing/2014/main" id="{4798BBCA-0550-45C6-83EF-598917E1EC5D}"/>
                </a:ext>
              </a:extLst>
            </p:cNvPr>
            <p:cNvSpPr>
              <a:spLocks/>
            </p:cNvSpPr>
            <p:nvPr/>
          </p:nvSpPr>
          <p:spPr bwMode="auto">
            <a:xfrm>
              <a:off x="4517" y="1471"/>
              <a:ext cx="482" cy="646"/>
            </a:xfrm>
            <a:custGeom>
              <a:avLst/>
              <a:gdLst>
                <a:gd name="T0" fmla="*/ 482 w 482"/>
                <a:gd name="T1" fmla="*/ 646 h 646"/>
                <a:gd name="T2" fmla="*/ 474 w 482"/>
                <a:gd name="T3" fmla="*/ 646 h 646"/>
                <a:gd name="T4" fmla="*/ 474 w 482"/>
                <a:gd name="T5" fmla="*/ 112 h 646"/>
                <a:gd name="T6" fmla="*/ 433 w 482"/>
                <a:gd name="T7" fmla="*/ 112 h 646"/>
                <a:gd name="T8" fmla="*/ 433 w 482"/>
                <a:gd name="T9" fmla="*/ 79 h 646"/>
                <a:gd name="T10" fmla="*/ 364 w 482"/>
                <a:gd name="T11" fmla="*/ 38 h 646"/>
                <a:gd name="T12" fmla="*/ 320 w 482"/>
                <a:gd name="T13" fmla="*/ 38 h 646"/>
                <a:gd name="T14" fmla="*/ 320 w 482"/>
                <a:gd name="T15" fmla="*/ 9 h 646"/>
                <a:gd name="T16" fmla="*/ 164 w 482"/>
                <a:gd name="T17" fmla="*/ 9 h 646"/>
                <a:gd name="T18" fmla="*/ 164 w 482"/>
                <a:gd name="T19" fmla="*/ 38 h 646"/>
                <a:gd name="T20" fmla="*/ 120 w 482"/>
                <a:gd name="T21" fmla="*/ 38 h 646"/>
                <a:gd name="T22" fmla="*/ 49 w 482"/>
                <a:gd name="T23" fmla="*/ 79 h 646"/>
                <a:gd name="T24" fmla="*/ 49 w 482"/>
                <a:gd name="T25" fmla="*/ 112 h 646"/>
                <a:gd name="T26" fmla="*/ 8 w 482"/>
                <a:gd name="T27" fmla="*/ 112 h 646"/>
                <a:gd name="T28" fmla="*/ 8 w 482"/>
                <a:gd name="T29" fmla="*/ 646 h 646"/>
                <a:gd name="T30" fmla="*/ 0 w 482"/>
                <a:gd name="T31" fmla="*/ 646 h 646"/>
                <a:gd name="T32" fmla="*/ 0 w 482"/>
                <a:gd name="T33" fmla="*/ 102 h 646"/>
                <a:gd name="T34" fmla="*/ 41 w 482"/>
                <a:gd name="T35" fmla="*/ 102 h 646"/>
                <a:gd name="T36" fmla="*/ 41 w 482"/>
                <a:gd name="T37" fmla="*/ 74 h 646"/>
                <a:gd name="T38" fmla="*/ 116 w 482"/>
                <a:gd name="T39" fmla="*/ 29 h 646"/>
                <a:gd name="T40" fmla="*/ 154 w 482"/>
                <a:gd name="T41" fmla="*/ 29 h 646"/>
                <a:gd name="T42" fmla="*/ 154 w 482"/>
                <a:gd name="T43" fmla="*/ 0 h 646"/>
                <a:gd name="T44" fmla="*/ 328 w 482"/>
                <a:gd name="T45" fmla="*/ 0 h 646"/>
                <a:gd name="T46" fmla="*/ 328 w 482"/>
                <a:gd name="T47" fmla="*/ 29 h 646"/>
                <a:gd name="T48" fmla="*/ 366 w 482"/>
                <a:gd name="T49" fmla="*/ 29 h 646"/>
                <a:gd name="T50" fmla="*/ 441 w 482"/>
                <a:gd name="T51" fmla="*/ 74 h 646"/>
                <a:gd name="T52" fmla="*/ 441 w 482"/>
                <a:gd name="T53" fmla="*/ 102 h 646"/>
                <a:gd name="T54" fmla="*/ 482 w 482"/>
                <a:gd name="T55" fmla="*/ 102 h 646"/>
                <a:gd name="T56" fmla="*/ 482 w 482"/>
                <a:gd name="T57" fmla="*/ 646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2" h="646">
                  <a:moveTo>
                    <a:pt x="482" y="646"/>
                  </a:moveTo>
                  <a:lnTo>
                    <a:pt x="474" y="646"/>
                  </a:lnTo>
                  <a:lnTo>
                    <a:pt x="474" y="112"/>
                  </a:lnTo>
                  <a:lnTo>
                    <a:pt x="433" y="112"/>
                  </a:lnTo>
                  <a:lnTo>
                    <a:pt x="433" y="79"/>
                  </a:lnTo>
                  <a:lnTo>
                    <a:pt x="364" y="38"/>
                  </a:lnTo>
                  <a:lnTo>
                    <a:pt x="320" y="38"/>
                  </a:lnTo>
                  <a:lnTo>
                    <a:pt x="320" y="9"/>
                  </a:lnTo>
                  <a:lnTo>
                    <a:pt x="164" y="9"/>
                  </a:lnTo>
                  <a:lnTo>
                    <a:pt x="164" y="38"/>
                  </a:lnTo>
                  <a:lnTo>
                    <a:pt x="120" y="38"/>
                  </a:lnTo>
                  <a:lnTo>
                    <a:pt x="49" y="79"/>
                  </a:lnTo>
                  <a:lnTo>
                    <a:pt x="49" y="112"/>
                  </a:lnTo>
                  <a:lnTo>
                    <a:pt x="8" y="112"/>
                  </a:lnTo>
                  <a:lnTo>
                    <a:pt x="8" y="646"/>
                  </a:lnTo>
                  <a:lnTo>
                    <a:pt x="0" y="646"/>
                  </a:lnTo>
                  <a:lnTo>
                    <a:pt x="0" y="102"/>
                  </a:lnTo>
                  <a:lnTo>
                    <a:pt x="41" y="102"/>
                  </a:lnTo>
                  <a:lnTo>
                    <a:pt x="41" y="74"/>
                  </a:lnTo>
                  <a:lnTo>
                    <a:pt x="116" y="29"/>
                  </a:lnTo>
                  <a:lnTo>
                    <a:pt x="154" y="29"/>
                  </a:lnTo>
                  <a:lnTo>
                    <a:pt x="154" y="0"/>
                  </a:lnTo>
                  <a:lnTo>
                    <a:pt x="328" y="0"/>
                  </a:lnTo>
                  <a:lnTo>
                    <a:pt x="328" y="29"/>
                  </a:lnTo>
                  <a:lnTo>
                    <a:pt x="366" y="29"/>
                  </a:lnTo>
                  <a:lnTo>
                    <a:pt x="441" y="74"/>
                  </a:lnTo>
                  <a:lnTo>
                    <a:pt x="441" y="102"/>
                  </a:lnTo>
                  <a:lnTo>
                    <a:pt x="482" y="102"/>
                  </a:lnTo>
                  <a:lnTo>
                    <a:pt x="482" y="646"/>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sz="1800"/>
            </a:p>
          </p:txBody>
        </p:sp>
        <p:sp>
          <p:nvSpPr>
            <p:cNvPr id="11" name="Freeform 7">
              <a:extLst>
                <a:ext uri="{FF2B5EF4-FFF2-40B4-BE49-F238E27FC236}">
                  <a16:creationId xmlns:a16="http://schemas.microsoft.com/office/drawing/2014/main" id="{73F4C893-2E4D-4A9C-86FD-B9EDA4C97EEC}"/>
                </a:ext>
              </a:extLst>
            </p:cNvPr>
            <p:cNvSpPr>
              <a:spLocks noEditPoints="1"/>
            </p:cNvSpPr>
            <p:nvPr/>
          </p:nvSpPr>
          <p:spPr bwMode="auto">
            <a:xfrm>
              <a:off x="768" y="1614"/>
              <a:ext cx="2016" cy="507"/>
            </a:xfrm>
            <a:custGeom>
              <a:avLst/>
              <a:gdLst>
                <a:gd name="T0" fmla="*/ 1125 w 1178"/>
                <a:gd name="T1" fmla="*/ 294 h 294"/>
                <a:gd name="T2" fmla="*/ 1072 w 1178"/>
                <a:gd name="T3" fmla="*/ 231 h 294"/>
                <a:gd name="T4" fmla="*/ 959 w 1178"/>
                <a:gd name="T5" fmla="*/ 111 h 294"/>
                <a:gd name="T6" fmla="*/ 710 w 1178"/>
                <a:gd name="T7" fmla="*/ 53 h 294"/>
                <a:gd name="T8" fmla="*/ 647 w 1178"/>
                <a:gd name="T9" fmla="*/ 53 h 294"/>
                <a:gd name="T10" fmla="*/ 397 w 1178"/>
                <a:gd name="T11" fmla="*/ 111 h 294"/>
                <a:gd name="T12" fmla="*/ 284 w 1178"/>
                <a:gd name="T13" fmla="*/ 231 h 294"/>
                <a:gd name="T14" fmla="*/ 232 w 1178"/>
                <a:gd name="T15" fmla="*/ 294 h 294"/>
                <a:gd name="T16" fmla="*/ 0 w 1178"/>
                <a:gd name="T17" fmla="*/ 289 h 294"/>
                <a:gd name="T18" fmla="*/ 280 w 1178"/>
                <a:gd name="T19" fmla="*/ 227 h 294"/>
                <a:gd name="T20" fmla="*/ 394 w 1178"/>
                <a:gd name="T21" fmla="*/ 107 h 294"/>
                <a:gd name="T22" fmla="*/ 652 w 1178"/>
                <a:gd name="T23" fmla="*/ 51 h 294"/>
                <a:gd name="T24" fmla="*/ 705 w 1178"/>
                <a:gd name="T25" fmla="*/ 51 h 294"/>
                <a:gd name="T26" fmla="*/ 963 w 1178"/>
                <a:gd name="T27" fmla="*/ 107 h 294"/>
                <a:gd name="T28" fmla="*/ 1076 w 1178"/>
                <a:gd name="T29" fmla="*/ 227 h 294"/>
                <a:gd name="T30" fmla="*/ 1178 w 1178"/>
                <a:gd name="T31" fmla="*/ 289 h 294"/>
                <a:gd name="T32" fmla="*/ 1079 w 1178"/>
                <a:gd name="T33" fmla="*/ 294 h 294"/>
                <a:gd name="T34" fmla="*/ 1077 w 1178"/>
                <a:gd name="T35" fmla="*/ 293 h 294"/>
                <a:gd name="T36" fmla="*/ 1014 w 1178"/>
                <a:gd name="T37" fmla="*/ 214 h 294"/>
                <a:gd name="T38" fmla="*/ 838 w 1178"/>
                <a:gd name="T39" fmla="*/ 54 h 294"/>
                <a:gd name="T40" fmla="*/ 715 w 1178"/>
                <a:gd name="T41" fmla="*/ 94 h 294"/>
                <a:gd name="T42" fmla="*/ 690 w 1178"/>
                <a:gd name="T43" fmla="*/ 292 h 294"/>
                <a:gd name="T44" fmla="*/ 685 w 1178"/>
                <a:gd name="T45" fmla="*/ 283 h 294"/>
                <a:gd name="T46" fmla="*/ 760 w 1178"/>
                <a:gd name="T47" fmla="*/ 34 h 294"/>
                <a:gd name="T48" fmla="*/ 1000 w 1178"/>
                <a:gd name="T49" fmla="*/ 190 h 294"/>
                <a:gd name="T50" fmla="*/ 1057 w 1178"/>
                <a:gd name="T51" fmla="*/ 257 h 294"/>
                <a:gd name="T52" fmla="*/ 1081 w 1178"/>
                <a:gd name="T53" fmla="*/ 294 h 294"/>
                <a:gd name="T54" fmla="*/ 277 w 1178"/>
                <a:gd name="T55" fmla="*/ 294 h 294"/>
                <a:gd name="T56" fmla="*/ 300 w 1178"/>
                <a:gd name="T57" fmla="*/ 257 h 294"/>
                <a:gd name="T58" fmla="*/ 356 w 1178"/>
                <a:gd name="T59" fmla="*/ 190 h 294"/>
                <a:gd name="T60" fmla="*/ 597 w 1178"/>
                <a:gd name="T61" fmla="*/ 34 h 294"/>
                <a:gd name="T62" fmla="*/ 672 w 1178"/>
                <a:gd name="T63" fmla="*/ 283 h 294"/>
                <a:gd name="T64" fmla="*/ 666 w 1178"/>
                <a:gd name="T65" fmla="*/ 292 h 294"/>
                <a:gd name="T66" fmla="*/ 641 w 1178"/>
                <a:gd name="T67" fmla="*/ 94 h 294"/>
                <a:gd name="T68" fmla="*/ 519 w 1178"/>
                <a:gd name="T69" fmla="*/ 54 h 294"/>
                <a:gd name="T70" fmla="*/ 342 w 1178"/>
                <a:gd name="T71" fmla="*/ 214 h 294"/>
                <a:gd name="T72" fmla="*/ 280 w 1178"/>
                <a:gd name="T73" fmla="*/ 293 h 294"/>
                <a:gd name="T74" fmla="*/ 277 w 1178"/>
                <a:gd name="T75" fmla="*/ 292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78" h="294">
                  <a:moveTo>
                    <a:pt x="1178" y="294"/>
                  </a:moveTo>
                  <a:cubicBezTo>
                    <a:pt x="1125" y="294"/>
                    <a:pt x="1125" y="294"/>
                    <a:pt x="1125" y="294"/>
                  </a:cubicBezTo>
                  <a:cubicBezTo>
                    <a:pt x="1124" y="293"/>
                    <a:pt x="1124" y="293"/>
                    <a:pt x="1124" y="293"/>
                  </a:cubicBezTo>
                  <a:cubicBezTo>
                    <a:pt x="1124" y="293"/>
                    <a:pt x="1082" y="242"/>
                    <a:pt x="1072" y="231"/>
                  </a:cubicBezTo>
                  <a:cubicBezTo>
                    <a:pt x="1068" y="226"/>
                    <a:pt x="1068" y="226"/>
                    <a:pt x="1068" y="226"/>
                  </a:cubicBezTo>
                  <a:cubicBezTo>
                    <a:pt x="1034" y="186"/>
                    <a:pt x="1000" y="145"/>
                    <a:pt x="959" y="111"/>
                  </a:cubicBezTo>
                  <a:cubicBezTo>
                    <a:pt x="918" y="76"/>
                    <a:pt x="877" y="43"/>
                    <a:pt x="833" y="28"/>
                  </a:cubicBezTo>
                  <a:cubicBezTo>
                    <a:pt x="769" y="6"/>
                    <a:pt x="728" y="14"/>
                    <a:pt x="710" y="53"/>
                  </a:cubicBezTo>
                  <a:cubicBezTo>
                    <a:pt x="705" y="63"/>
                    <a:pt x="683" y="64"/>
                    <a:pt x="678" y="64"/>
                  </a:cubicBezTo>
                  <a:cubicBezTo>
                    <a:pt x="674" y="64"/>
                    <a:pt x="652" y="63"/>
                    <a:pt x="647" y="53"/>
                  </a:cubicBezTo>
                  <a:cubicBezTo>
                    <a:pt x="629" y="14"/>
                    <a:pt x="587" y="6"/>
                    <a:pt x="524" y="28"/>
                  </a:cubicBezTo>
                  <a:cubicBezTo>
                    <a:pt x="479" y="43"/>
                    <a:pt x="439" y="76"/>
                    <a:pt x="397" y="111"/>
                  </a:cubicBezTo>
                  <a:cubicBezTo>
                    <a:pt x="357" y="145"/>
                    <a:pt x="322" y="186"/>
                    <a:pt x="289" y="226"/>
                  </a:cubicBezTo>
                  <a:cubicBezTo>
                    <a:pt x="284" y="231"/>
                    <a:pt x="284" y="231"/>
                    <a:pt x="284" y="231"/>
                  </a:cubicBezTo>
                  <a:cubicBezTo>
                    <a:pt x="275" y="242"/>
                    <a:pt x="233" y="293"/>
                    <a:pt x="232" y="293"/>
                  </a:cubicBezTo>
                  <a:cubicBezTo>
                    <a:pt x="232" y="294"/>
                    <a:pt x="232" y="294"/>
                    <a:pt x="232" y="294"/>
                  </a:cubicBezTo>
                  <a:cubicBezTo>
                    <a:pt x="0" y="294"/>
                    <a:pt x="0" y="294"/>
                    <a:pt x="0" y="294"/>
                  </a:cubicBezTo>
                  <a:cubicBezTo>
                    <a:pt x="0" y="289"/>
                    <a:pt x="0" y="289"/>
                    <a:pt x="0" y="289"/>
                  </a:cubicBezTo>
                  <a:cubicBezTo>
                    <a:pt x="229" y="289"/>
                    <a:pt x="229" y="289"/>
                    <a:pt x="229" y="289"/>
                  </a:cubicBezTo>
                  <a:cubicBezTo>
                    <a:pt x="235" y="282"/>
                    <a:pt x="271" y="238"/>
                    <a:pt x="280" y="227"/>
                  </a:cubicBezTo>
                  <a:cubicBezTo>
                    <a:pt x="285" y="222"/>
                    <a:pt x="285" y="222"/>
                    <a:pt x="285" y="222"/>
                  </a:cubicBezTo>
                  <a:cubicBezTo>
                    <a:pt x="318" y="183"/>
                    <a:pt x="353" y="141"/>
                    <a:pt x="394" y="107"/>
                  </a:cubicBezTo>
                  <a:cubicBezTo>
                    <a:pt x="436" y="72"/>
                    <a:pt x="477" y="39"/>
                    <a:pt x="522" y="23"/>
                  </a:cubicBezTo>
                  <a:cubicBezTo>
                    <a:pt x="589" y="0"/>
                    <a:pt x="632" y="9"/>
                    <a:pt x="652" y="51"/>
                  </a:cubicBezTo>
                  <a:cubicBezTo>
                    <a:pt x="654" y="56"/>
                    <a:pt x="667" y="58"/>
                    <a:pt x="678" y="58"/>
                  </a:cubicBezTo>
                  <a:cubicBezTo>
                    <a:pt x="690" y="58"/>
                    <a:pt x="703" y="56"/>
                    <a:pt x="705" y="51"/>
                  </a:cubicBezTo>
                  <a:cubicBezTo>
                    <a:pt x="724" y="9"/>
                    <a:pt x="768" y="0"/>
                    <a:pt x="834" y="23"/>
                  </a:cubicBezTo>
                  <a:cubicBezTo>
                    <a:pt x="880" y="39"/>
                    <a:pt x="921" y="72"/>
                    <a:pt x="963" y="107"/>
                  </a:cubicBezTo>
                  <a:cubicBezTo>
                    <a:pt x="1003" y="141"/>
                    <a:pt x="1038" y="183"/>
                    <a:pt x="1072" y="222"/>
                  </a:cubicBezTo>
                  <a:cubicBezTo>
                    <a:pt x="1076" y="227"/>
                    <a:pt x="1076" y="227"/>
                    <a:pt x="1076" y="227"/>
                  </a:cubicBezTo>
                  <a:cubicBezTo>
                    <a:pt x="1085" y="238"/>
                    <a:pt x="1122" y="282"/>
                    <a:pt x="1128" y="289"/>
                  </a:cubicBezTo>
                  <a:cubicBezTo>
                    <a:pt x="1178" y="289"/>
                    <a:pt x="1178" y="289"/>
                    <a:pt x="1178" y="289"/>
                  </a:cubicBezTo>
                  <a:lnTo>
                    <a:pt x="1178" y="294"/>
                  </a:lnTo>
                  <a:close/>
                  <a:moveTo>
                    <a:pt x="1079" y="294"/>
                  </a:moveTo>
                  <a:cubicBezTo>
                    <a:pt x="1079" y="292"/>
                    <a:pt x="1079" y="292"/>
                    <a:pt x="1079" y="292"/>
                  </a:cubicBezTo>
                  <a:cubicBezTo>
                    <a:pt x="1077" y="293"/>
                    <a:pt x="1077" y="293"/>
                    <a:pt x="1077" y="293"/>
                  </a:cubicBezTo>
                  <a:cubicBezTo>
                    <a:pt x="1076" y="290"/>
                    <a:pt x="1055" y="263"/>
                    <a:pt x="1053" y="260"/>
                  </a:cubicBezTo>
                  <a:cubicBezTo>
                    <a:pt x="1039" y="243"/>
                    <a:pt x="1026" y="228"/>
                    <a:pt x="1014" y="214"/>
                  </a:cubicBezTo>
                  <a:cubicBezTo>
                    <a:pt x="1008" y="208"/>
                    <a:pt x="1002" y="201"/>
                    <a:pt x="996" y="194"/>
                  </a:cubicBezTo>
                  <a:cubicBezTo>
                    <a:pt x="950" y="140"/>
                    <a:pt x="902" y="84"/>
                    <a:pt x="838" y="54"/>
                  </a:cubicBezTo>
                  <a:cubicBezTo>
                    <a:pt x="814" y="44"/>
                    <a:pt x="786" y="33"/>
                    <a:pt x="761" y="40"/>
                  </a:cubicBezTo>
                  <a:cubicBezTo>
                    <a:pt x="736" y="46"/>
                    <a:pt x="723" y="73"/>
                    <a:pt x="715" y="94"/>
                  </a:cubicBezTo>
                  <a:cubicBezTo>
                    <a:pt x="695" y="156"/>
                    <a:pt x="693" y="218"/>
                    <a:pt x="690" y="283"/>
                  </a:cubicBezTo>
                  <a:cubicBezTo>
                    <a:pt x="690" y="292"/>
                    <a:pt x="690" y="292"/>
                    <a:pt x="690" y="292"/>
                  </a:cubicBezTo>
                  <a:cubicBezTo>
                    <a:pt x="685" y="291"/>
                    <a:pt x="685" y="291"/>
                    <a:pt x="685" y="291"/>
                  </a:cubicBezTo>
                  <a:cubicBezTo>
                    <a:pt x="685" y="283"/>
                    <a:pt x="685" y="283"/>
                    <a:pt x="685" y="283"/>
                  </a:cubicBezTo>
                  <a:cubicBezTo>
                    <a:pt x="687" y="217"/>
                    <a:pt x="689" y="155"/>
                    <a:pt x="710" y="92"/>
                  </a:cubicBezTo>
                  <a:cubicBezTo>
                    <a:pt x="718" y="70"/>
                    <a:pt x="733" y="42"/>
                    <a:pt x="760" y="34"/>
                  </a:cubicBezTo>
                  <a:cubicBezTo>
                    <a:pt x="787" y="28"/>
                    <a:pt x="815" y="38"/>
                    <a:pt x="840" y="50"/>
                  </a:cubicBezTo>
                  <a:cubicBezTo>
                    <a:pt x="905" y="80"/>
                    <a:pt x="954" y="136"/>
                    <a:pt x="1000" y="190"/>
                  </a:cubicBezTo>
                  <a:cubicBezTo>
                    <a:pt x="1006" y="197"/>
                    <a:pt x="1012" y="204"/>
                    <a:pt x="1018" y="211"/>
                  </a:cubicBezTo>
                  <a:cubicBezTo>
                    <a:pt x="1030" y="225"/>
                    <a:pt x="1043" y="240"/>
                    <a:pt x="1057" y="257"/>
                  </a:cubicBezTo>
                  <a:cubicBezTo>
                    <a:pt x="1069" y="272"/>
                    <a:pt x="1083" y="290"/>
                    <a:pt x="1082" y="293"/>
                  </a:cubicBezTo>
                  <a:cubicBezTo>
                    <a:pt x="1081" y="294"/>
                    <a:pt x="1081" y="294"/>
                    <a:pt x="1081" y="294"/>
                  </a:cubicBezTo>
                  <a:lnTo>
                    <a:pt x="1079" y="294"/>
                  </a:lnTo>
                  <a:close/>
                  <a:moveTo>
                    <a:pt x="277" y="294"/>
                  </a:moveTo>
                  <a:cubicBezTo>
                    <a:pt x="275" y="293"/>
                    <a:pt x="275" y="293"/>
                    <a:pt x="275" y="293"/>
                  </a:cubicBezTo>
                  <a:cubicBezTo>
                    <a:pt x="274" y="290"/>
                    <a:pt x="292" y="267"/>
                    <a:pt x="300" y="257"/>
                  </a:cubicBezTo>
                  <a:cubicBezTo>
                    <a:pt x="314" y="240"/>
                    <a:pt x="326" y="225"/>
                    <a:pt x="338" y="211"/>
                  </a:cubicBezTo>
                  <a:cubicBezTo>
                    <a:pt x="344" y="204"/>
                    <a:pt x="350" y="197"/>
                    <a:pt x="356" y="190"/>
                  </a:cubicBezTo>
                  <a:cubicBezTo>
                    <a:pt x="403" y="136"/>
                    <a:pt x="451" y="80"/>
                    <a:pt x="517" y="50"/>
                  </a:cubicBezTo>
                  <a:cubicBezTo>
                    <a:pt x="541" y="38"/>
                    <a:pt x="570" y="28"/>
                    <a:pt x="597" y="34"/>
                  </a:cubicBezTo>
                  <a:cubicBezTo>
                    <a:pt x="624" y="42"/>
                    <a:pt x="639" y="70"/>
                    <a:pt x="646" y="92"/>
                  </a:cubicBezTo>
                  <a:cubicBezTo>
                    <a:pt x="667" y="155"/>
                    <a:pt x="669" y="217"/>
                    <a:pt x="672" y="283"/>
                  </a:cubicBezTo>
                  <a:cubicBezTo>
                    <a:pt x="672" y="291"/>
                    <a:pt x="672" y="291"/>
                    <a:pt x="672" y="291"/>
                  </a:cubicBezTo>
                  <a:cubicBezTo>
                    <a:pt x="666" y="292"/>
                    <a:pt x="666" y="292"/>
                    <a:pt x="666" y="292"/>
                  </a:cubicBezTo>
                  <a:cubicBezTo>
                    <a:pt x="666" y="283"/>
                    <a:pt x="666" y="283"/>
                    <a:pt x="666" y="283"/>
                  </a:cubicBezTo>
                  <a:cubicBezTo>
                    <a:pt x="664" y="218"/>
                    <a:pt x="662" y="156"/>
                    <a:pt x="641" y="94"/>
                  </a:cubicBezTo>
                  <a:cubicBezTo>
                    <a:pt x="634" y="73"/>
                    <a:pt x="620" y="46"/>
                    <a:pt x="595" y="40"/>
                  </a:cubicBezTo>
                  <a:cubicBezTo>
                    <a:pt x="570" y="33"/>
                    <a:pt x="543" y="44"/>
                    <a:pt x="519" y="54"/>
                  </a:cubicBezTo>
                  <a:cubicBezTo>
                    <a:pt x="455" y="84"/>
                    <a:pt x="407" y="140"/>
                    <a:pt x="360" y="194"/>
                  </a:cubicBezTo>
                  <a:cubicBezTo>
                    <a:pt x="354" y="201"/>
                    <a:pt x="348" y="208"/>
                    <a:pt x="342" y="214"/>
                  </a:cubicBezTo>
                  <a:cubicBezTo>
                    <a:pt x="330" y="228"/>
                    <a:pt x="318" y="243"/>
                    <a:pt x="304" y="260"/>
                  </a:cubicBezTo>
                  <a:cubicBezTo>
                    <a:pt x="302" y="263"/>
                    <a:pt x="281" y="290"/>
                    <a:pt x="280" y="293"/>
                  </a:cubicBezTo>
                  <a:cubicBezTo>
                    <a:pt x="278" y="291"/>
                    <a:pt x="278" y="291"/>
                    <a:pt x="278" y="291"/>
                  </a:cubicBezTo>
                  <a:cubicBezTo>
                    <a:pt x="277" y="292"/>
                    <a:pt x="277" y="292"/>
                    <a:pt x="277" y="292"/>
                  </a:cubicBezTo>
                  <a:lnTo>
                    <a:pt x="277" y="294"/>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sz="1800"/>
            </a:p>
          </p:txBody>
        </p:sp>
        <p:sp>
          <p:nvSpPr>
            <p:cNvPr id="12" name="Freeform 8">
              <a:extLst>
                <a:ext uri="{FF2B5EF4-FFF2-40B4-BE49-F238E27FC236}">
                  <a16:creationId xmlns:a16="http://schemas.microsoft.com/office/drawing/2014/main" id="{8F8F84A4-4AD1-4390-B825-8EC49D559BFA}"/>
                </a:ext>
              </a:extLst>
            </p:cNvPr>
            <p:cNvSpPr>
              <a:spLocks/>
            </p:cNvSpPr>
            <p:nvPr/>
          </p:nvSpPr>
          <p:spPr bwMode="auto">
            <a:xfrm>
              <a:off x="2784" y="1893"/>
              <a:ext cx="1027" cy="228"/>
            </a:xfrm>
            <a:custGeom>
              <a:avLst/>
              <a:gdLst>
                <a:gd name="T0" fmla="*/ 1027 w 1027"/>
                <a:gd name="T1" fmla="*/ 228 h 228"/>
                <a:gd name="T2" fmla="*/ 879 w 1027"/>
                <a:gd name="T3" fmla="*/ 228 h 228"/>
                <a:gd name="T4" fmla="*/ 879 w 1027"/>
                <a:gd name="T5" fmla="*/ 11 h 228"/>
                <a:gd name="T6" fmla="*/ 67 w 1027"/>
                <a:gd name="T7" fmla="*/ 11 h 228"/>
                <a:gd name="T8" fmla="*/ 67 w 1027"/>
                <a:gd name="T9" fmla="*/ 228 h 228"/>
                <a:gd name="T10" fmla="*/ 0 w 1027"/>
                <a:gd name="T11" fmla="*/ 228 h 228"/>
                <a:gd name="T12" fmla="*/ 0 w 1027"/>
                <a:gd name="T13" fmla="*/ 219 h 228"/>
                <a:gd name="T14" fmla="*/ 57 w 1027"/>
                <a:gd name="T15" fmla="*/ 219 h 228"/>
                <a:gd name="T16" fmla="*/ 57 w 1027"/>
                <a:gd name="T17" fmla="*/ 0 h 228"/>
                <a:gd name="T18" fmla="*/ 887 w 1027"/>
                <a:gd name="T19" fmla="*/ 0 h 228"/>
                <a:gd name="T20" fmla="*/ 887 w 1027"/>
                <a:gd name="T21" fmla="*/ 219 h 228"/>
                <a:gd name="T22" fmla="*/ 1027 w 1027"/>
                <a:gd name="T23" fmla="*/ 219 h 228"/>
                <a:gd name="T24" fmla="*/ 1027 w 1027"/>
                <a:gd name="T25"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7" h="228">
                  <a:moveTo>
                    <a:pt x="1027" y="228"/>
                  </a:moveTo>
                  <a:lnTo>
                    <a:pt x="879" y="228"/>
                  </a:lnTo>
                  <a:lnTo>
                    <a:pt x="879" y="11"/>
                  </a:lnTo>
                  <a:lnTo>
                    <a:pt x="67" y="11"/>
                  </a:lnTo>
                  <a:lnTo>
                    <a:pt x="67" y="228"/>
                  </a:lnTo>
                  <a:lnTo>
                    <a:pt x="0" y="228"/>
                  </a:lnTo>
                  <a:lnTo>
                    <a:pt x="0" y="219"/>
                  </a:lnTo>
                  <a:lnTo>
                    <a:pt x="57" y="219"/>
                  </a:lnTo>
                  <a:lnTo>
                    <a:pt x="57" y="0"/>
                  </a:lnTo>
                  <a:lnTo>
                    <a:pt x="887" y="0"/>
                  </a:lnTo>
                  <a:lnTo>
                    <a:pt x="887" y="219"/>
                  </a:lnTo>
                  <a:lnTo>
                    <a:pt x="1027" y="219"/>
                  </a:lnTo>
                  <a:lnTo>
                    <a:pt x="1027" y="228"/>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sz="1800"/>
            </a:p>
          </p:txBody>
        </p:sp>
        <p:sp>
          <p:nvSpPr>
            <p:cNvPr id="13" name="Freeform 9">
              <a:extLst>
                <a:ext uri="{FF2B5EF4-FFF2-40B4-BE49-F238E27FC236}">
                  <a16:creationId xmlns:a16="http://schemas.microsoft.com/office/drawing/2014/main" id="{45DFD183-1292-41BB-9BDC-ECBBD4B8D4DC}"/>
                </a:ext>
              </a:extLst>
            </p:cNvPr>
            <p:cNvSpPr>
              <a:spLocks/>
            </p:cNvSpPr>
            <p:nvPr/>
          </p:nvSpPr>
          <p:spPr bwMode="auto">
            <a:xfrm>
              <a:off x="3159" y="1948"/>
              <a:ext cx="183" cy="169"/>
            </a:xfrm>
            <a:custGeom>
              <a:avLst/>
              <a:gdLst>
                <a:gd name="T0" fmla="*/ 5 w 107"/>
                <a:gd name="T1" fmla="*/ 98 h 98"/>
                <a:gd name="T2" fmla="*/ 0 w 107"/>
                <a:gd name="T3" fmla="*/ 98 h 98"/>
                <a:gd name="T4" fmla="*/ 0 w 107"/>
                <a:gd name="T5" fmla="*/ 13 h 98"/>
                <a:gd name="T6" fmla="*/ 6 w 107"/>
                <a:gd name="T7" fmla="*/ 7 h 98"/>
                <a:gd name="T8" fmla="*/ 11 w 107"/>
                <a:gd name="T9" fmla="*/ 6 h 98"/>
                <a:gd name="T10" fmla="*/ 19 w 107"/>
                <a:gd name="T11" fmla="*/ 4 h 98"/>
                <a:gd name="T12" fmla="*/ 28 w 107"/>
                <a:gd name="T13" fmla="*/ 0 h 98"/>
                <a:gd name="T14" fmla="*/ 29 w 107"/>
                <a:gd name="T15" fmla="*/ 0 h 98"/>
                <a:gd name="T16" fmla="*/ 59 w 107"/>
                <a:gd name="T17" fmla="*/ 0 h 98"/>
                <a:gd name="T18" fmla="*/ 78 w 107"/>
                <a:gd name="T19" fmla="*/ 0 h 98"/>
                <a:gd name="T20" fmla="*/ 86 w 107"/>
                <a:gd name="T21" fmla="*/ 4 h 98"/>
                <a:gd name="T22" fmla="*/ 91 w 107"/>
                <a:gd name="T23" fmla="*/ 5 h 98"/>
                <a:gd name="T24" fmla="*/ 94 w 107"/>
                <a:gd name="T25" fmla="*/ 5 h 98"/>
                <a:gd name="T26" fmla="*/ 94 w 107"/>
                <a:gd name="T27" fmla="*/ 6 h 98"/>
                <a:gd name="T28" fmla="*/ 107 w 107"/>
                <a:gd name="T29" fmla="*/ 20 h 98"/>
                <a:gd name="T30" fmla="*/ 107 w 107"/>
                <a:gd name="T31" fmla="*/ 74 h 98"/>
                <a:gd name="T32" fmla="*/ 107 w 107"/>
                <a:gd name="T33" fmla="*/ 97 h 98"/>
                <a:gd name="T34" fmla="*/ 102 w 107"/>
                <a:gd name="T35" fmla="*/ 97 h 98"/>
                <a:gd name="T36" fmla="*/ 101 w 107"/>
                <a:gd name="T37" fmla="*/ 74 h 98"/>
                <a:gd name="T38" fmla="*/ 101 w 107"/>
                <a:gd name="T39" fmla="*/ 20 h 98"/>
                <a:gd name="T40" fmla="*/ 94 w 107"/>
                <a:gd name="T41" fmla="*/ 11 h 98"/>
                <a:gd name="T42" fmla="*/ 93 w 107"/>
                <a:gd name="T43" fmla="*/ 11 h 98"/>
                <a:gd name="T44" fmla="*/ 91 w 107"/>
                <a:gd name="T45" fmla="*/ 11 h 98"/>
                <a:gd name="T46" fmla="*/ 82 w 107"/>
                <a:gd name="T47" fmla="*/ 7 h 98"/>
                <a:gd name="T48" fmla="*/ 78 w 107"/>
                <a:gd name="T49" fmla="*/ 6 h 98"/>
                <a:gd name="T50" fmla="*/ 59 w 107"/>
                <a:gd name="T51" fmla="*/ 6 h 98"/>
                <a:gd name="T52" fmla="*/ 29 w 107"/>
                <a:gd name="T53" fmla="*/ 6 h 98"/>
                <a:gd name="T54" fmla="*/ 27 w 107"/>
                <a:gd name="T55" fmla="*/ 6 h 98"/>
                <a:gd name="T56" fmla="*/ 24 w 107"/>
                <a:gd name="T57" fmla="*/ 7 h 98"/>
                <a:gd name="T58" fmla="*/ 20 w 107"/>
                <a:gd name="T59" fmla="*/ 10 h 98"/>
                <a:gd name="T60" fmla="*/ 13 w 107"/>
                <a:gd name="T61" fmla="*/ 11 h 98"/>
                <a:gd name="T62" fmla="*/ 6 w 107"/>
                <a:gd name="T63" fmla="*/ 12 h 98"/>
                <a:gd name="T64" fmla="*/ 5 w 107"/>
                <a:gd name="T65" fmla="*/ 12 h 98"/>
                <a:gd name="T66" fmla="*/ 5 w 107"/>
                <a:gd name="T67" fmla="*/ 13 h 98"/>
                <a:gd name="T68" fmla="*/ 5 w 107"/>
                <a:gd name="T69"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7" h="98">
                  <a:moveTo>
                    <a:pt x="5" y="98"/>
                  </a:moveTo>
                  <a:cubicBezTo>
                    <a:pt x="0" y="98"/>
                    <a:pt x="0" y="98"/>
                    <a:pt x="0" y="98"/>
                  </a:cubicBezTo>
                  <a:cubicBezTo>
                    <a:pt x="0" y="65"/>
                    <a:pt x="0" y="46"/>
                    <a:pt x="0" y="13"/>
                  </a:cubicBezTo>
                  <a:cubicBezTo>
                    <a:pt x="0" y="11"/>
                    <a:pt x="1" y="7"/>
                    <a:pt x="6" y="7"/>
                  </a:cubicBezTo>
                  <a:cubicBezTo>
                    <a:pt x="8" y="6"/>
                    <a:pt x="10" y="6"/>
                    <a:pt x="11" y="6"/>
                  </a:cubicBezTo>
                  <a:cubicBezTo>
                    <a:pt x="14" y="5"/>
                    <a:pt x="16" y="4"/>
                    <a:pt x="19" y="4"/>
                  </a:cubicBezTo>
                  <a:cubicBezTo>
                    <a:pt x="21" y="0"/>
                    <a:pt x="25" y="0"/>
                    <a:pt x="28" y="0"/>
                  </a:cubicBezTo>
                  <a:cubicBezTo>
                    <a:pt x="28" y="0"/>
                    <a:pt x="29" y="0"/>
                    <a:pt x="29" y="0"/>
                  </a:cubicBezTo>
                  <a:cubicBezTo>
                    <a:pt x="39" y="0"/>
                    <a:pt x="49" y="0"/>
                    <a:pt x="59" y="0"/>
                  </a:cubicBezTo>
                  <a:cubicBezTo>
                    <a:pt x="78" y="0"/>
                    <a:pt x="78" y="0"/>
                    <a:pt x="78" y="0"/>
                  </a:cubicBezTo>
                  <a:cubicBezTo>
                    <a:pt x="81" y="0"/>
                    <a:pt x="84" y="1"/>
                    <a:pt x="86" y="4"/>
                  </a:cubicBezTo>
                  <a:cubicBezTo>
                    <a:pt x="87" y="5"/>
                    <a:pt x="89" y="5"/>
                    <a:pt x="91" y="5"/>
                  </a:cubicBezTo>
                  <a:cubicBezTo>
                    <a:pt x="92" y="5"/>
                    <a:pt x="93" y="5"/>
                    <a:pt x="94" y="5"/>
                  </a:cubicBezTo>
                  <a:cubicBezTo>
                    <a:pt x="94" y="6"/>
                    <a:pt x="94" y="6"/>
                    <a:pt x="94" y="6"/>
                  </a:cubicBezTo>
                  <a:cubicBezTo>
                    <a:pt x="106" y="7"/>
                    <a:pt x="107" y="8"/>
                    <a:pt x="107" y="20"/>
                  </a:cubicBezTo>
                  <a:cubicBezTo>
                    <a:pt x="107" y="74"/>
                    <a:pt x="107" y="74"/>
                    <a:pt x="107" y="74"/>
                  </a:cubicBezTo>
                  <a:cubicBezTo>
                    <a:pt x="107" y="81"/>
                    <a:pt x="107" y="86"/>
                    <a:pt x="107" y="97"/>
                  </a:cubicBezTo>
                  <a:cubicBezTo>
                    <a:pt x="102" y="97"/>
                    <a:pt x="102" y="97"/>
                    <a:pt x="102" y="97"/>
                  </a:cubicBezTo>
                  <a:cubicBezTo>
                    <a:pt x="101" y="86"/>
                    <a:pt x="101" y="81"/>
                    <a:pt x="101" y="74"/>
                  </a:cubicBezTo>
                  <a:cubicBezTo>
                    <a:pt x="101" y="20"/>
                    <a:pt x="101" y="20"/>
                    <a:pt x="101" y="20"/>
                  </a:cubicBezTo>
                  <a:cubicBezTo>
                    <a:pt x="101" y="12"/>
                    <a:pt x="101" y="12"/>
                    <a:pt x="94" y="11"/>
                  </a:cubicBezTo>
                  <a:cubicBezTo>
                    <a:pt x="93" y="11"/>
                    <a:pt x="93" y="11"/>
                    <a:pt x="93" y="11"/>
                  </a:cubicBezTo>
                  <a:cubicBezTo>
                    <a:pt x="92" y="11"/>
                    <a:pt x="92" y="11"/>
                    <a:pt x="91" y="11"/>
                  </a:cubicBezTo>
                  <a:cubicBezTo>
                    <a:pt x="88" y="10"/>
                    <a:pt x="84" y="10"/>
                    <a:pt x="82" y="7"/>
                  </a:cubicBezTo>
                  <a:cubicBezTo>
                    <a:pt x="81" y="6"/>
                    <a:pt x="80" y="6"/>
                    <a:pt x="78" y="6"/>
                  </a:cubicBezTo>
                  <a:cubicBezTo>
                    <a:pt x="59" y="6"/>
                    <a:pt x="59" y="6"/>
                    <a:pt x="59" y="6"/>
                  </a:cubicBezTo>
                  <a:cubicBezTo>
                    <a:pt x="49" y="6"/>
                    <a:pt x="39" y="6"/>
                    <a:pt x="29" y="6"/>
                  </a:cubicBezTo>
                  <a:cubicBezTo>
                    <a:pt x="28" y="6"/>
                    <a:pt x="28" y="6"/>
                    <a:pt x="27" y="6"/>
                  </a:cubicBezTo>
                  <a:cubicBezTo>
                    <a:pt x="24" y="5"/>
                    <a:pt x="24" y="5"/>
                    <a:pt x="24" y="7"/>
                  </a:cubicBezTo>
                  <a:cubicBezTo>
                    <a:pt x="24" y="8"/>
                    <a:pt x="23" y="10"/>
                    <a:pt x="20" y="10"/>
                  </a:cubicBezTo>
                  <a:cubicBezTo>
                    <a:pt x="17" y="10"/>
                    <a:pt x="15" y="10"/>
                    <a:pt x="13" y="11"/>
                  </a:cubicBezTo>
                  <a:cubicBezTo>
                    <a:pt x="11" y="11"/>
                    <a:pt x="9" y="12"/>
                    <a:pt x="6" y="12"/>
                  </a:cubicBezTo>
                  <a:cubicBezTo>
                    <a:pt x="6" y="12"/>
                    <a:pt x="5" y="12"/>
                    <a:pt x="5" y="12"/>
                  </a:cubicBezTo>
                  <a:cubicBezTo>
                    <a:pt x="5" y="12"/>
                    <a:pt x="5" y="12"/>
                    <a:pt x="5" y="13"/>
                  </a:cubicBezTo>
                  <a:cubicBezTo>
                    <a:pt x="5" y="46"/>
                    <a:pt x="5" y="65"/>
                    <a:pt x="5" y="98"/>
                  </a:cubicBez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sz="1800"/>
            </a:p>
          </p:txBody>
        </p:sp>
        <p:sp>
          <p:nvSpPr>
            <p:cNvPr id="14" name="Freeform 10">
              <a:extLst>
                <a:ext uri="{FF2B5EF4-FFF2-40B4-BE49-F238E27FC236}">
                  <a16:creationId xmlns:a16="http://schemas.microsoft.com/office/drawing/2014/main" id="{A09C3DEC-F3BB-4AF0-B11E-6BBC533AB390}"/>
                </a:ext>
              </a:extLst>
            </p:cNvPr>
            <p:cNvSpPr>
              <a:spLocks noEditPoints="1"/>
            </p:cNvSpPr>
            <p:nvPr/>
          </p:nvSpPr>
          <p:spPr bwMode="auto">
            <a:xfrm>
              <a:off x="2647" y="1656"/>
              <a:ext cx="1226" cy="229"/>
            </a:xfrm>
            <a:custGeom>
              <a:avLst/>
              <a:gdLst>
                <a:gd name="T0" fmla="*/ 67 w 716"/>
                <a:gd name="T1" fmla="*/ 112 h 133"/>
                <a:gd name="T2" fmla="*/ 49 w 716"/>
                <a:gd name="T3" fmla="*/ 101 h 133"/>
                <a:gd name="T4" fmla="*/ 30 w 716"/>
                <a:gd name="T5" fmla="*/ 86 h 133"/>
                <a:gd name="T6" fmla="*/ 11 w 716"/>
                <a:gd name="T7" fmla="*/ 53 h 133"/>
                <a:gd name="T8" fmla="*/ 25 w 716"/>
                <a:gd name="T9" fmla="*/ 52 h 133"/>
                <a:gd name="T10" fmla="*/ 36 w 716"/>
                <a:gd name="T11" fmla="*/ 52 h 133"/>
                <a:gd name="T12" fmla="*/ 45 w 716"/>
                <a:gd name="T13" fmla="*/ 52 h 133"/>
                <a:gd name="T14" fmla="*/ 55 w 716"/>
                <a:gd name="T15" fmla="*/ 54 h 133"/>
                <a:gd name="T16" fmla="*/ 72 w 716"/>
                <a:gd name="T17" fmla="*/ 60 h 133"/>
                <a:gd name="T18" fmla="*/ 73 w 716"/>
                <a:gd name="T19" fmla="*/ 56 h 133"/>
                <a:gd name="T20" fmla="*/ 93 w 716"/>
                <a:gd name="T21" fmla="*/ 56 h 133"/>
                <a:gd name="T22" fmla="*/ 127 w 716"/>
                <a:gd name="T23" fmla="*/ 62 h 133"/>
                <a:gd name="T24" fmla="*/ 150 w 716"/>
                <a:gd name="T25" fmla="*/ 62 h 133"/>
                <a:gd name="T26" fmla="*/ 173 w 716"/>
                <a:gd name="T27" fmla="*/ 48 h 133"/>
                <a:gd name="T28" fmla="*/ 178 w 716"/>
                <a:gd name="T29" fmla="*/ 19 h 133"/>
                <a:gd name="T30" fmla="*/ 190 w 716"/>
                <a:gd name="T31" fmla="*/ 11 h 133"/>
                <a:gd name="T32" fmla="*/ 207 w 716"/>
                <a:gd name="T33" fmla="*/ 2 h 133"/>
                <a:gd name="T34" fmla="*/ 211 w 716"/>
                <a:gd name="T35" fmla="*/ 23 h 133"/>
                <a:gd name="T36" fmla="*/ 496 w 716"/>
                <a:gd name="T37" fmla="*/ 27 h 133"/>
                <a:gd name="T38" fmla="*/ 516 w 716"/>
                <a:gd name="T39" fmla="*/ 8 h 133"/>
                <a:gd name="T40" fmla="*/ 530 w 716"/>
                <a:gd name="T41" fmla="*/ 10 h 133"/>
                <a:gd name="T42" fmla="*/ 536 w 716"/>
                <a:gd name="T43" fmla="*/ 28 h 133"/>
                <a:gd name="T44" fmla="*/ 561 w 716"/>
                <a:gd name="T45" fmla="*/ 62 h 133"/>
                <a:gd name="T46" fmla="*/ 612 w 716"/>
                <a:gd name="T47" fmla="*/ 56 h 133"/>
                <a:gd name="T48" fmla="*/ 622 w 716"/>
                <a:gd name="T49" fmla="*/ 64 h 133"/>
                <a:gd name="T50" fmla="*/ 635 w 716"/>
                <a:gd name="T51" fmla="*/ 59 h 133"/>
                <a:gd name="T52" fmla="*/ 649 w 716"/>
                <a:gd name="T53" fmla="*/ 63 h 133"/>
                <a:gd name="T54" fmla="*/ 662 w 716"/>
                <a:gd name="T55" fmla="*/ 61 h 133"/>
                <a:gd name="T56" fmla="*/ 678 w 716"/>
                <a:gd name="T57" fmla="*/ 56 h 133"/>
                <a:gd name="T58" fmla="*/ 691 w 716"/>
                <a:gd name="T59" fmla="*/ 54 h 133"/>
                <a:gd name="T60" fmla="*/ 702 w 716"/>
                <a:gd name="T61" fmla="*/ 52 h 133"/>
                <a:gd name="T62" fmla="*/ 714 w 716"/>
                <a:gd name="T63" fmla="*/ 60 h 133"/>
                <a:gd name="T64" fmla="*/ 684 w 716"/>
                <a:gd name="T65" fmla="*/ 90 h 133"/>
                <a:gd name="T66" fmla="*/ 653 w 716"/>
                <a:gd name="T67" fmla="*/ 108 h 133"/>
                <a:gd name="T68" fmla="*/ 601 w 716"/>
                <a:gd name="T69" fmla="*/ 133 h 133"/>
                <a:gd name="T70" fmla="*/ 599 w 716"/>
                <a:gd name="T71" fmla="*/ 128 h 133"/>
                <a:gd name="T72" fmla="*/ 652 w 716"/>
                <a:gd name="T73" fmla="*/ 103 h 133"/>
                <a:gd name="T74" fmla="*/ 691 w 716"/>
                <a:gd name="T75" fmla="*/ 78 h 133"/>
                <a:gd name="T76" fmla="*/ 701 w 716"/>
                <a:gd name="T77" fmla="*/ 58 h 133"/>
                <a:gd name="T78" fmla="*/ 683 w 716"/>
                <a:gd name="T79" fmla="*/ 57 h 133"/>
                <a:gd name="T80" fmla="*/ 657 w 716"/>
                <a:gd name="T81" fmla="*/ 64 h 133"/>
                <a:gd name="T82" fmla="*/ 637 w 716"/>
                <a:gd name="T83" fmla="*/ 70 h 133"/>
                <a:gd name="T84" fmla="*/ 616 w 716"/>
                <a:gd name="T85" fmla="*/ 63 h 133"/>
                <a:gd name="T86" fmla="*/ 606 w 716"/>
                <a:gd name="T87" fmla="*/ 66 h 133"/>
                <a:gd name="T88" fmla="*/ 562 w 716"/>
                <a:gd name="T89" fmla="*/ 67 h 133"/>
                <a:gd name="T90" fmla="*/ 530 w 716"/>
                <a:gd name="T91" fmla="*/ 26 h 133"/>
                <a:gd name="T92" fmla="*/ 518 w 716"/>
                <a:gd name="T93" fmla="*/ 15 h 133"/>
                <a:gd name="T94" fmla="*/ 508 w 716"/>
                <a:gd name="T95" fmla="*/ 21 h 133"/>
                <a:gd name="T96" fmla="*/ 220 w 716"/>
                <a:gd name="T97" fmla="*/ 32 h 133"/>
                <a:gd name="T98" fmla="*/ 206 w 716"/>
                <a:gd name="T99" fmla="*/ 15 h 133"/>
                <a:gd name="T100" fmla="*/ 193 w 716"/>
                <a:gd name="T101" fmla="*/ 16 h 133"/>
                <a:gd name="T102" fmla="*/ 182 w 716"/>
                <a:gd name="T103" fmla="*/ 30 h 133"/>
                <a:gd name="T104" fmla="*/ 152 w 716"/>
                <a:gd name="T105" fmla="*/ 67 h 133"/>
                <a:gd name="T106" fmla="*/ 108 w 716"/>
                <a:gd name="T107" fmla="*/ 66 h 133"/>
                <a:gd name="T108" fmla="*/ 96 w 716"/>
                <a:gd name="T109" fmla="*/ 60 h 133"/>
                <a:gd name="T110" fmla="*/ 80 w 716"/>
                <a:gd name="T111" fmla="*/ 68 h 133"/>
                <a:gd name="T112" fmla="*/ 56 w 716"/>
                <a:gd name="T113" fmla="*/ 64 h 133"/>
                <a:gd name="T114" fmla="*/ 33 w 716"/>
                <a:gd name="T115" fmla="*/ 57 h 133"/>
                <a:gd name="T116" fmla="*/ 19 w 716"/>
                <a:gd name="T117" fmla="*/ 54 h 133"/>
                <a:gd name="T118" fmla="*/ 6 w 716"/>
                <a:gd name="T119" fmla="*/ 67 h 133"/>
                <a:gd name="T120" fmla="*/ 37 w 716"/>
                <a:gd name="T121" fmla="*/ 86 h 133"/>
                <a:gd name="T122" fmla="*/ 56 w 716"/>
                <a:gd name="T123" fmla="*/ 9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16" h="133">
                  <a:moveTo>
                    <a:pt x="113" y="133"/>
                  </a:moveTo>
                  <a:cubicBezTo>
                    <a:pt x="112" y="133"/>
                    <a:pt x="112" y="133"/>
                    <a:pt x="112" y="133"/>
                  </a:cubicBezTo>
                  <a:cubicBezTo>
                    <a:pt x="103" y="130"/>
                    <a:pt x="94" y="126"/>
                    <a:pt x="85" y="122"/>
                  </a:cubicBezTo>
                  <a:cubicBezTo>
                    <a:pt x="83" y="121"/>
                    <a:pt x="81" y="120"/>
                    <a:pt x="80" y="119"/>
                  </a:cubicBezTo>
                  <a:cubicBezTo>
                    <a:pt x="76" y="117"/>
                    <a:pt x="73" y="115"/>
                    <a:pt x="69" y="114"/>
                  </a:cubicBezTo>
                  <a:cubicBezTo>
                    <a:pt x="67" y="114"/>
                    <a:pt x="67" y="114"/>
                    <a:pt x="67" y="114"/>
                  </a:cubicBezTo>
                  <a:cubicBezTo>
                    <a:pt x="67" y="112"/>
                    <a:pt x="67" y="112"/>
                    <a:pt x="67" y="112"/>
                  </a:cubicBezTo>
                  <a:cubicBezTo>
                    <a:pt x="67" y="112"/>
                    <a:pt x="67" y="112"/>
                    <a:pt x="65" y="111"/>
                  </a:cubicBezTo>
                  <a:cubicBezTo>
                    <a:pt x="64" y="111"/>
                    <a:pt x="62" y="110"/>
                    <a:pt x="60" y="108"/>
                  </a:cubicBezTo>
                  <a:cubicBezTo>
                    <a:pt x="60" y="108"/>
                    <a:pt x="60" y="108"/>
                    <a:pt x="60" y="108"/>
                  </a:cubicBezTo>
                  <a:cubicBezTo>
                    <a:pt x="57" y="108"/>
                    <a:pt x="55" y="107"/>
                    <a:pt x="55" y="104"/>
                  </a:cubicBezTo>
                  <a:cubicBezTo>
                    <a:pt x="54" y="104"/>
                    <a:pt x="54" y="104"/>
                    <a:pt x="54" y="104"/>
                  </a:cubicBezTo>
                  <a:cubicBezTo>
                    <a:pt x="52" y="103"/>
                    <a:pt x="52" y="103"/>
                    <a:pt x="52" y="103"/>
                  </a:cubicBezTo>
                  <a:cubicBezTo>
                    <a:pt x="52" y="102"/>
                    <a:pt x="51" y="102"/>
                    <a:pt x="49" y="101"/>
                  </a:cubicBezTo>
                  <a:cubicBezTo>
                    <a:pt x="47" y="100"/>
                    <a:pt x="44" y="99"/>
                    <a:pt x="43" y="96"/>
                  </a:cubicBezTo>
                  <a:cubicBezTo>
                    <a:pt x="43" y="96"/>
                    <a:pt x="42" y="96"/>
                    <a:pt x="42" y="96"/>
                  </a:cubicBezTo>
                  <a:cubicBezTo>
                    <a:pt x="39" y="96"/>
                    <a:pt x="38" y="93"/>
                    <a:pt x="37" y="92"/>
                  </a:cubicBezTo>
                  <a:cubicBezTo>
                    <a:pt x="37" y="92"/>
                    <a:pt x="37" y="91"/>
                    <a:pt x="37" y="91"/>
                  </a:cubicBezTo>
                  <a:cubicBezTo>
                    <a:pt x="37" y="91"/>
                    <a:pt x="37" y="91"/>
                    <a:pt x="37" y="91"/>
                  </a:cubicBezTo>
                  <a:cubicBezTo>
                    <a:pt x="35" y="91"/>
                    <a:pt x="33" y="91"/>
                    <a:pt x="31" y="89"/>
                  </a:cubicBezTo>
                  <a:cubicBezTo>
                    <a:pt x="31" y="88"/>
                    <a:pt x="30" y="87"/>
                    <a:pt x="30" y="86"/>
                  </a:cubicBezTo>
                  <a:cubicBezTo>
                    <a:pt x="25" y="84"/>
                    <a:pt x="21" y="82"/>
                    <a:pt x="16" y="80"/>
                  </a:cubicBezTo>
                  <a:cubicBezTo>
                    <a:pt x="13" y="78"/>
                    <a:pt x="10" y="76"/>
                    <a:pt x="7" y="75"/>
                  </a:cubicBezTo>
                  <a:cubicBezTo>
                    <a:pt x="4" y="74"/>
                    <a:pt x="2" y="71"/>
                    <a:pt x="1" y="68"/>
                  </a:cubicBezTo>
                  <a:cubicBezTo>
                    <a:pt x="0" y="67"/>
                    <a:pt x="0" y="65"/>
                    <a:pt x="1" y="63"/>
                  </a:cubicBezTo>
                  <a:cubicBezTo>
                    <a:pt x="2" y="62"/>
                    <a:pt x="3" y="61"/>
                    <a:pt x="6" y="62"/>
                  </a:cubicBezTo>
                  <a:cubicBezTo>
                    <a:pt x="5" y="59"/>
                    <a:pt x="7" y="57"/>
                    <a:pt x="8" y="56"/>
                  </a:cubicBezTo>
                  <a:cubicBezTo>
                    <a:pt x="9" y="55"/>
                    <a:pt x="10" y="54"/>
                    <a:pt x="11" y="53"/>
                  </a:cubicBezTo>
                  <a:cubicBezTo>
                    <a:pt x="13" y="52"/>
                    <a:pt x="14" y="52"/>
                    <a:pt x="13" y="51"/>
                  </a:cubicBezTo>
                  <a:cubicBezTo>
                    <a:pt x="13" y="47"/>
                    <a:pt x="13" y="47"/>
                    <a:pt x="13" y="47"/>
                  </a:cubicBezTo>
                  <a:cubicBezTo>
                    <a:pt x="16" y="48"/>
                    <a:pt x="16" y="48"/>
                    <a:pt x="16" y="48"/>
                  </a:cubicBezTo>
                  <a:cubicBezTo>
                    <a:pt x="16" y="48"/>
                    <a:pt x="16" y="47"/>
                    <a:pt x="17" y="47"/>
                  </a:cubicBezTo>
                  <a:cubicBezTo>
                    <a:pt x="18" y="47"/>
                    <a:pt x="21" y="47"/>
                    <a:pt x="22" y="49"/>
                  </a:cubicBezTo>
                  <a:cubicBezTo>
                    <a:pt x="22" y="49"/>
                    <a:pt x="22" y="49"/>
                    <a:pt x="22" y="49"/>
                  </a:cubicBezTo>
                  <a:cubicBezTo>
                    <a:pt x="23" y="49"/>
                    <a:pt x="25" y="50"/>
                    <a:pt x="25" y="52"/>
                  </a:cubicBezTo>
                  <a:cubicBezTo>
                    <a:pt x="26" y="53"/>
                    <a:pt x="25" y="53"/>
                    <a:pt x="25" y="54"/>
                  </a:cubicBezTo>
                  <a:cubicBezTo>
                    <a:pt x="26" y="54"/>
                    <a:pt x="26" y="54"/>
                    <a:pt x="27" y="54"/>
                  </a:cubicBezTo>
                  <a:cubicBezTo>
                    <a:pt x="27" y="54"/>
                    <a:pt x="28" y="54"/>
                    <a:pt x="28" y="54"/>
                  </a:cubicBezTo>
                  <a:cubicBezTo>
                    <a:pt x="28" y="54"/>
                    <a:pt x="28" y="53"/>
                    <a:pt x="28" y="52"/>
                  </a:cubicBezTo>
                  <a:cubicBezTo>
                    <a:pt x="28" y="50"/>
                    <a:pt x="29" y="49"/>
                    <a:pt x="30" y="49"/>
                  </a:cubicBezTo>
                  <a:cubicBezTo>
                    <a:pt x="32" y="48"/>
                    <a:pt x="34" y="48"/>
                    <a:pt x="35" y="50"/>
                  </a:cubicBezTo>
                  <a:cubicBezTo>
                    <a:pt x="36" y="52"/>
                    <a:pt x="36" y="52"/>
                    <a:pt x="36" y="52"/>
                  </a:cubicBezTo>
                  <a:cubicBezTo>
                    <a:pt x="37" y="53"/>
                    <a:pt x="38" y="55"/>
                    <a:pt x="39" y="57"/>
                  </a:cubicBezTo>
                  <a:cubicBezTo>
                    <a:pt x="39" y="58"/>
                    <a:pt x="39" y="58"/>
                    <a:pt x="39" y="58"/>
                  </a:cubicBezTo>
                  <a:cubicBezTo>
                    <a:pt x="40" y="58"/>
                    <a:pt x="41" y="58"/>
                    <a:pt x="41" y="58"/>
                  </a:cubicBezTo>
                  <a:cubicBezTo>
                    <a:pt x="41" y="58"/>
                    <a:pt x="41" y="57"/>
                    <a:pt x="41" y="56"/>
                  </a:cubicBezTo>
                  <a:cubicBezTo>
                    <a:pt x="41" y="55"/>
                    <a:pt x="41" y="54"/>
                    <a:pt x="42" y="53"/>
                  </a:cubicBezTo>
                  <a:cubicBezTo>
                    <a:pt x="42" y="52"/>
                    <a:pt x="43" y="52"/>
                    <a:pt x="45" y="52"/>
                  </a:cubicBezTo>
                  <a:cubicBezTo>
                    <a:pt x="45" y="52"/>
                    <a:pt x="45" y="52"/>
                    <a:pt x="45" y="52"/>
                  </a:cubicBezTo>
                  <a:cubicBezTo>
                    <a:pt x="47" y="52"/>
                    <a:pt x="49" y="53"/>
                    <a:pt x="49" y="55"/>
                  </a:cubicBezTo>
                  <a:cubicBezTo>
                    <a:pt x="50" y="57"/>
                    <a:pt x="50" y="58"/>
                    <a:pt x="51" y="60"/>
                  </a:cubicBezTo>
                  <a:cubicBezTo>
                    <a:pt x="51" y="60"/>
                    <a:pt x="51" y="60"/>
                    <a:pt x="51" y="60"/>
                  </a:cubicBezTo>
                  <a:cubicBezTo>
                    <a:pt x="51" y="60"/>
                    <a:pt x="51" y="59"/>
                    <a:pt x="52" y="59"/>
                  </a:cubicBezTo>
                  <a:cubicBezTo>
                    <a:pt x="52" y="58"/>
                    <a:pt x="52" y="57"/>
                    <a:pt x="52" y="56"/>
                  </a:cubicBezTo>
                  <a:cubicBezTo>
                    <a:pt x="53" y="55"/>
                    <a:pt x="53" y="55"/>
                    <a:pt x="55" y="54"/>
                  </a:cubicBezTo>
                  <a:cubicBezTo>
                    <a:pt x="55" y="54"/>
                    <a:pt x="55" y="54"/>
                    <a:pt x="55" y="54"/>
                  </a:cubicBezTo>
                  <a:cubicBezTo>
                    <a:pt x="58" y="54"/>
                    <a:pt x="59" y="56"/>
                    <a:pt x="59" y="57"/>
                  </a:cubicBezTo>
                  <a:cubicBezTo>
                    <a:pt x="61" y="58"/>
                    <a:pt x="61" y="60"/>
                    <a:pt x="62" y="61"/>
                  </a:cubicBezTo>
                  <a:cubicBezTo>
                    <a:pt x="63" y="63"/>
                    <a:pt x="63" y="63"/>
                    <a:pt x="64" y="63"/>
                  </a:cubicBezTo>
                  <a:cubicBezTo>
                    <a:pt x="64" y="63"/>
                    <a:pt x="64" y="63"/>
                    <a:pt x="64" y="63"/>
                  </a:cubicBezTo>
                  <a:cubicBezTo>
                    <a:pt x="63" y="59"/>
                    <a:pt x="66" y="57"/>
                    <a:pt x="67" y="57"/>
                  </a:cubicBezTo>
                  <a:cubicBezTo>
                    <a:pt x="67" y="57"/>
                    <a:pt x="68" y="57"/>
                    <a:pt x="68" y="57"/>
                  </a:cubicBezTo>
                  <a:cubicBezTo>
                    <a:pt x="69" y="57"/>
                    <a:pt x="71" y="57"/>
                    <a:pt x="72" y="60"/>
                  </a:cubicBezTo>
                  <a:cubicBezTo>
                    <a:pt x="72" y="60"/>
                    <a:pt x="72" y="60"/>
                    <a:pt x="72" y="60"/>
                  </a:cubicBezTo>
                  <a:cubicBezTo>
                    <a:pt x="72" y="60"/>
                    <a:pt x="72" y="61"/>
                    <a:pt x="73" y="61"/>
                  </a:cubicBezTo>
                  <a:cubicBezTo>
                    <a:pt x="74" y="63"/>
                    <a:pt x="75" y="64"/>
                    <a:pt x="76" y="64"/>
                  </a:cubicBezTo>
                  <a:cubicBezTo>
                    <a:pt x="76" y="64"/>
                    <a:pt x="76" y="64"/>
                    <a:pt x="76" y="64"/>
                  </a:cubicBezTo>
                  <a:cubicBezTo>
                    <a:pt x="76" y="64"/>
                    <a:pt x="76" y="64"/>
                    <a:pt x="76" y="64"/>
                  </a:cubicBezTo>
                  <a:cubicBezTo>
                    <a:pt x="76" y="64"/>
                    <a:pt x="76" y="63"/>
                    <a:pt x="75" y="62"/>
                  </a:cubicBezTo>
                  <a:cubicBezTo>
                    <a:pt x="73" y="56"/>
                    <a:pt x="73" y="56"/>
                    <a:pt x="73" y="56"/>
                  </a:cubicBezTo>
                  <a:cubicBezTo>
                    <a:pt x="79" y="58"/>
                    <a:pt x="79" y="58"/>
                    <a:pt x="79" y="58"/>
                  </a:cubicBezTo>
                  <a:cubicBezTo>
                    <a:pt x="82" y="59"/>
                    <a:pt x="83" y="61"/>
                    <a:pt x="85" y="63"/>
                  </a:cubicBezTo>
                  <a:cubicBezTo>
                    <a:pt x="85" y="63"/>
                    <a:pt x="86" y="64"/>
                    <a:pt x="86" y="64"/>
                  </a:cubicBezTo>
                  <a:cubicBezTo>
                    <a:pt x="87" y="65"/>
                    <a:pt x="90" y="66"/>
                    <a:pt x="92" y="66"/>
                  </a:cubicBezTo>
                  <a:cubicBezTo>
                    <a:pt x="92" y="66"/>
                    <a:pt x="92" y="65"/>
                    <a:pt x="91" y="65"/>
                  </a:cubicBezTo>
                  <a:cubicBezTo>
                    <a:pt x="91" y="64"/>
                    <a:pt x="91" y="63"/>
                    <a:pt x="91" y="61"/>
                  </a:cubicBezTo>
                  <a:cubicBezTo>
                    <a:pt x="90" y="59"/>
                    <a:pt x="91" y="57"/>
                    <a:pt x="93" y="56"/>
                  </a:cubicBezTo>
                  <a:cubicBezTo>
                    <a:pt x="94" y="55"/>
                    <a:pt x="94" y="55"/>
                    <a:pt x="94" y="55"/>
                  </a:cubicBezTo>
                  <a:cubicBezTo>
                    <a:pt x="95" y="54"/>
                    <a:pt x="96" y="54"/>
                    <a:pt x="97" y="54"/>
                  </a:cubicBezTo>
                  <a:cubicBezTo>
                    <a:pt x="99" y="54"/>
                    <a:pt x="100" y="55"/>
                    <a:pt x="101" y="57"/>
                  </a:cubicBezTo>
                  <a:cubicBezTo>
                    <a:pt x="101" y="57"/>
                    <a:pt x="101" y="57"/>
                    <a:pt x="101" y="57"/>
                  </a:cubicBezTo>
                  <a:cubicBezTo>
                    <a:pt x="104" y="55"/>
                    <a:pt x="107" y="55"/>
                    <a:pt x="108" y="57"/>
                  </a:cubicBezTo>
                  <a:cubicBezTo>
                    <a:pt x="109" y="58"/>
                    <a:pt x="109" y="59"/>
                    <a:pt x="109" y="61"/>
                  </a:cubicBezTo>
                  <a:cubicBezTo>
                    <a:pt x="115" y="61"/>
                    <a:pt x="121" y="62"/>
                    <a:pt x="127" y="62"/>
                  </a:cubicBezTo>
                  <a:cubicBezTo>
                    <a:pt x="136" y="63"/>
                    <a:pt x="136" y="63"/>
                    <a:pt x="136" y="63"/>
                  </a:cubicBezTo>
                  <a:cubicBezTo>
                    <a:pt x="138" y="63"/>
                    <a:pt x="138" y="62"/>
                    <a:pt x="138" y="62"/>
                  </a:cubicBezTo>
                  <a:cubicBezTo>
                    <a:pt x="139" y="60"/>
                    <a:pt x="141" y="59"/>
                    <a:pt x="141" y="59"/>
                  </a:cubicBezTo>
                  <a:cubicBezTo>
                    <a:pt x="142" y="59"/>
                    <a:pt x="143" y="60"/>
                    <a:pt x="143" y="60"/>
                  </a:cubicBezTo>
                  <a:cubicBezTo>
                    <a:pt x="144" y="59"/>
                    <a:pt x="145" y="58"/>
                    <a:pt x="146" y="58"/>
                  </a:cubicBezTo>
                  <a:cubicBezTo>
                    <a:pt x="148" y="58"/>
                    <a:pt x="150" y="61"/>
                    <a:pt x="151" y="62"/>
                  </a:cubicBezTo>
                  <a:cubicBezTo>
                    <a:pt x="151" y="62"/>
                    <a:pt x="150" y="62"/>
                    <a:pt x="150" y="62"/>
                  </a:cubicBezTo>
                  <a:cubicBezTo>
                    <a:pt x="151" y="65"/>
                    <a:pt x="151" y="65"/>
                    <a:pt x="151" y="65"/>
                  </a:cubicBezTo>
                  <a:cubicBezTo>
                    <a:pt x="151" y="62"/>
                    <a:pt x="151" y="62"/>
                    <a:pt x="151" y="62"/>
                  </a:cubicBezTo>
                  <a:cubicBezTo>
                    <a:pt x="152" y="65"/>
                    <a:pt x="152" y="65"/>
                    <a:pt x="152" y="65"/>
                  </a:cubicBezTo>
                  <a:cubicBezTo>
                    <a:pt x="152" y="62"/>
                    <a:pt x="152" y="62"/>
                    <a:pt x="152" y="62"/>
                  </a:cubicBezTo>
                  <a:cubicBezTo>
                    <a:pt x="152" y="62"/>
                    <a:pt x="152" y="62"/>
                    <a:pt x="152" y="62"/>
                  </a:cubicBezTo>
                  <a:cubicBezTo>
                    <a:pt x="157" y="62"/>
                    <a:pt x="160" y="61"/>
                    <a:pt x="163" y="58"/>
                  </a:cubicBezTo>
                  <a:cubicBezTo>
                    <a:pt x="167" y="54"/>
                    <a:pt x="170" y="51"/>
                    <a:pt x="173" y="48"/>
                  </a:cubicBezTo>
                  <a:cubicBezTo>
                    <a:pt x="173" y="47"/>
                    <a:pt x="173" y="47"/>
                    <a:pt x="173" y="47"/>
                  </a:cubicBezTo>
                  <a:cubicBezTo>
                    <a:pt x="174" y="46"/>
                    <a:pt x="174" y="46"/>
                    <a:pt x="174" y="46"/>
                  </a:cubicBezTo>
                  <a:cubicBezTo>
                    <a:pt x="175" y="44"/>
                    <a:pt x="175" y="42"/>
                    <a:pt x="176" y="40"/>
                  </a:cubicBezTo>
                  <a:cubicBezTo>
                    <a:pt x="177" y="37"/>
                    <a:pt x="178" y="34"/>
                    <a:pt x="177" y="31"/>
                  </a:cubicBezTo>
                  <a:cubicBezTo>
                    <a:pt x="177" y="31"/>
                    <a:pt x="177" y="30"/>
                    <a:pt x="177" y="29"/>
                  </a:cubicBezTo>
                  <a:cubicBezTo>
                    <a:pt x="176" y="27"/>
                    <a:pt x="175" y="24"/>
                    <a:pt x="178" y="20"/>
                  </a:cubicBezTo>
                  <a:cubicBezTo>
                    <a:pt x="178" y="20"/>
                    <a:pt x="178" y="19"/>
                    <a:pt x="178" y="19"/>
                  </a:cubicBezTo>
                  <a:cubicBezTo>
                    <a:pt x="178" y="17"/>
                    <a:pt x="178" y="15"/>
                    <a:pt x="181" y="13"/>
                  </a:cubicBezTo>
                  <a:cubicBezTo>
                    <a:pt x="181" y="13"/>
                    <a:pt x="181" y="13"/>
                    <a:pt x="181" y="12"/>
                  </a:cubicBezTo>
                  <a:cubicBezTo>
                    <a:pt x="181" y="12"/>
                    <a:pt x="181" y="11"/>
                    <a:pt x="181" y="11"/>
                  </a:cubicBezTo>
                  <a:cubicBezTo>
                    <a:pt x="181" y="7"/>
                    <a:pt x="183" y="6"/>
                    <a:pt x="185" y="6"/>
                  </a:cubicBezTo>
                  <a:cubicBezTo>
                    <a:pt x="185" y="6"/>
                    <a:pt x="185" y="6"/>
                    <a:pt x="185" y="6"/>
                  </a:cubicBezTo>
                  <a:cubicBezTo>
                    <a:pt x="186" y="6"/>
                    <a:pt x="188" y="6"/>
                    <a:pt x="188" y="7"/>
                  </a:cubicBezTo>
                  <a:cubicBezTo>
                    <a:pt x="190" y="8"/>
                    <a:pt x="190" y="10"/>
                    <a:pt x="190" y="11"/>
                  </a:cubicBezTo>
                  <a:cubicBezTo>
                    <a:pt x="189" y="11"/>
                    <a:pt x="189" y="11"/>
                    <a:pt x="189" y="12"/>
                  </a:cubicBezTo>
                  <a:cubicBezTo>
                    <a:pt x="190" y="12"/>
                    <a:pt x="190" y="12"/>
                    <a:pt x="190" y="12"/>
                  </a:cubicBezTo>
                  <a:cubicBezTo>
                    <a:pt x="190" y="12"/>
                    <a:pt x="190" y="12"/>
                    <a:pt x="190" y="12"/>
                  </a:cubicBezTo>
                  <a:cubicBezTo>
                    <a:pt x="190" y="12"/>
                    <a:pt x="191" y="11"/>
                    <a:pt x="192" y="11"/>
                  </a:cubicBezTo>
                  <a:cubicBezTo>
                    <a:pt x="194" y="10"/>
                    <a:pt x="195" y="8"/>
                    <a:pt x="196" y="5"/>
                  </a:cubicBezTo>
                  <a:cubicBezTo>
                    <a:pt x="197" y="2"/>
                    <a:pt x="199" y="1"/>
                    <a:pt x="202" y="1"/>
                  </a:cubicBezTo>
                  <a:cubicBezTo>
                    <a:pt x="204" y="1"/>
                    <a:pt x="206" y="1"/>
                    <a:pt x="207" y="2"/>
                  </a:cubicBezTo>
                  <a:cubicBezTo>
                    <a:pt x="211" y="4"/>
                    <a:pt x="213" y="11"/>
                    <a:pt x="211" y="16"/>
                  </a:cubicBezTo>
                  <a:cubicBezTo>
                    <a:pt x="211" y="17"/>
                    <a:pt x="211" y="17"/>
                    <a:pt x="211" y="18"/>
                  </a:cubicBezTo>
                  <a:cubicBezTo>
                    <a:pt x="210" y="19"/>
                    <a:pt x="210" y="20"/>
                    <a:pt x="210" y="20"/>
                  </a:cubicBezTo>
                  <a:cubicBezTo>
                    <a:pt x="209" y="21"/>
                    <a:pt x="209" y="22"/>
                    <a:pt x="209" y="22"/>
                  </a:cubicBezTo>
                  <a:cubicBezTo>
                    <a:pt x="209" y="22"/>
                    <a:pt x="209" y="23"/>
                    <a:pt x="209" y="23"/>
                  </a:cubicBezTo>
                  <a:cubicBezTo>
                    <a:pt x="209" y="23"/>
                    <a:pt x="209" y="23"/>
                    <a:pt x="209" y="23"/>
                  </a:cubicBezTo>
                  <a:cubicBezTo>
                    <a:pt x="211" y="23"/>
                    <a:pt x="211" y="23"/>
                    <a:pt x="211" y="23"/>
                  </a:cubicBezTo>
                  <a:cubicBezTo>
                    <a:pt x="211" y="25"/>
                    <a:pt x="211" y="25"/>
                    <a:pt x="211" y="25"/>
                  </a:cubicBezTo>
                  <a:cubicBezTo>
                    <a:pt x="212" y="28"/>
                    <a:pt x="213" y="28"/>
                    <a:pt x="214" y="28"/>
                  </a:cubicBezTo>
                  <a:cubicBezTo>
                    <a:pt x="215" y="28"/>
                    <a:pt x="216" y="28"/>
                    <a:pt x="217" y="27"/>
                  </a:cubicBezTo>
                  <a:cubicBezTo>
                    <a:pt x="218" y="27"/>
                    <a:pt x="219" y="27"/>
                    <a:pt x="220" y="27"/>
                  </a:cubicBezTo>
                  <a:cubicBezTo>
                    <a:pt x="275" y="27"/>
                    <a:pt x="329" y="27"/>
                    <a:pt x="384" y="27"/>
                  </a:cubicBezTo>
                  <a:cubicBezTo>
                    <a:pt x="420" y="27"/>
                    <a:pt x="456" y="27"/>
                    <a:pt x="492" y="27"/>
                  </a:cubicBezTo>
                  <a:cubicBezTo>
                    <a:pt x="493" y="27"/>
                    <a:pt x="495" y="27"/>
                    <a:pt x="496" y="27"/>
                  </a:cubicBezTo>
                  <a:cubicBezTo>
                    <a:pt x="497" y="27"/>
                    <a:pt x="498" y="27"/>
                    <a:pt x="499" y="27"/>
                  </a:cubicBezTo>
                  <a:cubicBezTo>
                    <a:pt x="499" y="27"/>
                    <a:pt x="499" y="27"/>
                    <a:pt x="499" y="27"/>
                  </a:cubicBezTo>
                  <a:cubicBezTo>
                    <a:pt x="499" y="24"/>
                    <a:pt x="501" y="23"/>
                    <a:pt x="503" y="22"/>
                  </a:cubicBezTo>
                  <a:cubicBezTo>
                    <a:pt x="502" y="20"/>
                    <a:pt x="501" y="18"/>
                    <a:pt x="500" y="16"/>
                  </a:cubicBezTo>
                  <a:cubicBezTo>
                    <a:pt x="498" y="11"/>
                    <a:pt x="499" y="6"/>
                    <a:pt x="503" y="3"/>
                  </a:cubicBezTo>
                  <a:cubicBezTo>
                    <a:pt x="506" y="0"/>
                    <a:pt x="508" y="0"/>
                    <a:pt x="511" y="1"/>
                  </a:cubicBezTo>
                  <a:cubicBezTo>
                    <a:pt x="515" y="2"/>
                    <a:pt x="517" y="5"/>
                    <a:pt x="516" y="8"/>
                  </a:cubicBezTo>
                  <a:cubicBezTo>
                    <a:pt x="516" y="8"/>
                    <a:pt x="516" y="9"/>
                    <a:pt x="516" y="9"/>
                  </a:cubicBezTo>
                  <a:cubicBezTo>
                    <a:pt x="517" y="9"/>
                    <a:pt x="517" y="9"/>
                    <a:pt x="517" y="9"/>
                  </a:cubicBezTo>
                  <a:cubicBezTo>
                    <a:pt x="519" y="9"/>
                    <a:pt x="520" y="10"/>
                    <a:pt x="521" y="11"/>
                  </a:cubicBezTo>
                  <a:cubicBezTo>
                    <a:pt x="521" y="10"/>
                    <a:pt x="521" y="10"/>
                    <a:pt x="521" y="9"/>
                  </a:cubicBezTo>
                  <a:cubicBezTo>
                    <a:pt x="521" y="7"/>
                    <a:pt x="523" y="5"/>
                    <a:pt x="526" y="5"/>
                  </a:cubicBezTo>
                  <a:cubicBezTo>
                    <a:pt x="528" y="5"/>
                    <a:pt x="529" y="6"/>
                    <a:pt x="529" y="6"/>
                  </a:cubicBezTo>
                  <a:cubicBezTo>
                    <a:pt x="531" y="8"/>
                    <a:pt x="530" y="9"/>
                    <a:pt x="530" y="10"/>
                  </a:cubicBezTo>
                  <a:cubicBezTo>
                    <a:pt x="530" y="11"/>
                    <a:pt x="530" y="11"/>
                    <a:pt x="530" y="12"/>
                  </a:cubicBezTo>
                  <a:cubicBezTo>
                    <a:pt x="530" y="12"/>
                    <a:pt x="530" y="13"/>
                    <a:pt x="530" y="13"/>
                  </a:cubicBezTo>
                  <a:cubicBezTo>
                    <a:pt x="531" y="13"/>
                    <a:pt x="534" y="13"/>
                    <a:pt x="534" y="17"/>
                  </a:cubicBezTo>
                  <a:cubicBezTo>
                    <a:pt x="534" y="18"/>
                    <a:pt x="534" y="19"/>
                    <a:pt x="534" y="20"/>
                  </a:cubicBezTo>
                  <a:cubicBezTo>
                    <a:pt x="534" y="22"/>
                    <a:pt x="534" y="22"/>
                    <a:pt x="535" y="23"/>
                  </a:cubicBezTo>
                  <a:cubicBezTo>
                    <a:pt x="536" y="23"/>
                    <a:pt x="536" y="24"/>
                    <a:pt x="536" y="25"/>
                  </a:cubicBezTo>
                  <a:cubicBezTo>
                    <a:pt x="536" y="26"/>
                    <a:pt x="536" y="27"/>
                    <a:pt x="536" y="28"/>
                  </a:cubicBezTo>
                  <a:cubicBezTo>
                    <a:pt x="534" y="30"/>
                    <a:pt x="534" y="32"/>
                    <a:pt x="535" y="36"/>
                  </a:cubicBezTo>
                  <a:cubicBezTo>
                    <a:pt x="535" y="37"/>
                    <a:pt x="535" y="38"/>
                    <a:pt x="536" y="39"/>
                  </a:cubicBezTo>
                  <a:cubicBezTo>
                    <a:pt x="537" y="49"/>
                    <a:pt x="544" y="54"/>
                    <a:pt x="551" y="60"/>
                  </a:cubicBezTo>
                  <a:cubicBezTo>
                    <a:pt x="552" y="61"/>
                    <a:pt x="552" y="61"/>
                    <a:pt x="552" y="61"/>
                  </a:cubicBezTo>
                  <a:cubicBezTo>
                    <a:pt x="553" y="62"/>
                    <a:pt x="554" y="62"/>
                    <a:pt x="556" y="62"/>
                  </a:cubicBezTo>
                  <a:cubicBezTo>
                    <a:pt x="557" y="62"/>
                    <a:pt x="558" y="62"/>
                    <a:pt x="559" y="62"/>
                  </a:cubicBezTo>
                  <a:cubicBezTo>
                    <a:pt x="559" y="62"/>
                    <a:pt x="560" y="62"/>
                    <a:pt x="561" y="62"/>
                  </a:cubicBezTo>
                  <a:cubicBezTo>
                    <a:pt x="561" y="62"/>
                    <a:pt x="561" y="61"/>
                    <a:pt x="561" y="61"/>
                  </a:cubicBezTo>
                  <a:cubicBezTo>
                    <a:pt x="562" y="60"/>
                    <a:pt x="563" y="57"/>
                    <a:pt x="569" y="59"/>
                  </a:cubicBezTo>
                  <a:cubicBezTo>
                    <a:pt x="569" y="60"/>
                    <a:pt x="570" y="60"/>
                    <a:pt x="571" y="60"/>
                  </a:cubicBezTo>
                  <a:cubicBezTo>
                    <a:pt x="572" y="61"/>
                    <a:pt x="574" y="62"/>
                    <a:pt x="575" y="62"/>
                  </a:cubicBezTo>
                  <a:cubicBezTo>
                    <a:pt x="584" y="62"/>
                    <a:pt x="595" y="61"/>
                    <a:pt x="605" y="60"/>
                  </a:cubicBezTo>
                  <a:cubicBezTo>
                    <a:pt x="605" y="58"/>
                    <a:pt x="605" y="57"/>
                    <a:pt x="606" y="56"/>
                  </a:cubicBezTo>
                  <a:cubicBezTo>
                    <a:pt x="607" y="55"/>
                    <a:pt x="609" y="54"/>
                    <a:pt x="612" y="56"/>
                  </a:cubicBezTo>
                  <a:cubicBezTo>
                    <a:pt x="613" y="56"/>
                    <a:pt x="613" y="56"/>
                    <a:pt x="613" y="56"/>
                  </a:cubicBezTo>
                  <a:cubicBezTo>
                    <a:pt x="614" y="56"/>
                    <a:pt x="614" y="56"/>
                    <a:pt x="614" y="56"/>
                  </a:cubicBezTo>
                  <a:cubicBezTo>
                    <a:pt x="615" y="54"/>
                    <a:pt x="617" y="54"/>
                    <a:pt x="618" y="54"/>
                  </a:cubicBezTo>
                  <a:cubicBezTo>
                    <a:pt x="619" y="54"/>
                    <a:pt x="620" y="55"/>
                    <a:pt x="620" y="55"/>
                  </a:cubicBezTo>
                  <a:cubicBezTo>
                    <a:pt x="622" y="56"/>
                    <a:pt x="623" y="57"/>
                    <a:pt x="623" y="58"/>
                  </a:cubicBezTo>
                  <a:cubicBezTo>
                    <a:pt x="624" y="59"/>
                    <a:pt x="623" y="61"/>
                    <a:pt x="623" y="61"/>
                  </a:cubicBezTo>
                  <a:cubicBezTo>
                    <a:pt x="622" y="62"/>
                    <a:pt x="622" y="63"/>
                    <a:pt x="622" y="64"/>
                  </a:cubicBezTo>
                  <a:cubicBezTo>
                    <a:pt x="621" y="64"/>
                    <a:pt x="621" y="64"/>
                    <a:pt x="621" y="64"/>
                  </a:cubicBezTo>
                  <a:cubicBezTo>
                    <a:pt x="621" y="65"/>
                    <a:pt x="621" y="65"/>
                    <a:pt x="621" y="65"/>
                  </a:cubicBezTo>
                  <a:cubicBezTo>
                    <a:pt x="621" y="65"/>
                    <a:pt x="622" y="66"/>
                    <a:pt x="623" y="66"/>
                  </a:cubicBezTo>
                  <a:cubicBezTo>
                    <a:pt x="626" y="66"/>
                    <a:pt x="628" y="64"/>
                    <a:pt x="630" y="61"/>
                  </a:cubicBezTo>
                  <a:cubicBezTo>
                    <a:pt x="631" y="61"/>
                    <a:pt x="631" y="60"/>
                    <a:pt x="632" y="59"/>
                  </a:cubicBezTo>
                  <a:cubicBezTo>
                    <a:pt x="633" y="58"/>
                    <a:pt x="633" y="58"/>
                    <a:pt x="633" y="58"/>
                  </a:cubicBezTo>
                  <a:cubicBezTo>
                    <a:pt x="635" y="59"/>
                    <a:pt x="635" y="59"/>
                    <a:pt x="635" y="59"/>
                  </a:cubicBezTo>
                  <a:cubicBezTo>
                    <a:pt x="636" y="59"/>
                    <a:pt x="638" y="61"/>
                    <a:pt x="637" y="64"/>
                  </a:cubicBezTo>
                  <a:cubicBezTo>
                    <a:pt x="638" y="64"/>
                    <a:pt x="639" y="64"/>
                    <a:pt x="639" y="64"/>
                  </a:cubicBezTo>
                  <a:cubicBezTo>
                    <a:pt x="640" y="62"/>
                    <a:pt x="641" y="61"/>
                    <a:pt x="642" y="61"/>
                  </a:cubicBezTo>
                  <a:cubicBezTo>
                    <a:pt x="642" y="60"/>
                    <a:pt x="643" y="60"/>
                    <a:pt x="643" y="59"/>
                  </a:cubicBezTo>
                  <a:cubicBezTo>
                    <a:pt x="643" y="57"/>
                    <a:pt x="646" y="56"/>
                    <a:pt x="648" y="57"/>
                  </a:cubicBezTo>
                  <a:cubicBezTo>
                    <a:pt x="649" y="57"/>
                    <a:pt x="650" y="59"/>
                    <a:pt x="650" y="61"/>
                  </a:cubicBezTo>
                  <a:cubicBezTo>
                    <a:pt x="650" y="62"/>
                    <a:pt x="650" y="62"/>
                    <a:pt x="649" y="63"/>
                  </a:cubicBezTo>
                  <a:cubicBezTo>
                    <a:pt x="651" y="63"/>
                    <a:pt x="651" y="63"/>
                    <a:pt x="652" y="62"/>
                  </a:cubicBezTo>
                  <a:cubicBezTo>
                    <a:pt x="652" y="60"/>
                    <a:pt x="653" y="59"/>
                    <a:pt x="654" y="58"/>
                  </a:cubicBezTo>
                  <a:cubicBezTo>
                    <a:pt x="654" y="58"/>
                    <a:pt x="655" y="58"/>
                    <a:pt x="655" y="57"/>
                  </a:cubicBezTo>
                  <a:cubicBezTo>
                    <a:pt x="656" y="56"/>
                    <a:pt x="656" y="54"/>
                    <a:pt x="659" y="54"/>
                  </a:cubicBezTo>
                  <a:cubicBezTo>
                    <a:pt x="659" y="54"/>
                    <a:pt x="660" y="55"/>
                    <a:pt x="660" y="55"/>
                  </a:cubicBezTo>
                  <a:cubicBezTo>
                    <a:pt x="661" y="55"/>
                    <a:pt x="663" y="56"/>
                    <a:pt x="662" y="59"/>
                  </a:cubicBezTo>
                  <a:cubicBezTo>
                    <a:pt x="663" y="59"/>
                    <a:pt x="663" y="60"/>
                    <a:pt x="662" y="61"/>
                  </a:cubicBezTo>
                  <a:cubicBezTo>
                    <a:pt x="663" y="61"/>
                    <a:pt x="664" y="60"/>
                    <a:pt x="665" y="60"/>
                  </a:cubicBezTo>
                  <a:cubicBezTo>
                    <a:pt x="666" y="59"/>
                    <a:pt x="667" y="57"/>
                    <a:pt x="668" y="56"/>
                  </a:cubicBezTo>
                  <a:cubicBezTo>
                    <a:pt x="668" y="52"/>
                    <a:pt x="670" y="52"/>
                    <a:pt x="671" y="52"/>
                  </a:cubicBezTo>
                  <a:cubicBezTo>
                    <a:pt x="672" y="52"/>
                    <a:pt x="672" y="52"/>
                    <a:pt x="672" y="52"/>
                  </a:cubicBezTo>
                  <a:cubicBezTo>
                    <a:pt x="673" y="52"/>
                    <a:pt x="675" y="53"/>
                    <a:pt x="675" y="56"/>
                  </a:cubicBezTo>
                  <a:cubicBezTo>
                    <a:pt x="675" y="57"/>
                    <a:pt x="675" y="57"/>
                    <a:pt x="675" y="58"/>
                  </a:cubicBezTo>
                  <a:cubicBezTo>
                    <a:pt x="677" y="58"/>
                    <a:pt x="678" y="58"/>
                    <a:pt x="678" y="56"/>
                  </a:cubicBezTo>
                  <a:cubicBezTo>
                    <a:pt x="678" y="54"/>
                    <a:pt x="679" y="53"/>
                    <a:pt x="681" y="51"/>
                  </a:cubicBezTo>
                  <a:cubicBezTo>
                    <a:pt x="681" y="50"/>
                    <a:pt x="682" y="50"/>
                    <a:pt x="682" y="49"/>
                  </a:cubicBezTo>
                  <a:cubicBezTo>
                    <a:pt x="685" y="45"/>
                    <a:pt x="685" y="45"/>
                    <a:pt x="685" y="45"/>
                  </a:cubicBezTo>
                  <a:cubicBezTo>
                    <a:pt x="687" y="50"/>
                    <a:pt x="687" y="50"/>
                    <a:pt x="687" y="50"/>
                  </a:cubicBezTo>
                  <a:cubicBezTo>
                    <a:pt x="687" y="50"/>
                    <a:pt x="688" y="51"/>
                    <a:pt x="688" y="51"/>
                  </a:cubicBezTo>
                  <a:cubicBezTo>
                    <a:pt x="688" y="53"/>
                    <a:pt x="689" y="54"/>
                    <a:pt x="689" y="54"/>
                  </a:cubicBezTo>
                  <a:cubicBezTo>
                    <a:pt x="689" y="54"/>
                    <a:pt x="690" y="54"/>
                    <a:pt x="691" y="54"/>
                  </a:cubicBezTo>
                  <a:cubicBezTo>
                    <a:pt x="690" y="53"/>
                    <a:pt x="690" y="52"/>
                    <a:pt x="691" y="51"/>
                  </a:cubicBezTo>
                  <a:cubicBezTo>
                    <a:pt x="692" y="49"/>
                    <a:pt x="694" y="49"/>
                    <a:pt x="695" y="48"/>
                  </a:cubicBezTo>
                  <a:cubicBezTo>
                    <a:pt x="695" y="48"/>
                    <a:pt x="695" y="48"/>
                    <a:pt x="695" y="48"/>
                  </a:cubicBezTo>
                  <a:cubicBezTo>
                    <a:pt x="696" y="48"/>
                    <a:pt x="697" y="47"/>
                    <a:pt x="698" y="47"/>
                  </a:cubicBezTo>
                  <a:cubicBezTo>
                    <a:pt x="699" y="47"/>
                    <a:pt x="699" y="47"/>
                    <a:pt x="699" y="47"/>
                  </a:cubicBezTo>
                  <a:cubicBezTo>
                    <a:pt x="701" y="48"/>
                    <a:pt x="701" y="48"/>
                    <a:pt x="701" y="48"/>
                  </a:cubicBezTo>
                  <a:cubicBezTo>
                    <a:pt x="702" y="49"/>
                    <a:pt x="702" y="50"/>
                    <a:pt x="702" y="52"/>
                  </a:cubicBezTo>
                  <a:cubicBezTo>
                    <a:pt x="702" y="52"/>
                    <a:pt x="702" y="52"/>
                    <a:pt x="703" y="53"/>
                  </a:cubicBezTo>
                  <a:cubicBezTo>
                    <a:pt x="704" y="54"/>
                    <a:pt x="705" y="55"/>
                    <a:pt x="706" y="57"/>
                  </a:cubicBezTo>
                  <a:cubicBezTo>
                    <a:pt x="706" y="57"/>
                    <a:pt x="707" y="57"/>
                    <a:pt x="707" y="58"/>
                  </a:cubicBezTo>
                  <a:cubicBezTo>
                    <a:pt x="707" y="59"/>
                    <a:pt x="708" y="59"/>
                    <a:pt x="708" y="60"/>
                  </a:cubicBezTo>
                  <a:cubicBezTo>
                    <a:pt x="708" y="62"/>
                    <a:pt x="709" y="62"/>
                    <a:pt x="709" y="62"/>
                  </a:cubicBezTo>
                  <a:cubicBezTo>
                    <a:pt x="709" y="62"/>
                    <a:pt x="710" y="62"/>
                    <a:pt x="711" y="62"/>
                  </a:cubicBezTo>
                  <a:cubicBezTo>
                    <a:pt x="714" y="60"/>
                    <a:pt x="714" y="60"/>
                    <a:pt x="714" y="60"/>
                  </a:cubicBezTo>
                  <a:cubicBezTo>
                    <a:pt x="715" y="63"/>
                    <a:pt x="715" y="63"/>
                    <a:pt x="715" y="63"/>
                  </a:cubicBezTo>
                  <a:cubicBezTo>
                    <a:pt x="716" y="69"/>
                    <a:pt x="714" y="72"/>
                    <a:pt x="709" y="75"/>
                  </a:cubicBezTo>
                  <a:cubicBezTo>
                    <a:pt x="707" y="76"/>
                    <a:pt x="705" y="77"/>
                    <a:pt x="704" y="77"/>
                  </a:cubicBezTo>
                  <a:cubicBezTo>
                    <a:pt x="701" y="78"/>
                    <a:pt x="699" y="79"/>
                    <a:pt x="697" y="81"/>
                  </a:cubicBezTo>
                  <a:cubicBezTo>
                    <a:pt x="695" y="82"/>
                    <a:pt x="694" y="82"/>
                    <a:pt x="693" y="83"/>
                  </a:cubicBezTo>
                  <a:cubicBezTo>
                    <a:pt x="689" y="84"/>
                    <a:pt x="686" y="86"/>
                    <a:pt x="684" y="89"/>
                  </a:cubicBezTo>
                  <a:cubicBezTo>
                    <a:pt x="684" y="90"/>
                    <a:pt x="684" y="90"/>
                    <a:pt x="684" y="90"/>
                  </a:cubicBezTo>
                  <a:cubicBezTo>
                    <a:pt x="682" y="90"/>
                    <a:pt x="682" y="90"/>
                    <a:pt x="682" y="90"/>
                  </a:cubicBezTo>
                  <a:cubicBezTo>
                    <a:pt x="680" y="90"/>
                    <a:pt x="679" y="91"/>
                    <a:pt x="678" y="93"/>
                  </a:cubicBezTo>
                  <a:cubicBezTo>
                    <a:pt x="676" y="94"/>
                    <a:pt x="675" y="95"/>
                    <a:pt x="673" y="96"/>
                  </a:cubicBezTo>
                  <a:cubicBezTo>
                    <a:pt x="671" y="97"/>
                    <a:pt x="670" y="98"/>
                    <a:pt x="668" y="99"/>
                  </a:cubicBezTo>
                  <a:cubicBezTo>
                    <a:pt x="666" y="101"/>
                    <a:pt x="665" y="101"/>
                    <a:pt x="663" y="102"/>
                  </a:cubicBezTo>
                  <a:cubicBezTo>
                    <a:pt x="662" y="103"/>
                    <a:pt x="661" y="104"/>
                    <a:pt x="660" y="104"/>
                  </a:cubicBezTo>
                  <a:cubicBezTo>
                    <a:pt x="659" y="106"/>
                    <a:pt x="656" y="108"/>
                    <a:pt x="653" y="108"/>
                  </a:cubicBezTo>
                  <a:cubicBezTo>
                    <a:pt x="651" y="109"/>
                    <a:pt x="648" y="110"/>
                    <a:pt x="647" y="112"/>
                  </a:cubicBezTo>
                  <a:cubicBezTo>
                    <a:pt x="645" y="114"/>
                    <a:pt x="641" y="116"/>
                    <a:pt x="639" y="117"/>
                  </a:cubicBezTo>
                  <a:cubicBezTo>
                    <a:pt x="637" y="117"/>
                    <a:pt x="636" y="118"/>
                    <a:pt x="635" y="119"/>
                  </a:cubicBezTo>
                  <a:cubicBezTo>
                    <a:pt x="634" y="119"/>
                    <a:pt x="632" y="120"/>
                    <a:pt x="631" y="120"/>
                  </a:cubicBezTo>
                  <a:cubicBezTo>
                    <a:pt x="628" y="122"/>
                    <a:pt x="625" y="123"/>
                    <a:pt x="622" y="125"/>
                  </a:cubicBezTo>
                  <a:cubicBezTo>
                    <a:pt x="616" y="127"/>
                    <a:pt x="610" y="130"/>
                    <a:pt x="604" y="132"/>
                  </a:cubicBezTo>
                  <a:cubicBezTo>
                    <a:pt x="603" y="132"/>
                    <a:pt x="602" y="133"/>
                    <a:pt x="601" y="133"/>
                  </a:cubicBezTo>
                  <a:cubicBezTo>
                    <a:pt x="601" y="133"/>
                    <a:pt x="601" y="133"/>
                    <a:pt x="601" y="133"/>
                  </a:cubicBezTo>
                  <a:lnTo>
                    <a:pt x="113" y="133"/>
                  </a:lnTo>
                  <a:close/>
                  <a:moveTo>
                    <a:pt x="71" y="110"/>
                  </a:moveTo>
                  <a:cubicBezTo>
                    <a:pt x="75" y="111"/>
                    <a:pt x="79" y="112"/>
                    <a:pt x="82" y="114"/>
                  </a:cubicBezTo>
                  <a:cubicBezTo>
                    <a:pt x="84" y="115"/>
                    <a:pt x="85" y="116"/>
                    <a:pt x="87" y="117"/>
                  </a:cubicBezTo>
                  <a:cubicBezTo>
                    <a:pt x="96" y="121"/>
                    <a:pt x="105" y="125"/>
                    <a:pt x="113" y="128"/>
                  </a:cubicBezTo>
                  <a:cubicBezTo>
                    <a:pt x="599" y="128"/>
                    <a:pt x="599" y="128"/>
                    <a:pt x="599" y="128"/>
                  </a:cubicBezTo>
                  <a:cubicBezTo>
                    <a:pt x="600" y="128"/>
                    <a:pt x="601" y="127"/>
                    <a:pt x="602" y="127"/>
                  </a:cubicBezTo>
                  <a:cubicBezTo>
                    <a:pt x="608" y="125"/>
                    <a:pt x="614" y="123"/>
                    <a:pt x="620" y="120"/>
                  </a:cubicBezTo>
                  <a:cubicBezTo>
                    <a:pt x="623" y="118"/>
                    <a:pt x="626" y="117"/>
                    <a:pt x="629" y="116"/>
                  </a:cubicBezTo>
                  <a:cubicBezTo>
                    <a:pt x="630" y="115"/>
                    <a:pt x="631" y="114"/>
                    <a:pt x="632" y="114"/>
                  </a:cubicBezTo>
                  <a:cubicBezTo>
                    <a:pt x="634" y="113"/>
                    <a:pt x="635" y="112"/>
                    <a:pt x="637" y="112"/>
                  </a:cubicBezTo>
                  <a:cubicBezTo>
                    <a:pt x="638" y="111"/>
                    <a:pt x="641" y="110"/>
                    <a:pt x="643" y="108"/>
                  </a:cubicBezTo>
                  <a:cubicBezTo>
                    <a:pt x="645" y="106"/>
                    <a:pt x="649" y="104"/>
                    <a:pt x="652" y="103"/>
                  </a:cubicBezTo>
                  <a:cubicBezTo>
                    <a:pt x="654" y="103"/>
                    <a:pt x="655" y="102"/>
                    <a:pt x="657" y="100"/>
                  </a:cubicBezTo>
                  <a:cubicBezTo>
                    <a:pt x="658" y="99"/>
                    <a:pt x="659" y="98"/>
                    <a:pt x="661" y="98"/>
                  </a:cubicBezTo>
                  <a:cubicBezTo>
                    <a:pt x="662" y="97"/>
                    <a:pt x="663" y="96"/>
                    <a:pt x="665" y="95"/>
                  </a:cubicBezTo>
                  <a:cubicBezTo>
                    <a:pt x="667" y="94"/>
                    <a:pt x="669" y="92"/>
                    <a:pt x="671" y="91"/>
                  </a:cubicBezTo>
                  <a:cubicBezTo>
                    <a:pt x="672" y="91"/>
                    <a:pt x="673" y="90"/>
                    <a:pt x="674" y="89"/>
                  </a:cubicBezTo>
                  <a:cubicBezTo>
                    <a:pt x="676" y="87"/>
                    <a:pt x="677" y="86"/>
                    <a:pt x="680" y="85"/>
                  </a:cubicBezTo>
                  <a:cubicBezTo>
                    <a:pt x="683" y="81"/>
                    <a:pt x="687" y="79"/>
                    <a:pt x="691" y="78"/>
                  </a:cubicBezTo>
                  <a:cubicBezTo>
                    <a:pt x="692" y="77"/>
                    <a:pt x="693" y="77"/>
                    <a:pt x="694" y="76"/>
                  </a:cubicBezTo>
                  <a:cubicBezTo>
                    <a:pt x="697" y="75"/>
                    <a:pt x="699" y="74"/>
                    <a:pt x="701" y="73"/>
                  </a:cubicBezTo>
                  <a:cubicBezTo>
                    <a:pt x="703" y="72"/>
                    <a:pt x="705" y="71"/>
                    <a:pt x="706" y="70"/>
                  </a:cubicBezTo>
                  <a:cubicBezTo>
                    <a:pt x="708" y="70"/>
                    <a:pt x="709" y="69"/>
                    <a:pt x="709" y="68"/>
                  </a:cubicBezTo>
                  <a:cubicBezTo>
                    <a:pt x="707" y="68"/>
                    <a:pt x="704" y="67"/>
                    <a:pt x="703" y="62"/>
                  </a:cubicBezTo>
                  <a:cubicBezTo>
                    <a:pt x="703" y="62"/>
                    <a:pt x="702" y="61"/>
                    <a:pt x="702" y="60"/>
                  </a:cubicBezTo>
                  <a:cubicBezTo>
                    <a:pt x="702" y="60"/>
                    <a:pt x="701" y="59"/>
                    <a:pt x="701" y="58"/>
                  </a:cubicBezTo>
                  <a:cubicBezTo>
                    <a:pt x="701" y="58"/>
                    <a:pt x="700" y="57"/>
                    <a:pt x="700" y="57"/>
                  </a:cubicBezTo>
                  <a:cubicBezTo>
                    <a:pt x="699" y="56"/>
                    <a:pt x="698" y="55"/>
                    <a:pt x="697" y="54"/>
                  </a:cubicBezTo>
                  <a:cubicBezTo>
                    <a:pt x="697" y="55"/>
                    <a:pt x="697" y="55"/>
                    <a:pt x="697" y="55"/>
                  </a:cubicBezTo>
                  <a:cubicBezTo>
                    <a:pt x="697" y="57"/>
                    <a:pt x="695" y="57"/>
                    <a:pt x="695" y="58"/>
                  </a:cubicBezTo>
                  <a:cubicBezTo>
                    <a:pt x="693" y="59"/>
                    <a:pt x="691" y="60"/>
                    <a:pt x="689" y="60"/>
                  </a:cubicBezTo>
                  <a:cubicBezTo>
                    <a:pt x="687" y="60"/>
                    <a:pt x="685" y="59"/>
                    <a:pt x="684" y="56"/>
                  </a:cubicBezTo>
                  <a:cubicBezTo>
                    <a:pt x="683" y="56"/>
                    <a:pt x="683" y="57"/>
                    <a:pt x="683" y="57"/>
                  </a:cubicBezTo>
                  <a:cubicBezTo>
                    <a:pt x="682" y="63"/>
                    <a:pt x="677" y="63"/>
                    <a:pt x="675" y="63"/>
                  </a:cubicBezTo>
                  <a:cubicBezTo>
                    <a:pt x="674" y="63"/>
                    <a:pt x="674" y="63"/>
                    <a:pt x="674" y="63"/>
                  </a:cubicBezTo>
                  <a:cubicBezTo>
                    <a:pt x="672" y="63"/>
                    <a:pt x="671" y="63"/>
                    <a:pt x="671" y="62"/>
                  </a:cubicBezTo>
                  <a:cubicBezTo>
                    <a:pt x="671" y="62"/>
                    <a:pt x="670" y="62"/>
                    <a:pt x="670" y="62"/>
                  </a:cubicBezTo>
                  <a:cubicBezTo>
                    <a:pt x="670" y="62"/>
                    <a:pt x="670" y="63"/>
                    <a:pt x="669" y="63"/>
                  </a:cubicBezTo>
                  <a:cubicBezTo>
                    <a:pt x="667" y="66"/>
                    <a:pt x="663" y="67"/>
                    <a:pt x="660" y="66"/>
                  </a:cubicBezTo>
                  <a:cubicBezTo>
                    <a:pt x="658" y="66"/>
                    <a:pt x="657" y="65"/>
                    <a:pt x="657" y="64"/>
                  </a:cubicBezTo>
                  <a:cubicBezTo>
                    <a:pt x="657" y="64"/>
                    <a:pt x="657" y="64"/>
                    <a:pt x="657" y="64"/>
                  </a:cubicBezTo>
                  <a:cubicBezTo>
                    <a:pt x="656" y="67"/>
                    <a:pt x="653" y="68"/>
                    <a:pt x="650" y="68"/>
                  </a:cubicBezTo>
                  <a:cubicBezTo>
                    <a:pt x="649" y="68"/>
                    <a:pt x="648" y="68"/>
                    <a:pt x="647" y="68"/>
                  </a:cubicBezTo>
                  <a:cubicBezTo>
                    <a:pt x="645" y="68"/>
                    <a:pt x="645" y="67"/>
                    <a:pt x="644" y="66"/>
                  </a:cubicBezTo>
                  <a:cubicBezTo>
                    <a:pt x="644" y="66"/>
                    <a:pt x="644" y="66"/>
                    <a:pt x="644" y="66"/>
                  </a:cubicBezTo>
                  <a:cubicBezTo>
                    <a:pt x="644" y="66"/>
                    <a:pt x="644" y="66"/>
                    <a:pt x="644" y="66"/>
                  </a:cubicBezTo>
                  <a:cubicBezTo>
                    <a:pt x="643" y="69"/>
                    <a:pt x="639" y="70"/>
                    <a:pt x="637" y="70"/>
                  </a:cubicBezTo>
                  <a:cubicBezTo>
                    <a:pt x="637" y="70"/>
                    <a:pt x="636" y="70"/>
                    <a:pt x="636" y="70"/>
                  </a:cubicBezTo>
                  <a:cubicBezTo>
                    <a:pt x="636" y="70"/>
                    <a:pt x="636" y="70"/>
                    <a:pt x="636" y="70"/>
                  </a:cubicBezTo>
                  <a:cubicBezTo>
                    <a:pt x="634" y="70"/>
                    <a:pt x="633" y="69"/>
                    <a:pt x="633" y="69"/>
                  </a:cubicBezTo>
                  <a:cubicBezTo>
                    <a:pt x="632" y="68"/>
                    <a:pt x="632" y="68"/>
                    <a:pt x="632" y="67"/>
                  </a:cubicBezTo>
                  <a:cubicBezTo>
                    <a:pt x="630" y="69"/>
                    <a:pt x="627" y="71"/>
                    <a:pt x="622" y="71"/>
                  </a:cubicBezTo>
                  <a:cubicBezTo>
                    <a:pt x="620" y="71"/>
                    <a:pt x="618" y="70"/>
                    <a:pt x="616" y="69"/>
                  </a:cubicBezTo>
                  <a:cubicBezTo>
                    <a:pt x="615" y="67"/>
                    <a:pt x="615" y="65"/>
                    <a:pt x="616" y="63"/>
                  </a:cubicBezTo>
                  <a:cubicBezTo>
                    <a:pt x="616" y="62"/>
                    <a:pt x="617" y="61"/>
                    <a:pt x="617" y="61"/>
                  </a:cubicBezTo>
                  <a:cubicBezTo>
                    <a:pt x="617" y="60"/>
                    <a:pt x="617" y="60"/>
                    <a:pt x="618" y="60"/>
                  </a:cubicBezTo>
                  <a:cubicBezTo>
                    <a:pt x="618" y="60"/>
                    <a:pt x="618" y="60"/>
                    <a:pt x="618" y="60"/>
                  </a:cubicBezTo>
                  <a:cubicBezTo>
                    <a:pt x="616" y="61"/>
                    <a:pt x="615" y="61"/>
                    <a:pt x="613" y="61"/>
                  </a:cubicBezTo>
                  <a:cubicBezTo>
                    <a:pt x="612" y="61"/>
                    <a:pt x="611" y="61"/>
                    <a:pt x="610" y="61"/>
                  </a:cubicBezTo>
                  <a:cubicBezTo>
                    <a:pt x="610" y="62"/>
                    <a:pt x="610" y="63"/>
                    <a:pt x="609" y="64"/>
                  </a:cubicBezTo>
                  <a:cubicBezTo>
                    <a:pt x="608" y="65"/>
                    <a:pt x="607" y="65"/>
                    <a:pt x="606" y="66"/>
                  </a:cubicBezTo>
                  <a:cubicBezTo>
                    <a:pt x="595" y="67"/>
                    <a:pt x="585" y="67"/>
                    <a:pt x="576" y="67"/>
                  </a:cubicBezTo>
                  <a:cubicBezTo>
                    <a:pt x="576" y="67"/>
                    <a:pt x="576" y="67"/>
                    <a:pt x="576" y="67"/>
                  </a:cubicBezTo>
                  <a:cubicBezTo>
                    <a:pt x="572" y="67"/>
                    <a:pt x="570" y="66"/>
                    <a:pt x="568" y="65"/>
                  </a:cubicBezTo>
                  <a:cubicBezTo>
                    <a:pt x="568" y="65"/>
                    <a:pt x="567" y="64"/>
                    <a:pt x="567" y="64"/>
                  </a:cubicBezTo>
                  <a:cubicBezTo>
                    <a:pt x="566" y="64"/>
                    <a:pt x="566" y="64"/>
                    <a:pt x="566" y="64"/>
                  </a:cubicBezTo>
                  <a:cubicBezTo>
                    <a:pt x="566" y="64"/>
                    <a:pt x="566" y="64"/>
                    <a:pt x="565" y="64"/>
                  </a:cubicBezTo>
                  <a:cubicBezTo>
                    <a:pt x="565" y="65"/>
                    <a:pt x="564" y="67"/>
                    <a:pt x="562" y="67"/>
                  </a:cubicBezTo>
                  <a:cubicBezTo>
                    <a:pt x="561" y="67"/>
                    <a:pt x="560" y="67"/>
                    <a:pt x="559" y="67"/>
                  </a:cubicBezTo>
                  <a:cubicBezTo>
                    <a:pt x="558" y="67"/>
                    <a:pt x="557" y="67"/>
                    <a:pt x="556" y="67"/>
                  </a:cubicBezTo>
                  <a:cubicBezTo>
                    <a:pt x="554" y="67"/>
                    <a:pt x="551" y="67"/>
                    <a:pt x="549" y="65"/>
                  </a:cubicBezTo>
                  <a:cubicBezTo>
                    <a:pt x="547" y="64"/>
                    <a:pt x="547" y="64"/>
                    <a:pt x="547" y="64"/>
                  </a:cubicBezTo>
                  <a:cubicBezTo>
                    <a:pt x="540" y="58"/>
                    <a:pt x="532" y="52"/>
                    <a:pt x="530" y="40"/>
                  </a:cubicBezTo>
                  <a:cubicBezTo>
                    <a:pt x="530" y="39"/>
                    <a:pt x="530" y="38"/>
                    <a:pt x="530" y="37"/>
                  </a:cubicBezTo>
                  <a:cubicBezTo>
                    <a:pt x="529" y="34"/>
                    <a:pt x="528" y="30"/>
                    <a:pt x="530" y="26"/>
                  </a:cubicBezTo>
                  <a:cubicBezTo>
                    <a:pt x="529" y="24"/>
                    <a:pt x="529" y="22"/>
                    <a:pt x="529" y="20"/>
                  </a:cubicBezTo>
                  <a:cubicBezTo>
                    <a:pt x="529" y="19"/>
                    <a:pt x="529" y="19"/>
                    <a:pt x="529" y="18"/>
                  </a:cubicBezTo>
                  <a:cubicBezTo>
                    <a:pt x="529" y="18"/>
                    <a:pt x="529" y="18"/>
                    <a:pt x="529" y="18"/>
                  </a:cubicBezTo>
                  <a:cubicBezTo>
                    <a:pt x="528" y="18"/>
                    <a:pt x="527" y="17"/>
                    <a:pt x="526" y="16"/>
                  </a:cubicBezTo>
                  <a:cubicBezTo>
                    <a:pt x="526" y="17"/>
                    <a:pt x="525" y="17"/>
                    <a:pt x="525" y="17"/>
                  </a:cubicBezTo>
                  <a:cubicBezTo>
                    <a:pt x="522" y="19"/>
                    <a:pt x="520" y="17"/>
                    <a:pt x="519" y="17"/>
                  </a:cubicBezTo>
                  <a:cubicBezTo>
                    <a:pt x="518" y="16"/>
                    <a:pt x="518" y="15"/>
                    <a:pt x="518" y="15"/>
                  </a:cubicBezTo>
                  <a:cubicBezTo>
                    <a:pt x="517" y="14"/>
                    <a:pt x="517" y="14"/>
                    <a:pt x="517" y="14"/>
                  </a:cubicBezTo>
                  <a:cubicBezTo>
                    <a:pt x="516" y="14"/>
                    <a:pt x="514" y="14"/>
                    <a:pt x="512" y="12"/>
                  </a:cubicBezTo>
                  <a:cubicBezTo>
                    <a:pt x="511" y="11"/>
                    <a:pt x="511" y="9"/>
                    <a:pt x="511" y="8"/>
                  </a:cubicBezTo>
                  <a:cubicBezTo>
                    <a:pt x="511" y="7"/>
                    <a:pt x="511" y="7"/>
                    <a:pt x="509" y="6"/>
                  </a:cubicBezTo>
                  <a:cubicBezTo>
                    <a:pt x="509" y="6"/>
                    <a:pt x="508" y="5"/>
                    <a:pt x="507" y="7"/>
                  </a:cubicBezTo>
                  <a:cubicBezTo>
                    <a:pt x="505" y="9"/>
                    <a:pt x="504" y="11"/>
                    <a:pt x="505" y="14"/>
                  </a:cubicBezTo>
                  <a:cubicBezTo>
                    <a:pt x="506" y="16"/>
                    <a:pt x="507" y="19"/>
                    <a:pt x="508" y="21"/>
                  </a:cubicBezTo>
                  <a:cubicBezTo>
                    <a:pt x="508" y="22"/>
                    <a:pt x="509" y="24"/>
                    <a:pt x="507" y="26"/>
                  </a:cubicBezTo>
                  <a:cubicBezTo>
                    <a:pt x="507" y="26"/>
                    <a:pt x="506" y="27"/>
                    <a:pt x="504" y="27"/>
                  </a:cubicBezTo>
                  <a:cubicBezTo>
                    <a:pt x="504" y="30"/>
                    <a:pt x="503" y="32"/>
                    <a:pt x="499" y="32"/>
                  </a:cubicBezTo>
                  <a:cubicBezTo>
                    <a:pt x="498" y="32"/>
                    <a:pt x="497" y="32"/>
                    <a:pt x="496" y="32"/>
                  </a:cubicBezTo>
                  <a:cubicBezTo>
                    <a:pt x="495" y="32"/>
                    <a:pt x="494" y="33"/>
                    <a:pt x="492" y="33"/>
                  </a:cubicBezTo>
                  <a:cubicBezTo>
                    <a:pt x="456" y="32"/>
                    <a:pt x="420" y="32"/>
                    <a:pt x="384" y="32"/>
                  </a:cubicBezTo>
                  <a:cubicBezTo>
                    <a:pt x="329" y="33"/>
                    <a:pt x="275" y="33"/>
                    <a:pt x="220" y="32"/>
                  </a:cubicBezTo>
                  <a:cubicBezTo>
                    <a:pt x="220" y="32"/>
                    <a:pt x="219" y="33"/>
                    <a:pt x="218" y="33"/>
                  </a:cubicBezTo>
                  <a:cubicBezTo>
                    <a:pt x="217" y="33"/>
                    <a:pt x="215" y="33"/>
                    <a:pt x="214" y="33"/>
                  </a:cubicBezTo>
                  <a:cubicBezTo>
                    <a:pt x="210" y="33"/>
                    <a:pt x="208" y="31"/>
                    <a:pt x="207" y="28"/>
                  </a:cubicBezTo>
                  <a:cubicBezTo>
                    <a:pt x="205" y="27"/>
                    <a:pt x="205" y="27"/>
                    <a:pt x="204" y="26"/>
                  </a:cubicBezTo>
                  <a:cubicBezTo>
                    <a:pt x="203" y="24"/>
                    <a:pt x="204" y="22"/>
                    <a:pt x="204" y="21"/>
                  </a:cubicBezTo>
                  <a:cubicBezTo>
                    <a:pt x="204" y="20"/>
                    <a:pt x="204" y="20"/>
                    <a:pt x="204" y="20"/>
                  </a:cubicBezTo>
                  <a:cubicBezTo>
                    <a:pt x="205" y="18"/>
                    <a:pt x="205" y="17"/>
                    <a:pt x="206" y="15"/>
                  </a:cubicBezTo>
                  <a:cubicBezTo>
                    <a:pt x="206" y="15"/>
                    <a:pt x="206" y="14"/>
                    <a:pt x="206" y="14"/>
                  </a:cubicBezTo>
                  <a:cubicBezTo>
                    <a:pt x="207" y="12"/>
                    <a:pt x="206" y="8"/>
                    <a:pt x="204" y="7"/>
                  </a:cubicBezTo>
                  <a:cubicBezTo>
                    <a:pt x="203" y="6"/>
                    <a:pt x="202" y="6"/>
                    <a:pt x="202" y="6"/>
                  </a:cubicBezTo>
                  <a:cubicBezTo>
                    <a:pt x="201" y="6"/>
                    <a:pt x="201" y="6"/>
                    <a:pt x="201" y="6"/>
                  </a:cubicBezTo>
                  <a:cubicBezTo>
                    <a:pt x="200" y="11"/>
                    <a:pt x="198" y="14"/>
                    <a:pt x="194" y="15"/>
                  </a:cubicBezTo>
                  <a:cubicBezTo>
                    <a:pt x="194" y="15"/>
                    <a:pt x="194" y="16"/>
                    <a:pt x="194" y="16"/>
                  </a:cubicBezTo>
                  <a:cubicBezTo>
                    <a:pt x="193" y="16"/>
                    <a:pt x="193" y="16"/>
                    <a:pt x="193" y="16"/>
                  </a:cubicBezTo>
                  <a:cubicBezTo>
                    <a:pt x="192" y="17"/>
                    <a:pt x="190" y="19"/>
                    <a:pt x="187" y="18"/>
                  </a:cubicBezTo>
                  <a:cubicBezTo>
                    <a:pt x="186" y="18"/>
                    <a:pt x="186" y="17"/>
                    <a:pt x="185" y="17"/>
                  </a:cubicBezTo>
                  <a:cubicBezTo>
                    <a:pt x="185" y="17"/>
                    <a:pt x="184" y="17"/>
                    <a:pt x="184" y="17"/>
                  </a:cubicBezTo>
                  <a:cubicBezTo>
                    <a:pt x="183" y="18"/>
                    <a:pt x="183" y="18"/>
                    <a:pt x="183" y="20"/>
                  </a:cubicBezTo>
                  <a:cubicBezTo>
                    <a:pt x="183" y="21"/>
                    <a:pt x="183" y="22"/>
                    <a:pt x="182" y="23"/>
                  </a:cubicBezTo>
                  <a:cubicBezTo>
                    <a:pt x="181" y="25"/>
                    <a:pt x="181" y="26"/>
                    <a:pt x="182" y="28"/>
                  </a:cubicBezTo>
                  <a:cubicBezTo>
                    <a:pt x="182" y="29"/>
                    <a:pt x="182" y="30"/>
                    <a:pt x="182" y="30"/>
                  </a:cubicBezTo>
                  <a:cubicBezTo>
                    <a:pt x="183" y="35"/>
                    <a:pt x="182" y="38"/>
                    <a:pt x="181" y="42"/>
                  </a:cubicBezTo>
                  <a:cubicBezTo>
                    <a:pt x="180" y="43"/>
                    <a:pt x="180" y="45"/>
                    <a:pt x="180" y="47"/>
                  </a:cubicBezTo>
                  <a:cubicBezTo>
                    <a:pt x="179" y="48"/>
                    <a:pt x="178" y="49"/>
                    <a:pt x="178" y="50"/>
                  </a:cubicBezTo>
                  <a:cubicBezTo>
                    <a:pt x="177" y="51"/>
                    <a:pt x="177" y="51"/>
                    <a:pt x="177" y="51"/>
                  </a:cubicBezTo>
                  <a:cubicBezTo>
                    <a:pt x="174" y="54"/>
                    <a:pt x="171" y="58"/>
                    <a:pt x="167" y="62"/>
                  </a:cubicBezTo>
                  <a:cubicBezTo>
                    <a:pt x="163" y="65"/>
                    <a:pt x="158" y="67"/>
                    <a:pt x="152" y="67"/>
                  </a:cubicBezTo>
                  <a:cubicBezTo>
                    <a:pt x="152" y="67"/>
                    <a:pt x="152" y="67"/>
                    <a:pt x="152" y="67"/>
                  </a:cubicBezTo>
                  <a:cubicBezTo>
                    <a:pt x="151" y="65"/>
                    <a:pt x="151" y="65"/>
                    <a:pt x="151" y="65"/>
                  </a:cubicBezTo>
                  <a:cubicBezTo>
                    <a:pt x="151" y="67"/>
                    <a:pt x="151" y="67"/>
                    <a:pt x="151" y="67"/>
                  </a:cubicBezTo>
                  <a:cubicBezTo>
                    <a:pt x="150" y="67"/>
                    <a:pt x="147" y="67"/>
                    <a:pt x="146" y="65"/>
                  </a:cubicBezTo>
                  <a:cubicBezTo>
                    <a:pt x="144" y="66"/>
                    <a:pt x="143" y="66"/>
                    <a:pt x="142" y="65"/>
                  </a:cubicBezTo>
                  <a:cubicBezTo>
                    <a:pt x="141" y="67"/>
                    <a:pt x="140" y="68"/>
                    <a:pt x="137" y="68"/>
                  </a:cubicBezTo>
                  <a:cubicBezTo>
                    <a:pt x="127" y="67"/>
                    <a:pt x="127" y="67"/>
                    <a:pt x="127" y="67"/>
                  </a:cubicBezTo>
                  <a:cubicBezTo>
                    <a:pt x="121" y="67"/>
                    <a:pt x="115" y="67"/>
                    <a:pt x="108" y="66"/>
                  </a:cubicBezTo>
                  <a:cubicBezTo>
                    <a:pt x="108" y="66"/>
                    <a:pt x="106" y="66"/>
                    <a:pt x="105" y="65"/>
                  </a:cubicBezTo>
                  <a:cubicBezTo>
                    <a:pt x="104" y="64"/>
                    <a:pt x="104" y="62"/>
                    <a:pt x="104" y="61"/>
                  </a:cubicBezTo>
                  <a:cubicBezTo>
                    <a:pt x="104" y="61"/>
                    <a:pt x="104" y="61"/>
                    <a:pt x="104" y="61"/>
                  </a:cubicBezTo>
                  <a:cubicBezTo>
                    <a:pt x="104" y="61"/>
                    <a:pt x="104" y="61"/>
                    <a:pt x="104" y="61"/>
                  </a:cubicBezTo>
                  <a:cubicBezTo>
                    <a:pt x="103" y="62"/>
                    <a:pt x="101" y="62"/>
                    <a:pt x="100" y="62"/>
                  </a:cubicBezTo>
                  <a:cubicBezTo>
                    <a:pt x="98" y="62"/>
                    <a:pt x="97" y="61"/>
                    <a:pt x="96" y="60"/>
                  </a:cubicBezTo>
                  <a:cubicBezTo>
                    <a:pt x="96" y="60"/>
                    <a:pt x="96" y="60"/>
                    <a:pt x="96" y="60"/>
                  </a:cubicBezTo>
                  <a:cubicBezTo>
                    <a:pt x="96" y="61"/>
                    <a:pt x="96" y="62"/>
                    <a:pt x="97" y="63"/>
                  </a:cubicBezTo>
                  <a:cubicBezTo>
                    <a:pt x="97" y="64"/>
                    <a:pt x="97" y="65"/>
                    <a:pt x="97" y="66"/>
                  </a:cubicBezTo>
                  <a:cubicBezTo>
                    <a:pt x="98" y="68"/>
                    <a:pt x="97" y="70"/>
                    <a:pt x="96" y="71"/>
                  </a:cubicBezTo>
                  <a:cubicBezTo>
                    <a:pt x="95" y="71"/>
                    <a:pt x="94" y="71"/>
                    <a:pt x="93" y="71"/>
                  </a:cubicBezTo>
                  <a:cubicBezTo>
                    <a:pt x="90" y="71"/>
                    <a:pt x="84" y="70"/>
                    <a:pt x="82" y="68"/>
                  </a:cubicBezTo>
                  <a:cubicBezTo>
                    <a:pt x="82" y="68"/>
                    <a:pt x="81" y="67"/>
                    <a:pt x="81" y="67"/>
                  </a:cubicBezTo>
                  <a:cubicBezTo>
                    <a:pt x="81" y="67"/>
                    <a:pt x="81" y="68"/>
                    <a:pt x="80" y="68"/>
                  </a:cubicBezTo>
                  <a:cubicBezTo>
                    <a:pt x="79" y="70"/>
                    <a:pt x="77" y="70"/>
                    <a:pt x="74" y="69"/>
                  </a:cubicBezTo>
                  <a:cubicBezTo>
                    <a:pt x="72" y="69"/>
                    <a:pt x="71" y="67"/>
                    <a:pt x="70" y="66"/>
                  </a:cubicBezTo>
                  <a:cubicBezTo>
                    <a:pt x="69" y="66"/>
                    <a:pt x="69" y="66"/>
                    <a:pt x="69" y="66"/>
                  </a:cubicBezTo>
                  <a:cubicBezTo>
                    <a:pt x="68" y="68"/>
                    <a:pt x="66" y="68"/>
                    <a:pt x="64" y="68"/>
                  </a:cubicBezTo>
                  <a:cubicBezTo>
                    <a:pt x="60" y="68"/>
                    <a:pt x="58" y="65"/>
                    <a:pt x="57" y="63"/>
                  </a:cubicBezTo>
                  <a:cubicBezTo>
                    <a:pt x="57" y="63"/>
                    <a:pt x="57" y="63"/>
                    <a:pt x="57" y="63"/>
                  </a:cubicBezTo>
                  <a:cubicBezTo>
                    <a:pt x="57" y="63"/>
                    <a:pt x="57" y="64"/>
                    <a:pt x="56" y="64"/>
                  </a:cubicBezTo>
                  <a:cubicBezTo>
                    <a:pt x="56" y="65"/>
                    <a:pt x="55" y="66"/>
                    <a:pt x="53" y="66"/>
                  </a:cubicBezTo>
                  <a:cubicBezTo>
                    <a:pt x="52" y="66"/>
                    <a:pt x="52" y="66"/>
                    <a:pt x="52" y="66"/>
                  </a:cubicBezTo>
                  <a:cubicBezTo>
                    <a:pt x="49" y="66"/>
                    <a:pt x="47" y="65"/>
                    <a:pt x="46" y="62"/>
                  </a:cubicBezTo>
                  <a:cubicBezTo>
                    <a:pt x="46" y="61"/>
                    <a:pt x="46" y="61"/>
                    <a:pt x="45" y="61"/>
                  </a:cubicBezTo>
                  <a:cubicBezTo>
                    <a:pt x="44" y="63"/>
                    <a:pt x="42" y="64"/>
                    <a:pt x="37" y="62"/>
                  </a:cubicBezTo>
                  <a:cubicBezTo>
                    <a:pt x="35" y="61"/>
                    <a:pt x="35" y="60"/>
                    <a:pt x="34" y="59"/>
                  </a:cubicBezTo>
                  <a:cubicBezTo>
                    <a:pt x="34" y="58"/>
                    <a:pt x="34" y="58"/>
                    <a:pt x="33" y="57"/>
                  </a:cubicBezTo>
                  <a:cubicBezTo>
                    <a:pt x="33" y="58"/>
                    <a:pt x="33" y="58"/>
                    <a:pt x="32" y="59"/>
                  </a:cubicBezTo>
                  <a:cubicBezTo>
                    <a:pt x="32" y="59"/>
                    <a:pt x="31" y="60"/>
                    <a:pt x="30" y="60"/>
                  </a:cubicBezTo>
                  <a:cubicBezTo>
                    <a:pt x="28" y="60"/>
                    <a:pt x="27" y="60"/>
                    <a:pt x="25" y="59"/>
                  </a:cubicBezTo>
                  <a:cubicBezTo>
                    <a:pt x="24" y="59"/>
                    <a:pt x="24" y="59"/>
                    <a:pt x="24" y="59"/>
                  </a:cubicBezTo>
                  <a:cubicBezTo>
                    <a:pt x="23" y="58"/>
                    <a:pt x="22" y="58"/>
                    <a:pt x="22" y="58"/>
                  </a:cubicBezTo>
                  <a:cubicBezTo>
                    <a:pt x="21" y="58"/>
                    <a:pt x="19" y="57"/>
                    <a:pt x="19" y="55"/>
                  </a:cubicBezTo>
                  <a:cubicBezTo>
                    <a:pt x="19" y="54"/>
                    <a:pt x="19" y="54"/>
                    <a:pt x="19" y="54"/>
                  </a:cubicBezTo>
                  <a:cubicBezTo>
                    <a:pt x="19" y="53"/>
                    <a:pt x="19" y="53"/>
                    <a:pt x="19" y="53"/>
                  </a:cubicBezTo>
                  <a:cubicBezTo>
                    <a:pt x="19" y="53"/>
                    <a:pt x="19" y="53"/>
                    <a:pt x="18" y="53"/>
                  </a:cubicBezTo>
                  <a:cubicBezTo>
                    <a:pt x="18" y="56"/>
                    <a:pt x="15" y="57"/>
                    <a:pt x="14" y="58"/>
                  </a:cubicBezTo>
                  <a:cubicBezTo>
                    <a:pt x="13" y="58"/>
                    <a:pt x="12" y="59"/>
                    <a:pt x="12" y="59"/>
                  </a:cubicBezTo>
                  <a:cubicBezTo>
                    <a:pt x="11" y="60"/>
                    <a:pt x="11" y="60"/>
                    <a:pt x="11" y="60"/>
                  </a:cubicBezTo>
                  <a:cubicBezTo>
                    <a:pt x="12" y="62"/>
                    <a:pt x="12" y="64"/>
                    <a:pt x="11" y="65"/>
                  </a:cubicBezTo>
                  <a:cubicBezTo>
                    <a:pt x="11" y="66"/>
                    <a:pt x="9" y="67"/>
                    <a:pt x="6" y="67"/>
                  </a:cubicBezTo>
                  <a:cubicBezTo>
                    <a:pt x="7" y="69"/>
                    <a:pt x="8" y="69"/>
                    <a:pt x="9" y="70"/>
                  </a:cubicBezTo>
                  <a:cubicBezTo>
                    <a:pt x="12" y="71"/>
                    <a:pt x="16" y="73"/>
                    <a:pt x="19" y="75"/>
                  </a:cubicBezTo>
                  <a:cubicBezTo>
                    <a:pt x="23" y="77"/>
                    <a:pt x="27" y="79"/>
                    <a:pt x="32" y="81"/>
                  </a:cubicBezTo>
                  <a:cubicBezTo>
                    <a:pt x="35" y="82"/>
                    <a:pt x="35" y="84"/>
                    <a:pt x="35" y="85"/>
                  </a:cubicBezTo>
                  <a:cubicBezTo>
                    <a:pt x="35" y="85"/>
                    <a:pt x="35" y="86"/>
                    <a:pt x="35" y="86"/>
                  </a:cubicBezTo>
                  <a:cubicBezTo>
                    <a:pt x="35" y="86"/>
                    <a:pt x="36" y="86"/>
                    <a:pt x="37" y="86"/>
                  </a:cubicBezTo>
                  <a:cubicBezTo>
                    <a:pt x="37" y="86"/>
                    <a:pt x="37" y="86"/>
                    <a:pt x="37" y="86"/>
                  </a:cubicBezTo>
                  <a:cubicBezTo>
                    <a:pt x="41" y="86"/>
                    <a:pt x="42" y="89"/>
                    <a:pt x="42" y="90"/>
                  </a:cubicBezTo>
                  <a:cubicBezTo>
                    <a:pt x="42" y="90"/>
                    <a:pt x="42" y="90"/>
                    <a:pt x="42" y="90"/>
                  </a:cubicBezTo>
                  <a:cubicBezTo>
                    <a:pt x="43" y="90"/>
                    <a:pt x="43" y="90"/>
                    <a:pt x="43" y="90"/>
                  </a:cubicBezTo>
                  <a:cubicBezTo>
                    <a:pt x="43" y="90"/>
                    <a:pt x="44" y="90"/>
                    <a:pt x="44" y="90"/>
                  </a:cubicBezTo>
                  <a:cubicBezTo>
                    <a:pt x="45" y="91"/>
                    <a:pt x="47" y="91"/>
                    <a:pt x="47" y="93"/>
                  </a:cubicBezTo>
                  <a:cubicBezTo>
                    <a:pt x="48" y="95"/>
                    <a:pt x="49" y="95"/>
                    <a:pt x="51" y="96"/>
                  </a:cubicBezTo>
                  <a:cubicBezTo>
                    <a:pt x="53" y="97"/>
                    <a:pt x="55" y="97"/>
                    <a:pt x="56" y="99"/>
                  </a:cubicBezTo>
                  <a:cubicBezTo>
                    <a:pt x="59" y="100"/>
                    <a:pt x="60" y="102"/>
                    <a:pt x="60" y="103"/>
                  </a:cubicBezTo>
                  <a:cubicBezTo>
                    <a:pt x="60" y="103"/>
                    <a:pt x="61" y="103"/>
                    <a:pt x="61" y="103"/>
                  </a:cubicBezTo>
                  <a:cubicBezTo>
                    <a:pt x="64" y="103"/>
                    <a:pt x="65" y="104"/>
                    <a:pt x="65" y="106"/>
                  </a:cubicBezTo>
                  <a:cubicBezTo>
                    <a:pt x="65" y="106"/>
                    <a:pt x="65" y="106"/>
                    <a:pt x="67" y="106"/>
                  </a:cubicBezTo>
                  <a:cubicBezTo>
                    <a:pt x="68" y="107"/>
                    <a:pt x="70" y="108"/>
                    <a:pt x="71" y="110"/>
                  </a:cubicBez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sz="1800" dirty="0"/>
            </a:p>
          </p:txBody>
        </p:sp>
        <p:sp>
          <p:nvSpPr>
            <p:cNvPr id="15" name="Freeform 11">
              <a:extLst>
                <a:ext uri="{FF2B5EF4-FFF2-40B4-BE49-F238E27FC236}">
                  <a16:creationId xmlns:a16="http://schemas.microsoft.com/office/drawing/2014/main" id="{B1C666E8-3466-463B-9D25-1D3FCF01B77B}"/>
                </a:ext>
              </a:extLst>
            </p:cNvPr>
            <p:cNvSpPr>
              <a:spLocks/>
            </p:cNvSpPr>
            <p:nvPr/>
          </p:nvSpPr>
          <p:spPr bwMode="auto">
            <a:xfrm>
              <a:off x="3757" y="1938"/>
              <a:ext cx="130" cy="183"/>
            </a:xfrm>
            <a:custGeom>
              <a:avLst/>
              <a:gdLst>
                <a:gd name="T0" fmla="*/ 62 w 76"/>
                <a:gd name="T1" fmla="*/ 8 h 106"/>
                <a:gd name="T2" fmla="*/ 73 w 76"/>
                <a:gd name="T3" fmla="*/ 32 h 106"/>
                <a:gd name="T4" fmla="*/ 70 w 76"/>
                <a:gd name="T5" fmla="*/ 32 h 106"/>
                <a:gd name="T6" fmla="*/ 60 w 76"/>
                <a:gd name="T7" fmla="*/ 11 h 106"/>
                <a:gd name="T8" fmla="*/ 37 w 76"/>
                <a:gd name="T9" fmla="*/ 3 h 106"/>
                <a:gd name="T10" fmla="*/ 14 w 76"/>
                <a:gd name="T11" fmla="*/ 9 h 106"/>
                <a:gd name="T12" fmla="*/ 5 w 76"/>
                <a:gd name="T13" fmla="*/ 25 h 106"/>
                <a:gd name="T14" fmla="*/ 17 w 76"/>
                <a:gd name="T15" fmla="*/ 41 h 106"/>
                <a:gd name="T16" fmla="*/ 38 w 76"/>
                <a:gd name="T17" fmla="*/ 48 h 106"/>
                <a:gd name="T18" fmla="*/ 64 w 76"/>
                <a:gd name="T19" fmla="*/ 57 h 106"/>
                <a:gd name="T20" fmla="*/ 76 w 76"/>
                <a:gd name="T21" fmla="*/ 78 h 106"/>
                <a:gd name="T22" fmla="*/ 65 w 76"/>
                <a:gd name="T23" fmla="*/ 99 h 106"/>
                <a:gd name="T24" fmla="*/ 38 w 76"/>
                <a:gd name="T25" fmla="*/ 106 h 106"/>
                <a:gd name="T26" fmla="*/ 12 w 76"/>
                <a:gd name="T27" fmla="*/ 97 h 106"/>
                <a:gd name="T28" fmla="*/ 0 w 76"/>
                <a:gd name="T29" fmla="*/ 70 h 106"/>
                <a:gd name="T30" fmla="*/ 3 w 76"/>
                <a:gd name="T31" fmla="*/ 70 h 106"/>
                <a:gd name="T32" fmla="*/ 14 w 76"/>
                <a:gd name="T33" fmla="*/ 94 h 106"/>
                <a:gd name="T34" fmla="*/ 38 w 76"/>
                <a:gd name="T35" fmla="*/ 102 h 106"/>
                <a:gd name="T36" fmla="*/ 63 w 76"/>
                <a:gd name="T37" fmla="*/ 96 h 106"/>
                <a:gd name="T38" fmla="*/ 72 w 76"/>
                <a:gd name="T39" fmla="*/ 78 h 106"/>
                <a:gd name="T40" fmla="*/ 61 w 76"/>
                <a:gd name="T41" fmla="*/ 60 h 106"/>
                <a:gd name="T42" fmla="*/ 37 w 76"/>
                <a:gd name="T43" fmla="*/ 51 h 106"/>
                <a:gd name="T44" fmla="*/ 14 w 76"/>
                <a:gd name="T45" fmla="*/ 44 h 106"/>
                <a:gd name="T46" fmla="*/ 2 w 76"/>
                <a:gd name="T47" fmla="*/ 25 h 106"/>
                <a:gd name="T48" fmla="*/ 13 w 76"/>
                <a:gd name="T49" fmla="*/ 6 h 106"/>
                <a:gd name="T50" fmla="*/ 37 w 76"/>
                <a:gd name="T51" fmla="*/ 0 h 106"/>
                <a:gd name="T52" fmla="*/ 62 w 76"/>
                <a:gd name="T53" fmla="*/ 8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6" h="106">
                  <a:moveTo>
                    <a:pt x="62" y="8"/>
                  </a:moveTo>
                  <a:cubicBezTo>
                    <a:pt x="69" y="14"/>
                    <a:pt x="72" y="22"/>
                    <a:pt x="73" y="32"/>
                  </a:cubicBezTo>
                  <a:cubicBezTo>
                    <a:pt x="70" y="32"/>
                    <a:pt x="70" y="32"/>
                    <a:pt x="70" y="32"/>
                  </a:cubicBezTo>
                  <a:cubicBezTo>
                    <a:pt x="69" y="23"/>
                    <a:pt x="66" y="16"/>
                    <a:pt x="60" y="11"/>
                  </a:cubicBezTo>
                  <a:cubicBezTo>
                    <a:pt x="55" y="6"/>
                    <a:pt x="47" y="3"/>
                    <a:pt x="37" y="3"/>
                  </a:cubicBezTo>
                  <a:cubicBezTo>
                    <a:pt x="27" y="3"/>
                    <a:pt x="20" y="5"/>
                    <a:pt x="14" y="9"/>
                  </a:cubicBezTo>
                  <a:cubicBezTo>
                    <a:pt x="8" y="12"/>
                    <a:pt x="5" y="18"/>
                    <a:pt x="5" y="25"/>
                  </a:cubicBezTo>
                  <a:cubicBezTo>
                    <a:pt x="5" y="32"/>
                    <a:pt x="9" y="37"/>
                    <a:pt x="17" y="41"/>
                  </a:cubicBezTo>
                  <a:cubicBezTo>
                    <a:pt x="20" y="43"/>
                    <a:pt x="27" y="45"/>
                    <a:pt x="38" y="48"/>
                  </a:cubicBezTo>
                  <a:cubicBezTo>
                    <a:pt x="50" y="51"/>
                    <a:pt x="59" y="54"/>
                    <a:pt x="64" y="57"/>
                  </a:cubicBezTo>
                  <a:cubicBezTo>
                    <a:pt x="72" y="62"/>
                    <a:pt x="76" y="69"/>
                    <a:pt x="76" y="78"/>
                  </a:cubicBezTo>
                  <a:cubicBezTo>
                    <a:pt x="76" y="87"/>
                    <a:pt x="72" y="94"/>
                    <a:pt x="65" y="99"/>
                  </a:cubicBezTo>
                  <a:cubicBezTo>
                    <a:pt x="58" y="103"/>
                    <a:pt x="49" y="106"/>
                    <a:pt x="38" y="106"/>
                  </a:cubicBezTo>
                  <a:cubicBezTo>
                    <a:pt x="27" y="106"/>
                    <a:pt x="18" y="103"/>
                    <a:pt x="12" y="97"/>
                  </a:cubicBezTo>
                  <a:cubicBezTo>
                    <a:pt x="5" y="91"/>
                    <a:pt x="1" y="82"/>
                    <a:pt x="0" y="70"/>
                  </a:cubicBezTo>
                  <a:cubicBezTo>
                    <a:pt x="3" y="70"/>
                    <a:pt x="3" y="70"/>
                    <a:pt x="3" y="70"/>
                  </a:cubicBezTo>
                  <a:cubicBezTo>
                    <a:pt x="4" y="81"/>
                    <a:pt x="8" y="89"/>
                    <a:pt x="14" y="94"/>
                  </a:cubicBezTo>
                  <a:cubicBezTo>
                    <a:pt x="20" y="100"/>
                    <a:pt x="28" y="102"/>
                    <a:pt x="38" y="102"/>
                  </a:cubicBezTo>
                  <a:cubicBezTo>
                    <a:pt x="48" y="102"/>
                    <a:pt x="56" y="100"/>
                    <a:pt x="63" y="96"/>
                  </a:cubicBezTo>
                  <a:cubicBezTo>
                    <a:pt x="69" y="91"/>
                    <a:pt x="72" y="86"/>
                    <a:pt x="72" y="78"/>
                  </a:cubicBezTo>
                  <a:cubicBezTo>
                    <a:pt x="72" y="70"/>
                    <a:pt x="69" y="64"/>
                    <a:pt x="61" y="60"/>
                  </a:cubicBezTo>
                  <a:cubicBezTo>
                    <a:pt x="57" y="57"/>
                    <a:pt x="49" y="54"/>
                    <a:pt x="37" y="51"/>
                  </a:cubicBezTo>
                  <a:cubicBezTo>
                    <a:pt x="25" y="48"/>
                    <a:pt x="18" y="46"/>
                    <a:pt x="14" y="44"/>
                  </a:cubicBezTo>
                  <a:cubicBezTo>
                    <a:pt x="6" y="39"/>
                    <a:pt x="2" y="33"/>
                    <a:pt x="2" y="25"/>
                  </a:cubicBezTo>
                  <a:cubicBezTo>
                    <a:pt x="2" y="17"/>
                    <a:pt x="6" y="10"/>
                    <a:pt x="13" y="6"/>
                  </a:cubicBezTo>
                  <a:cubicBezTo>
                    <a:pt x="19" y="2"/>
                    <a:pt x="27" y="0"/>
                    <a:pt x="37" y="0"/>
                  </a:cubicBezTo>
                  <a:cubicBezTo>
                    <a:pt x="48" y="0"/>
                    <a:pt x="56" y="3"/>
                    <a:pt x="62" y="8"/>
                  </a:cubicBez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sz="1800"/>
            </a:p>
          </p:txBody>
        </p:sp>
        <p:sp>
          <p:nvSpPr>
            <p:cNvPr id="16" name="Freeform 12">
              <a:extLst>
                <a:ext uri="{FF2B5EF4-FFF2-40B4-BE49-F238E27FC236}">
                  <a16:creationId xmlns:a16="http://schemas.microsoft.com/office/drawing/2014/main" id="{3412CCBF-2E1F-484A-940E-661EEB08D07A}"/>
                </a:ext>
              </a:extLst>
            </p:cNvPr>
            <p:cNvSpPr>
              <a:spLocks/>
            </p:cNvSpPr>
            <p:nvPr/>
          </p:nvSpPr>
          <p:spPr bwMode="auto">
            <a:xfrm>
              <a:off x="3899" y="1942"/>
              <a:ext cx="96" cy="179"/>
            </a:xfrm>
            <a:custGeom>
              <a:avLst/>
              <a:gdLst>
                <a:gd name="T0" fmla="*/ 53 w 56"/>
                <a:gd name="T1" fmla="*/ 0 h 104"/>
                <a:gd name="T2" fmla="*/ 56 w 56"/>
                <a:gd name="T3" fmla="*/ 0 h 104"/>
                <a:gd name="T4" fmla="*/ 56 w 56"/>
                <a:gd name="T5" fmla="*/ 70 h 104"/>
                <a:gd name="T6" fmla="*/ 50 w 56"/>
                <a:gd name="T7" fmla="*/ 94 h 104"/>
                <a:gd name="T8" fmla="*/ 27 w 56"/>
                <a:gd name="T9" fmla="*/ 104 h 104"/>
                <a:gd name="T10" fmla="*/ 8 w 56"/>
                <a:gd name="T11" fmla="*/ 97 h 104"/>
                <a:gd name="T12" fmla="*/ 0 w 56"/>
                <a:gd name="T13" fmla="*/ 75 h 104"/>
                <a:gd name="T14" fmla="*/ 0 w 56"/>
                <a:gd name="T15" fmla="*/ 70 h 104"/>
                <a:gd name="T16" fmla="*/ 3 w 56"/>
                <a:gd name="T17" fmla="*/ 70 h 104"/>
                <a:gd name="T18" fmla="*/ 3 w 56"/>
                <a:gd name="T19" fmla="*/ 75 h 104"/>
                <a:gd name="T20" fmla="*/ 27 w 56"/>
                <a:gd name="T21" fmla="*/ 100 h 104"/>
                <a:gd name="T22" fmla="*/ 47 w 56"/>
                <a:gd name="T23" fmla="*/ 92 h 104"/>
                <a:gd name="T24" fmla="*/ 53 w 56"/>
                <a:gd name="T25" fmla="*/ 70 h 104"/>
                <a:gd name="T26" fmla="*/ 53 w 56"/>
                <a:gd name="T27"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6" h="104">
                  <a:moveTo>
                    <a:pt x="53" y="0"/>
                  </a:moveTo>
                  <a:cubicBezTo>
                    <a:pt x="56" y="0"/>
                    <a:pt x="56" y="0"/>
                    <a:pt x="56" y="0"/>
                  </a:cubicBezTo>
                  <a:cubicBezTo>
                    <a:pt x="56" y="70"/>
                    <a:pt x="56" y="70"/>
                    <a:pt x="56" y="70"/>
                  </a:cubicBezTo>
                  <a:cubicBezTo>
                    <a:pt x="56" y="80"/>
                    <a:pt x="54" y="88"/>
                    <a:pt x="50" y="94"/>
                  </a:cubicBezTo>
                  <a:cubicBezTo>
                    <a:pt x="45" y="100"/>
                    <a:pt x="37" y="104"/>
                    <a:pt x="27" y="104"/>
                  </a:cubicBezTo>
                  <a:cubicBezTo>
                    <a:pt x="19" y="104"/>
                    <a:pt x="12" y="101"/>
                    <a:pt x="8" y="97"/>
                  </a:cubicBezTo>
                  <a:cubicBezTo>
                    <a:pt x="2" y="92"/>
                    <a:pt x="0" y="84"/>
                    <a:pt x="0" y="75"/>
                  </a:cubicBezTo>
                  <a:cubicBezTo>
                    <a:pt x="0" y="70"/>
                    <a:pt x="0" y="70"/>
                    <a:pt x="0" y="70"/>
                  </a:cubicBezTo>
                  <a:cubicBezTo>
                    <a:pt x="3" y="70"/>
                    <a:pt x="3" y="70"/>
                    <a:pt x="3" y="70"/>
                  </a:cubicBezTo>
                  <a:cubicBezTo>
                    <a:pt x="3" y="75"/>
                    <a:pt x="3" y="75"/>
                    <a:pt x="3" y="75"/>
                  </a:cubicBezTo>
                  <a:cubicBezTo>
                    <a:pt x="3" y="92"/>
                    <a:pt x="11" y="100"/>
                    <a:pt x="27" y="100"/>
                  </a:cubicBezTo>
                  <a:cubicBezTo>
                    <a:pt x="36" y="100"/>
                    <a:pt x="43" y="97"/>
                    <a:pt x="47" y="92"/>
                  </a:cubicBezTo>
                  <a:cubicBezTo>
                    <a:pt x="51" y="87"/>
                    <a:pt x="53" y="80"/>
                    <a:pt x="53" y="70"/>
                  </a:cubicBezTo>
                  <a:lnTo>
                    <a:pt x="53" y="0"/>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sz="1800"/>
            </a:p>
          </p:txBody>
        </p:sp>
        <p:sp>
          <p:nvSpPr>
            <p:cNvPr id="17" name="Freeform 13">
              <a:extLst>
                <a:ext uri="{FF2B5EF4-FFF2-40B4-BE49-F238E27FC236}">
                  <a16:creationId xmlns:a16="http://schemas.microsoft.com/office/drawing/2014/main" id="{CE8933D4-46F7-4EEA-AD4A-772D621DA43C}"/>
                </a:ext>
              </a:extLst>
            </p:cNvPr>
            <p:cNvSpPr>
              <a:spLocks/>
            </p:cNvSpPr>
            <p:nvPr/>
          </p:nvSpPr>
          <p:spPr bwMode="auto">
            <a:xfrm>
              <a:off x="4019" y="1942"/>
              <a:ext cx="142" cy="175"/>
            </a:xfrm>
            <a:custGeom>
              <a:avLst/>
              <a:gdLst>
                <a:gd name="T0" fmla="*/ 0 w 142"/>
                <a:gd name="T1" fmla="*/ 0 h 175"/>
                <a:gd name="T2" fmla="*/ 142 w 142"/>
                <a:gd name="T3" fmla="*/ 0 h 175"/>
                <a:gd name="T4" fmla="*/ 142 w 142"/>
                <a:gd name="T5" fmla="*/ 5 h 175"/>
                <a:gd name="T6" fmla="*/ 73 w 142"/>
                <a:gd name="T7" fmla="*/ 5 h 175"/>
                <a:gd name="T8" fmla="*/ 73 w 142"/>
                <a:gd name="T9" fmla="*/ 175 h 175"/>
                <a:gd name="T10" fmla="*/ 68 w 142"/>
                <a:gd name="T11" fmla="*/ 175 h 175"/>
                <a:gd name="T12" fmla="*/ 68 w 142"/>
                <a:gd name="T13" fmla="*/ 5 h 175"/>
                <a:gd name="T14" fmla="*/ 0 w 142"/>
                <a:gd name="T15" fmla="*/ 5 h 175"/>
                <a:gd name="T16" fmla="*/ 0 w 142"/>
                <a:gd name="T17" fmla="*/ 0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75">
                  <a:moveTo>
                    <a:pt x="0" y="0"/>
                  </a:moveTo>
                  <a:lnTo>
                    <a:pt x="142" y="0"/>
                  </a:lnTo>
                  <a:lnTo>
                    <a:pt x="142" y="5"/>
                  </a:lnTo>
                  <a:lnTo>
                    <a:pt x="73" y="5"/>
                  </a:lnTo>
                  <a:lnTo>
                    <a:pt x="73" y="175"/>
                  </a:lnTo>
                  <a:lnTo>
                    <a:pt x="68" y="175"/>
                  </a:lnTo>
                  <a:lnTo>
                    <a:pt x="68" y="5"/>
                  </a:lnTo>
                  <a:lnTo>
                    <a:pt x="0" y="5"/>
                  </a:lnTo>
                  <a:lnTo>
                    <a:pt x="0" y="0"/>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sz="1800"/>
            </a:p>
          </p:txBody>
        </p:sp>
        <p:sp>
          <p:nvSpPr>
            <p:cNvPr id="18" name="Freeform 14">
              <a:extLst>
                <a:ext uri="{FF2B5EF4-FFF2-40B4-BE49-F238E27FC236}">
                  <a16:creationId xmlns:a16="http://schemas.microsoft.com/office/drawing/2014/main" id="{F0392651-136F-460B-8757-9712E2A1AE91}"/>
                </a:ext>
              </a:extLst>
            </p:cNvPr>
            <p:cNvSpPr>
              <a:spLocks/>
            </p:cNvSpPr>
            <p:nvPr/>
          </p:nvSpPr>
          <p:spPr bwMode="auto">
            <a:xfrm>
              <a:off x="4183" y="1942"/>
              <a:ext cx="130" cy="179"/>
            </a:xfrm>
            <a:custGeom>
              <a:avLst/>
              <a:gdLst>
                <a:gd name="T0" fmla="*/ 0 w 76"/>
                <a:gd name="T1" fmla="*/ 0 h 104"/>
                <a:gd name="T2" fmla="*/ 4 w 76"/>
                <a:gd name="T3" fmla="*/ 0 h 104"/>
                <a:gd name="T4" fmla="*/ 4 w 76"/>
                <a:gd name="T5" fmla="*/ 62 h 104"/>
                <a:gd name="T6" fmla="*/ 12 w 76"/>
                <a:gd name="T7" fmla="*/ 90 h 104"/>
                <a:gd name="T8" fmla="*/ 38 w 76"/>
                <a:gd name="T9" fmla="*/ 100 h 104"/>
                <a:gd name="T10" fmla="*/ 65 w 76"/>
                <a:gd name="T11" fmla="*/ 90 h 104"/>
                <a:gd name="T12" fmla="*/ 73 w 76"/>
                <a:gd name="T13" fmla="*/ 62 h 104"/>
                <a:gd name="T14" fmla="*/ 73 w 76"/>
                <a:gd name="T15" fmla="*/ 0 h 104"/>
                <a:gd name="T16" fmla="*/ 76 w 76"/>
                <a:gd name="T17" fmla="*/ 0 h 104"/>
                <a:gd name="T18" fmla="*/ 76 w 76"/>
                <a:gd name="T19" fmla="*/ 62 h 104"/>
                <a:gd name="T20" fmla="*/ 68 w 76"/>
                <a:gd name="T21" fmla="*/ 92 h 104"/>
                <a:gd name="T22" fmla="*/ 38 w 76"/>
                <a:gd name="T23" fmla="*/ 104 h 104"/>
                <a:gd name="T24" fmla="*/ 9 w 76"/>
                <a:gd name="T25" fmla="*/ 92 h 104"/>
                <a:gd name="T26" fmla="*/ 0 w 76"/>
                <a:gd name="T27" fmla="*/ 62 h 104"/>
                <a:gd name="T28" fmla="*/ 0 w 76"/>
                <a:gd name="T29"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6" h="104">
                  <a:moveTo>
                    <a:pt x="0" y="0"/>
                  </a:moveTo>
                  <a:cubicBezTo>
                    <a:pt x="4" y="0"/>
                    <a:pt x="4" y="0"/>
                    <a:pt x="4" y="0"/>
                  </a:cubicBezTo>
                  <a:cubicBezTo>
                    <a:pt x="4" y="62"/>
                    <a:pt x="4" y="62"/>
                    <a:pt x="4" y="62"/>
                  </a:cubicBezTo>
                  <a:cubicBezTo>
                    <a:pt x="4" y="74"/>
                    <a:pt x="6" y="83"/>
                    <a:pt x="12" y="90"/>
                  </a:cubicBezTo>
                  <a:cubicBezTo>
                    <a:pt x="17" y="97"/>
                    <a:pt x="26" y="100"/>
                    <a:pt x="38" y="100"/>
                  </a:cubicBezTo>
                  <a:cubicBezTo>
                    <a:pt x="50" y="100"/>
                    <a:pt x="59" y="97"/>
                    <a:pt x="65" y="90"/>
                  </a:cubicBezTo>
                  <a:cubicBezTo>
                    <a:pt x="70" y="83"/>
                    <a:pt x="73" y="74"/>
                    <a:pt x="73" y="62"/>
                  </a:cubicBezTo>
                  <a:cubicBezTo>
                    <a:pt x="73" y="0"/>
                    <a:pt x="73" y="0"/>
                    <a:pt x="73" y="0"/>
                  </a:cubicBezTo>
                  <a:cubicBezTo>
                    <a:pt x="76" y="0"/>
                    <a:pt x="76" y="0"/>
                    <a:pt x="76" y="0"/>
                  </a:cubicBezTo>
                  <a:cubicBezTo>
                    <a:pt x="76" y="62"/>
                    <a:pt x="76" y="62"/>
                    <a:pt x="76" y="62"/>
                  </a:cubicBezTo>
                  <a:cubicBezTo>
                    <a:pt x="76" y="75"/>
                    <a:pt x="73" y="85"/>
                    <a:pt x="68" y="92"/>
                  </a:cubicBezTo>
                  <a:cubicBezTo>
                    <a:pt x="61" y="100"/>
                    <a:pt x="52" y="104"/>
                    <a:pt x="38" y="104"/>
                  </a:cubicBezTo>
                  <a:cubicBezTo>
                    <a:pt x="25" y="104"/>
                    <a:pt x="15" y="100"/>
                    <a:pt x="9" y="92"/>
                  </a:cubicBezTo>
                  <a:cubicBezTo>
                    <a:pt x="3" y="85"/>
                    <a:pt x="0" y="75"/>
                    <a:pt x="0" y="62"/>
                  </a:cubicBezTo>
                  <a:lnTo>
                    <a:pt x="0" y="0"/>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sz="1800"/>
            </a:p>
          </p:txBody>
        </p:sp>
      </p:grpSp>
      <p:cxnSp>
        <p:nvCxnSpPr>
          <p:cNvPr id="19" name="直接连接符 18">
            <a:extLst>
              <a:ext uri="{FF2B5EF4-FFF2-40B4-BE49-F238E27FC236}">
                <a16:creationId xmlns:a16="http://schemas.microsoft.com/office/drawing/2014/main" id="{B796342C-43B6-4877-9B27-1BDD985BE305}"/>
              </a:ext>
            </a:extLst>
          </p:cNvPr>
          <p:cNvCxnSpPr>
            <a:cxnSpLocks/>
            <a:stCxn id="11" idx="36"/>
          </p:cNvCxnSpPr>
          <p:nvPr userDrawn="1"/>
        </p:nvCxnSpPr>
        <p:spPr>
          <a:xfrm flipH="1" flipV="1">
            <a:off x="3" y="751684"/>
            <a:ext cx="10144994" cy="97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 name="灯片编号占位符 5">
            <a:extLst>
              <a:ext uri="{FF2B5EF4-FFF2-40B4-BE49-F238E27FC236}">
                <a16:creationId xmlns:a16="http://schemas.microsoft.com/office/drawing/2014/main" id="{5CA955CB-EC17-48B8-A220-C747B5928C86}"/>
              </a:ext>
            </a:extLst>
          </p:cNvPr>
          <p:cNvSpPr>
            <a:spLocks noGrp="1"/>
          </p:cNvSpPr>
          <p:nvPr>
            <p:ph type="sldNum" sz="quarter" idx="4"/>
          </p:nvPr>
        </p:nvSpPr>
        <p:spPr>
          <a:xfrm>
            <a:off x="9375147" y="6578600"/>
            <a:ext cx="2743200" cy="279400"/>
          </a:xfrm>
          <a:prstGeom prst="rect">
            <a:avLst/>
          </a:prstGeom>
        </p:spPr>
        <p:txBody>
          <a:bodyPr vert="horz" lIns="91440" tIns="45720" rIns="91440" bIns="45720" rtlCol="0" anchor="ctr"/>
          <a:lstStyle>
            <a:lvl1pPr algn="r">
              <a:defRPr sz="1800" b="1">
                <a:solidFill>
                  <a:schemeClr val="bg1"/>
                </a:solidFill>
              </a:defRPr>
            </a:lvl1pPr>
          </a:lstStyle>
          <a:p>
            <a:fld id="{3ACD1EC8-6F57-41A7-99F1-FEDB2874BA2B}" type="slidenum">
              <a:rPr lang="zh-CN" altLang="en-US" smtClean="0"/>
              <a:pPr/>
              <a:t>‹#›</a:t>
            </a:fld>
            <a:endParaRPr lang="zh-CN" altLang="en-US"/>
          </a:p>
        </p:txBody>
      </p:sp>
    </p:spTree>
    <p:extLst>
      <p:ext uri="{BB962C8B-B14F-4D97-AF65-F5344CB8AC3E}">
        <p14:creationId xmlns:p14="http://schemas.microsoft.com/office/powerpoint/2010/main" val="8969043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4" userDrawn="1">
          <p15:clr>
            <a:srgbClr val="F26B43"/>
          </p15:clr>
        </p15:guide>
        <p15:guide id="2" pos="7368" userDrawn="1">
          <p15:clr>
            <a:srgbClr val="F26B43"/>
          </p15:clr>
        </p15:guide>
        <p15:guide id="3" orient="horz" pos="472" userDrawn="1">
          <p15:clr>
            <a:srgbClr val="F26B43"/>
          </p15:clr>
        </p15:guide>
        <p15:guide id="4" orient="horz" pos="41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image" Target="../media/image5.png"/><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4.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3.png"/><Relationship Id="rId5" Type="http://schemas.openxmlformats.org/officeDocument/2006/relationships/tags" Target="../tags/tag6.xml"/><Relationship Id="rId10" Type="http://schemas.openxmlformats.org/officeDocument/2006/relationships/notesSlide" Target="../notesSlides/notesSlide2.xml"/><Relationship Id="rId4" Type="http://schemas.openxmlformats.org/officeDocument/2006/relationships/tags" Target="../tags/tag5.xml"/><Relationship Id="rId9" Type="http://schemas.openxmlformats.org/officeDocument/2006/relationships/slideLayout" Target="../slideLayouts/slideLayout4.xml"/><Relationship Id="rId1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jpg"/><Relationship Id="rId11" Type="http://schemas.openxmlformats.org/officeDocument/2006/relationships/image" Target="../media/image15.emf"/><Relationship Id="rId5" Type="http://schemas.openxmlformats.org/officeDocument/2006/relationships/image" Target="../media/image9.jpeg"/><Relationship Id="rId10" Type="http://schemas.openxmlformats.org/officeDocument/2006/relationships/image" Target="../media/image14.jpg"/><Relationship Id="rId4" Type="http://schemas.openxmlformats.org/officeDocument/2006/relationships/image" Target="../media/image8.jpeg"/><Relationship Id="rId9" Type="http://schemas.openxmlformats.org/officeDocument/2006/relationships/image" Target="../media/image13.jp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8.jp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tags" Target="../tags/tag12.xml"/><Relationship Id="rId7" Type="http://schemas.openxmlformats.org/officeDocument/2006/relationships/image" Target="../media/image20.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9.png"/><Relationship Id="rId5" Type="http://schemas.openxmlformats.org/officeDocument/2006/relationships/slideLayout" Target="../slideLayouts/slideLayout4.xml"/><Relationship Id="rId10" Type="http://schemas.openxmlformats.org/officeDocument/2006/relationships/image" Target="../media/image23.png"/><Relationship Id="rId4" Type="http://schemas.openxmlformats.org/officeDocument/2006/relationships/tags" Target="../tags/tag13.xml"/><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s>
</file>

<file path=ppt/slides/_rels/slide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50.png"/><Relationship Id="rId5" Type="http://schemas.openxmlformats.org/officeDocument/2006/relationships/image" Target="../media/image340.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image" Target="../media/image3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图片包含 建筑物&#10;&#10;自动生成的说明">
            <a:extLst>
              <a:ext uri="{FF2B5EF4-FFF2-40B4-BE49-F238E27FC236}">
                <a16:creationId xmlns:a16="http://schemas.microsoft.com/office/drawing/2014/main" id="{7C203E5F-10CC-4C39-9C3B-08322486F55C}"/>
              </a:ext>
            </a:extLst>
          </p:cNvPr>
          <p:cNvPicPr>
            <a:picLocks noChangeAspect="1"/>
          </p:cNvPicPr>
          <p:nvPr/>
        </p:nvPicPr>
        <p:blipFill rotWithShape="1">
          <a:blip r:embed="rId3" cstate="print">
            <a:alphaModFix amt="20000"/>
            <a:grayscl/>
            <a:extLst>
              <a:ext uri="{BEBA8EAE-BF5A-486C-A8C5-ECC9F3942E4B}">
                <a14:imgProps xmlns:a14="http://schemas.microsoft.com/office/drawing/2010/main">
                  <a14:imgLayer r:embed="rId4">
                    <a14:imgEffect>
                      <a14:brightnessContrast bright="80000"/>
                    </a14:imgEffect>
                  </a14:imgLayer>
                </a14:imgProps>
              </a:ext>
              <a:ext uri="{28A0092B-C50C-407E-A947-70E740481C1C}">
                <a14:useLocalDpi xmlns:a14="http://schemas.microsoft.com/office/drawing/2010/main" val="0"/>
              </a:ext>
            </a:extLst>
          </a:blip>
          <a:srcRect b="21958"/>
          <a:stretch/>
        </p:blipFill>
        <p:spPr>
          <a:xfrm>
            <a:off x="0" y="3260891"/>
            <a:ext cx="12282150" cy="4114800"/>
          </a:xfrm>
          <a:prstGeom prst="rect">
            <a:avLst/>
          </a:prstGeom>
        </p:spPr>
      </p:pic>
      <p:sp>
        <p:nvSpPr>
          <p:cNvPr id="6" name="矩形 5">
            <a:extLst>
              <a:ext uri="{FF2B5EF4-FFF2-40B4-BE49-F238E27FC236}">
                <a16:creationId xmlns:a16="http://schemas.microsoft.com/office/drawing/2014/main" id="{0F5F7A16-4E2B-4F11-A46F-2F0ADA0A8C50}"/>
              </a:ext>
            </a:extLst>
          </p:cNvPr>
          <p:cNvSpPr/>
          <p:nvPr/>
        </p:nvSpPr>
        <p:spPr>
          <a:xfrm>
            <a:off x="0" y="6296878"/>
            <a:ext cx="12191999" cy="56112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a:extLst>
              <a:ext uri="{FF2B5EF4-FFF2-40B4-BE49-F238E27FC236}">
                <a16:creationId xmlns:a16="http://schemas.microsoft.com/office/drawing/2014/main" id="{BD98B8C6-F215-45FF-AAC2-618BECF6E5E9}"/>
              </a:ext>
            </a:extLst>
          </p:cNvPr>
          <p:cNvSpPr/>
          <p:nvPr/>
        </p:nvSpPr>
        <p:spPr>
          <a:xfrm>
            <a:off x="0" y="730375"/>
            <a:ext cx="12192002" cy="24015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dirty="0">
              <a:latin typeface="微软雅黑" panose="020B0503020204020204" pitchFamily="34" charset="-122"/>
              <a:ea typeface="微软雅黑" panose="020B0503020204020204" pitchFamily="34" charset="-122"/>
            </a:endParaRPr>
          </a:p>
        </p:txBody>
      </p:sp>
      <p:grpSp>
        <p:nvGrpSpPr>
          <p:cNvPr id="7" name="Group 4">
            <a:extLst>
              <a:ext uri="{FF2B5EF4-FFF2-40B4-BE49-F238E27FC236}">
                <a16:creationId xmlns:a16="http://schemas.microsoft.com/office/drawing/2014/main" id="{4314C7FB-2670-4060-B623-A52586BEB42F}"/>
              </a:ext>
            </a:extLst>
          </p:cNvPr>
          <p:cNvGrpSpPr>
            <a:grpSpLocks noChangeAspect="1"/>
          </p:cNvGrpSpPr>
          <p:nvPr/>
        </p:nvGrpSpPr>
        <p:grpSpPr bwMode="auto">
          <a:xfrm>
            <a:off x="9345597" y="223705"/>
            <a:ext cx="2846403" cy="450233"/>
            <a:chOff x="768" y="1292"/>
            <a:chExt cx="5241" cy="829"/>
          </a:xfrm>
          <a:solidFill>
            <a:schemeClr val="accent1"/>
          </a:solidFill>
        </p:grpSpPr>
        <p:sp>
          <p:nvSpPr>
            <p:cNvPr id="8" name="Freeform 5">
              <a:extLst>
                <a:ext uri="{FF2B5EF4-FFF2-40B4-BE49-F238E27FC236}">
                  <a16:creationId xmlns:a16="http://schemas.microsoft.com/office/drawing/2014/main" id="{28988226-D010-41FE-980E-62BDF13DB461}"/>
                </a:ext>
              </a:extLst>
            </p:cNvPr>
            <p:cNvSpPr>
              <a:spLocks/>
            </p:cNvSpPr>
            <p:nvPr/>
          </p:nvSpPr>
          <p:spPr bwMode="auto">
            <a:xfrm>
              <a:off x="4267" y="1292"/>
              <a:ext cx="1742" cy="829"/>
            </a:xfrm>
            <a:custGeom>
              <a:avLst/>
              <a:gdLst>
                <a:gd name="T0" fmla="*/ 1742 w 1742"/>
                <a:gd name="T1" fmla="*/ 829 h 829"/>
                <a:gd name="T2" fmla="*/ 851 w 1742"/>
                <a:gd name="T3" fmla="*/ 829 h 829"/>
                <a:gd name="T4" fmla="*/ 851 w 1742"/>
                <a:gd name="T5" fmla="*/ 9 h 829"/>
                <a:gd name="T6" fmla="*/ 751 w 1742"/>
                <a:gd name="T7" fmla="*/ 9 h 829"/>
                <a:gd name="T8" fmla="*/ 751 w 1742"/>
                <a:gd name="T9" fmla="*/ 24 h 829"/>
                <a:gd name="T10" fmla="*/ 724 w 1742"/>
                <a:gd name="T11" fmla="*/ 24 h 829"/>
                <a:gd name="T12" fmla="*/ 724 w 1742"/>
                <a:gd name="T13" fmla="*/ 9 h 829"/>
                <a:gd name="T14" fmla="*/ 258 w 1742"/>
                <a:gd name="T15" fmla="*/ 9 h 829"/>
                <a:gd name="T16" fmla="*/ 258 w 1742"/>
                <a:gd name="T17" fmla="*/ 24 h 829"/>
                <a:gd name="T18" fmla="*/ 231 w 1742"/>
                <a:gd name="T19" fmla="*/ 24 h 829"/>
                <a:gd name="T20" fmla="*/ 231 w 1742"/>
                <a:gd name="T21" fmla="*/ 9 h 829"/>
                <a:gd name="T22" fmla="*/ 132 w 1742"/>
                <a:gd name="T23" fmla="*/ 9 h 829"/>
                <a:gd name="T24" fmla="*/ 132 w 1742"/>
                <a:gd name="T25" fmla="*/ 829 h 829"/>
                <a:gd name="T26" fmla="*/ 0 w 1742"/>
                <a:gd name="T27" fmla="*/ 829 h 829"/>
                <a:gd name="T28" fmla="*/ 0 w 1742"/>
                <a:gd name="T29" fmla="*/ 820 h 829"/>
                <a:gd name="T30" fmla="*/ 123 w 1742"/>
                <a:gd name="T31" fmla="*/ 820 h 829"/>
                <a:gd name="T32" fmla="*/ 123 w 1742"/>
                <a:gd name="T33" fmla="*/ 0 h 829"/>
                <a:gd name="T34" fmla="*/ 239 w 1742"/>
                <a:gd name="T35" fmla="*/ 0 h 829"/>
                <a:gd name="T36" fmla="*/ 239 w 1742"/>
                <a:gd name="T37" fmla="*/ 14 h 829"/>
                <a:gd name="T38" fmla="*/ 250 w 1742"/>
                <a:gd name="T39" fmla="*/ 14 h 829"/>
                <a:gd name="T40" fmla="*/ 250 w 1742"/>
                <a:gd name="T41" fmla="*/ 0 h 829"/>
                <a:gd name="T42" fmla="*/ 732 w 1742"/>
                <a:gd name="T43" fmla="*/ 0 h 829"/>
                <a:gd name="T44" fmla="*/ 732 w 1742"/>
                <a:gd name="T45" fmla="*/ 14 h 829"/>
                <a:gd name="T46" fmla="*/ 743 w 1742"/>
                <a:gd name="T47" fmla="*/ 14 h 829"/>
                <a:gd name="T48" fmla="*/ 743 w 1742"/>
                <a:gd name="T49" fmla="*/ 0 h 829"/>
                <a:gd name="T50" fmla="*/ 861 w 1742"/>
                <a:gd name="T51" fmla="*/ 0 h 829"/>
                <a:gd name="T52" fmla="*/ 861 w 1742"/>
                <a:gd name="T53" fmla="*/ 820 h 829"/>
                <a:gd name="T54" fmla="*/ 1742 w 1742"/>
                <a:gd name="T55" fmla="*/ 820 h 829"/>
                <a:gd name="T56" fmla="*/ 1742 w 1742"/>
                <a:gd name="T57" fmla="*/ 829 h 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42" h="829">
                  <a:moveTo>
                    <a:pt x="1742" y="829"/>
                  </a:moveTo>
                  <a:lnTo>
                    <a:pt x="851" y="829"/>
                  </a:lnTo>
                  <a:lnTo>
                    <a:pt x="851" y="9"/>
                  </a:lnTo>
                  <a:lnTo>
                    <a:pt x="751" y="9"/>
                  </a:lnTo>
                  <a:lnTo>
                    <a:pt x="751" y="24"/>
                  </a:lnTo>
                  <a:lnTo>
                    <a:pt x="724" y="24"/>
                  </a:lnTo>
                  <a:lnTo>
                    <a:pt x="724" y="9"/>
                  </a:lnTo>
                  <a:lnTo>
                    <a:pt x="258" y="9"/>
                  </a:lnTo>
                  <a:lnTo>
                    <a:pt x="258" y="24"/>
                  </a:lnTo>
                  <a:lnTo>
                    <a:pt x="231" y="24"/>
                  </a:lnTo>
                  <a:lnTo>
                    <a:pt x="231" y="9"/>
                  </a:lnTo>
                  <a:lnTo>
                    <a:pt x="132" y="9"/>
                  </a:lnTo>
                  <a:lnTo>
                    <a:pt x="132" y="829"/>
                  </a:lnTo>
                  <a:lnTo>
                    <a:pt x="0" y="829"/>
                  </a:lnTo>
                  <a:lnTo>
                    <a:pt x="0" y="820"/>
                  </a:lnTo>
                  <a:lnTo>
                    <a:pt x="123" y="820"/>
                  </a:lnTo>
                  <a:lnTo>
                    <a:pt x="123" y="0"/>
                  </a:lnTo>
                  <a:lnTo>
                    <a:pt x="239" y="0"/>
                  </a:lnTo>
                  <a:lnTo>
                    <a:pt x="239" y="14"/>
                  </a:lnTo>
                  <a:lnTo>
                    <a:pt x="250" y="14"/>
                  </a:lnTo>
                  <a:lnTo>
                    <a:pt x="250" y="0"/>
                  </a:lnTo>
                  <a:lnTo>
                    <a:pt x="732" y="0"/>
                  </a:lnTo>
                  <a:lnTo>
                    <a:pt x="732" y="14"/>
                  </a:lnTo>
                  <a:lnTo>
                    <a:pt x="743" y="14"/>
                  </a:lnTo>
                  <a:lnTo>
                    <a:pt x="743" y="0"/>
                  </a:lnTo>
                  <a:lnTo>
                    <a:pt x="861" y="0"/>
                  </a:lnTo>
                  <a:lnTo>
                    <a:pt x="861" y="820"/>
                  </a:lnTo>
                  <a:lnTo>
                    <a:pt x="1742" y="820"/>
                  </a:lnTo>
                  <a:lnTo>
                    <a:pt x="1742" y="829"/>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 name="Freeform 6">
              <a:extLst>
                <a:ext uri="{FF2B5EF4-FFF2-40B4-BE49-F238E27FC236}">
                  <a16:creationId xmlns:a16="http://schemas.microsoft.com/office/drawing/2014/main" id="{C09FBEAC-F7D9-4313-B1E3-E394B0EFDFE7}"/>
                </a:ext>
              </a:extLst>
            </p:cNvPr>
            <p:cNvSpPr>
              <a:spLocks/>
            </p:cNvSpPr>
            <p:nvPr/>
          </p:nvSpPr>
          <p:spPr bwMode="auto">
            <a:xfrm>
              <a:off x="4517" y="1471"/>
              <a:ext cx="482" cy="646"/>
            </a:xfrm>
            <a:custGeom>
              <a:avLst/>
              <a:gdLst>
                <a:gd name="T0" fmla="*/ 482 w 482"/>
                <a:gd name="T1" fmla="*/ 646 h 646"/>
                <a:gd name="T2" fmla="*/ 474 w 482"/>
                <a:gd name="T3" fmla="*/ 646 h 646"/>
                <a:gd name="T4" fmla="*/ 474 w 482"/>
                <a:gd name="T5" fmla="*/ 112 h 646"/>
                <a:gd name="T6" fmla="*/ 433 w 482"/>
                <a:gd name="T7" fmla="*/ 112 h 646"/>
                <a:gd name="T8" fmla="*/ 433 w 482"/>
                <a:gd name="T9" fmla="*/ 79 h 646"/>
                <a:gd name="T10" fmla="*/ 364 w 482"/>
                <a:gd name="T11" fmla="*/ 38 h 646"/>
                <a:gd name="T12" fmla="*/ 320 w 482"/>
                <a:gd name="T13" fmla="*/ 38 h 646"/>
                <a:gd name="T14" fmla="*/ 320 w 482"/>
                <a:gd name="T15" fmla="*/ 9 h 646"/>
                <a:gd name="T16" fmla="*/ 164 w 482"/>
                <a:gd name="T17" fmla="*/ 9 h 646"/>
                <a:gd name="T18" fmla="*/ 164 w 482"/>
                <a:gd name="T19" fmla="*/ 38 h 646"/>
                <a:gd name="T20" fmla="*/ 120 w 482"/>
                <a:gd name="T21" fmla="*/ 38 h 646"/>
                <a:gd name="T22" fmla="*/ 49 w 482"/>
                <a:gd name="T23" fmla="*/ 79 h 646"/>
                <a:gd name="T24" fmla="*/ 49 w 482"/>
                <a:gd name="T25" fmla="*/ 112 h 646"/>
                <a:gd name="T26" fmla="*/ 8 w 482"/>
                <a:gd name="T27" fmla="*/ 112 h 646"/>
                <a:gd name="T28" fmla="*/ 8 w 482"/>
                <a:gd name="T29" fmla="*/ 646 h 646"/>
                <a:gd name="T30" fmla="*/ 0 w 482"/>
                <a:gd name="T31" fmla="*/ 646 h 646"/>
                <a:gd name="T32" fmla="*/ 0 w 482"/>
                <a:gd name="T33" fmla="*/ 102 h 646"/>
                <a:gd name="T34" fmla="*/ 41 w 482"/>
                <a:gd name="T35" fmla="*/ 102 h 646"/>
                <a:gd name="T36" fmla="*/ 41 w 482"/>
                <a:gd name="T37" fmla="*/ 74 h 646"/>
                <a:gd name="T38" fmla="*/ 116 w 482"/>
                <a:gd name="T39" fmla="*/ 29 h 646"/>
                <a:gd name="T40" fmla="*/ 154 w 482"/>
                <a:gd name="T41" fmla="*/ 29 h 646"/>
                <a:gd name="T42" fmla="*/ 154 w 482"/>
                <a:gd name="T43" fmla="*/ 0 h 646"/>
                <a:gd name="T44" fmla="*/ 328 w 482"/>
                <a:gd name="T45" fmla="*/ 0 h 646"/>
                <a:gd name="T46" fmla="*/ 328 w 482"/>
                <a:gd name="T47" fmla="*/ 29 h 646"/>
                <a:gd name="T48" fmla="*/ 366 w 482"/>
                <a:gd name="T49" fmla="*/ 29 h 646"/>
                <a:gd name="T50" fmla="*/ 441 w 482"/>
                <a:gd name="T51" fmla="*/ 74 h 646"/>
                <a:gd name="T52" fmla="*/ 441 w 482"/>
                <a:gd name="T53" fmla="*/ 102 h 646"/>
                <a:gd name="T54" fmla="*/ 482 w 482"/>
                <a:gd name="T55" fmla="*/ 102 h 646"/>
                <a:gd name="T56" fmla="*/ 482 w 482"/>
                <a:gd name="T57" fmla="*/ 646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2" h="646">
                  <a:moveTo>
                    <a:pt x="482" y="646"/>
                  </a:moveTo>
                  <a:lnTo>
                    <a:pt x="474" y="646"/>
                  </a:lnTo>
                  <a:lnTo>
                    <a:pt x="474" y="112"/>
                  </a:lnTo>
                  <a:lnTo>
                    <a:pt x="433" y="112"/>
                  </a:lnTo>
                  <a:lnTo>
                    <a:pt x="433" y="79"/>
                  </a:lnTo>
                  <a:lnTo>
                    <a:pt x="364" y="38"/>
                  </a:lnTo>
                  <a:lnTo>
                    <a:pt x="320" y="38"/>
                  </a:lnTo>
                  <a:lnTo>
                    <a:pt x="320" y="9"/>
                  </a:lnTo>
                  <a:lnTo>
                    <a:pt x="164" y="9"/>
                  </a:lnTo>
                  <a:lnTo>
                    <a:pt x="164" y="38"/>
                  </a:lnTo>
                  <a:lnTo>
                    <a:pt x="120" y="38"/>
                  </a:lnTo>
                  <a:lnTo>
                    <a:pt x="49" y="79"/>
                  </a:lnTo>
                  <a:lnTo>
                    <a:pt x="49" y="112"/>
                  </a:lnTo>
                  <a:lnTo>
                    <a:pt x="8" y="112"/>
                  </a:lnTo>
                  <a:lnTo>
                    <a:pt x="8" y="646"/>
                  </a:lnTo>
                  <a:lnTo>
                    <a:pt x="0" y="646"/>
                  </a:lnTo>
                  <a:lnTo>
                    <a:pt x="0" y="102"/>
                  </a:lnTo>
                  <a:lnTo>
                    <a:pt x="41" y="102"/>
                  </a:lnTo>
                  <a:lnTo>
                    <a:pt x="41" y="74"/>
                  </a:lnTo>
                  <a:lnTo>
                    <a:pt x="116" y="29"/>
                  </a:lnTo>
                  <a:lnTo>
                    <a:pt x="154" y="29"/>
                  </a:lnTo>
                  <a:lnTo>
                    <a:pt x="154" y="0"/>
                  </a:lnTo>
                  <a:lnTo>
                    <a:pt x="328" y="0"/>
                  </a:lnTo>
                  <a:lnTo>
                    <a:pt x="328" y="29"/>
                  </a:lnTo>
                  <a:lnTo>
                    <a:pt x="366" y="29"/>
                  </a:lnTo>
                  <a:lnTo>
                    <a:pt x="441" y="74"/>
                  </a:lnTo>
                  <a:lnTo>
                    <a:pt x="441" y="102"/>
                  </a:lnTo>
                  <a:lnTo>
                    <a:pt x="482" y="102"/>
                  </a:lnTo>
                  <a:lnTo>
                    <a:pt x="482" y="646"/>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7">
              <a:extLst>
                <a:ext uri="{FF2B5EF4-FFF2-40B4-BE49-F238E27FC236}">
                  <a16:creationId xmlns:a16="http://schemas.microsoft.com/office/drawing/2014/main" id="{A8649ADC-3B6E-4715-998C-4ED7DC8E845F}"/>
                </a:ext>
              </a:extLst>
            </p:cNvPr>
            <p:cNvSpPr>
              <a:spLocks noEditPoints="1"/>
            </p:cNvSpPr>
            <p:nvPr/>
          </p:nvSpPr>
          <p:spPr bwMode="auto">
            <a:xfrm>
              <a:off x="768" y="1614"/>
              <a:ext cx="2016" cy="507"/>
            </a:xfrm>
            <a:custGeom>
              <a:avLst/>
              <a:gdLst>
                <a:gd name="T0" fmla="*/ 1125 w 1178"/>
                <a:gd name="T1" fmla="*/ 294 h 294"/>
                <a:gd name="T2" fmla="*/ 1072 w 1178"/>
                <a:gd name="T3" fmla="*/ 231 h 294"/>
                <a:gd name="T4" fmla="*/ 959 w 1178"/>
                <a:gd name="T5" fmla="*/ 111 h 294"/>
                <a:gd name="T6" fmla="*/ 710 w 1178"/>
                <a:gd name="T7" fmla="*/ 53 h 294"/>
                <a:gd name="T8" fmla="*/ 647 w 1178"/>
                <a:gd name="T9" fmla="*/ 53 h 294"/>
                <a:gd name="T10" fmla="*/ 397 w 1178"/>
                <a:gd name="T11" fmla="*/ 111 h 294"/>
                <a:gd name="T12" fmla="*/ 284 w 1178"/>
                <a:gd name="T13" fmla="*/ 231 h 294"/>
                <a:gd name="T14" fmla="*/ 232 w 1178"/>
                <a:gd name="T15" fmla="*/ 294 h 294"/>
                <a:gd name="T16" fmla="*/ 0 w 1178"/>
                <a:gd name="T17" fmla="*/ 289 h 294"/>
                <a:gd name="T18" fmla="*/ 280 w 1178"/>
                <a:gd name="T19" fmla="*/ 227 h 294"/>
                <a:gd name="T20" fmla="*/ 394 w 1178"/>
                <a:gd name="T21" fmla="*/ 107 h 294"/>
                <a:gd name="T22" fmla="*/ 652 w 1178"/>
                <a:gd name="T23" fmla="*/ 51 h 294"/>
                <a:gd name="T24" fmla="*/ 705 w 1178"/>
                <a:gd name="T25" fmla="*/ 51 h 294"/>
                <a:gd name="T26" fmla="*/ 963 w 1178"/>
                <a:gd name="T27" fmla="*/ 107 h 294"/>
                <a:gd name="T28" fmla="*/ 1076 w 1178"/>
                <a:gd name="T29" fmla="*/ 227 h 294"/>
                <a:gd name="T30" fmla="*/ 1178 w 1178"/>
                <a:gd name="T31" fmla="*/ 289 h 294"/>
                <a:gd name="T32" fmla="*/ 1079 w 1178"/>
                <a:gd name="T33" fmla="*/ 294 h 294"/>
                <a:gd name="T34" fmla="*/ 1077 w 1178"/>
                <a:gd name="T35" fmla="*/ 293 h 294"/>
                <a:gd name="T36" fmla="*/ 1014 w 1178"/>
                <a:gd name="T37" fmla="*/ 214 h 294"/>
                <a:gd name="T38" fmla="*/ 838 w 1178"/>
                <a:gd name="T39" fmla="*/ 54 h 294"/>
                <a:gd name="T40" fmla="*/ 715 w 1178"/>
                <a:gd name="T41" fmla="*/ 94 h 294"/>
                <a:gd name="T42" fmla="*/ 690 w 1178"/>
                <a:gd name="T43" fmla="*/ 292 h 294"/>
                <a:gd name="T44" fmla="*/ 685 w 1178"/>
                <a:gd name="T45" fmla="*/ 283 h 294"/>
                <a:gd name="T46" fmla="*/ 760 w 1178"/>
                <a:gd name="T47" fmla="*/ 34 h 294"/>
                <a:gd name="T48" fmla="*/ 1000 w 1178"/>
                <a:gd name="T49" fmla="*/ 190 h 294"/>
                <a:gd name="T50" fmla="*/ 1057 w 1178"/>
                <a:gd name="T51" fmla="*/ 257 h 294"/>
                <a:gd name="T52" fmla="*/ 1081 w 1178"/>
                <a:gd name="T53" fmla="*/ 294 h 294"/>
                <a:gd name="T54" fmla="*/ 277 w 1178"/>
                <a:gd name="T55" fmla="*/ 294 h 294"/>
                <a:gd name="T56" fmla="*/ 300 w 1178"/>
                <a:gd name="T57" fmla="*/ 257 h 294"/>
                <a:gd name="T58" fmla="*/ 356 w 1178"/>
                <a:gd name="T59" fmla="*/ 190 h 294"/>
                <a:gd name="T60" fmla="*/ 597 w 1178"/>
                <a:gd name="T61" fmla="*/ 34 h 294"/>
                <a:gd name="T62" fmla="*/ 672 w 1178"/>
                <a:gd name="T63" fmla="*/ 283 h 294"/>
                <a:gd name="T64" fmla="*/ 666 w 1178"/>
                <a:gd name="T65" fmla="*/ 292 h 294"/>
                <a:gd name="T66" fmla="*/ 641 w 1178"/>
                <a:gd name="T67" fmla="*/ 94 h 294"/>
                <a:gd name="T68" fmla="*/ 519 w 1178"/>
                <a:gd name="T69" fmla="*/ 54 h 294"/>
                <a:gd name="T70" fmla="*/ 342 w 1178"/>
                <a:gd name="T71" fmla="*/ 214 h 294"/>
                <a:gd name="T72" fmla="*/ 280 w 1178"/>
                <a:gd name="T73" fmla="*/ 293 h 294"/>
                <a:gd name="T74" fmla="*/ 277 w 1178"/>
                <a:gd name="T75" fmla="*/ 292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78" h="294">
                  <a:moveTo>
                    <a:pt x="1178" y="294"/>
                  </a:moveTo>
                  <a:cubicBezTo>
                    <a:pt x="1125" y="294"/>
                    <a:pt x="1125" y="294"/>
                    <a:pt x="1125" y="294"/>
                  </a:cubicBezTo>
                  <a:cubicBezTo>
                    <a:pt x="1124" y="293"/>
                    <a:pt x="1124" y="293"/>
                    <a:pt x="1124" y="293"/>
                  </a:cubicBezTo>
                  <a:cubicBezTo>
                    <a:pt x="1124" y="293"/>
                    <a:pt x="1082" y="242"/>
                    <a:pt x="1072" y="231"/>
                  </a:cubicBezTo>
                  <a:cubicBezTo>
                    <a:pt x="1068" y="226"/>
                    <a:pt x="1068" y="226"/>
                    <a:pt x="1068" y="226"/>
                  </a:cubicBezTo>
                  <a:cubicBezTo>
                    <a:pt x="1034" y="186"/>
                    <a:pt x="1000" y="145"/>
                    <a:pt x="959" y="111"/>
                  </a:cubicBezTo>
                  <a:cubicBezTo>
                    <a:pt x="918" y="76"/>
                    <a:pt x="877" y="43"/>
                    <a:pt x="833" y="28"/>
                  </a:cubicBezTo>
                  <a:cubicBezTo>
                    <a:pt x="769" y="6"/>
                    <a:pt x="728" y="14"/>
                    <a:pt x="710" y="53"/>
                  </a:cubicBezTo>
                  <a:cubicBezTo>
                    <a:pt x="705" y="63"/>
                    <a:pt x="683" y="64"/>
                    <a:pt x="678" y="64"/>
                  </a:cubicBezTo>
                  <a:cubicBezTo>
                    <a:pt x="674" y="64"/>
                    <a:pt x="652" y="63"/>
                    <a:pt x="647" y="53"/>
                  </a:cubicBezTo>
                  <a:cubicBezTo>
                    <a:pt x="629" y="14"/>
                    <a:pt x="587" y="6"/>
                    <a:pt x="524" y="28"/>
                  </a:cubicBezTo>
                  <a:cubicBezTo>
                    <a:pt x="479" y="43"/>
                    <a:pt x="439" y="76"/>
                    <a:pt x="397" y="111"/>
                  </a:cubicBezTo>
                  <a:cubicBezTo>
                    <a:pt x="357" y="145"/>
                    <a:pt x="322" y="186"/>
                    <a:pt x="289" y="226"/>
                  </a:cubicBezTo>
                  <a:cubicBezTo>
                    <a:pt x="284" y="231"/>
                    <a:pt x="284" y="231"/>
                    <a:pt x="284" y="231"/>
                  </a:cubicBezTo>
                  <a:cubicBezTo>
                    <a:pt x="275" y="242"/>
                    <a:pt x="233" y="293"/>
                    <a:pt x="232" y="293"/>
                  </a:cubicBezTo>
                  <a:cubicBezTo>
                    <a:pt x="232" y="294"/>
                    <a:pt x="232" y="294"/>
                    <a:pt x="232" y="294"/>
                  </a:cubicBezTo>
                  <a:cubicBezTo>
                    <a:pt x="0" y="294"/>
                    <a:pt x="0" y="294"/>
                    <a:pt x="0" y="294"/>
                  </a:cubicBezTo>
                  <a:cubicBezTo>
                    <a:pt x="0" y="289"/>
                    <a:pt x="0" y="289"/>
                    <a:pt x="0" y="289"/>
                  </a:cubicBezTo>
                  <a:cubicBezTo>
                    <a:pt x="229" y="289"/>
                    <a:pt x="229" y="289"/>
                    <a:pt x="229" y="289"/>
                  </a:cubicBezTo>
                  <a:cubicBezTo>
                    <a:pt x="235" y="282"/>
                    <a:pt x="271" y="238"/>
                    <a:pt x="280" y="227"/>
                  </a:cubicBezTo>
                  <a:cubicBezTo>
                    <a:pt x="285" y="222"/>
                    <a:pt x="285" y="222"/>
                    <a:pt x="285" y="222"/>
                  </a:cubicBezTo>
                  <a:cubicBezTo>
                    <a:pt x="318" y="183"/>
                    <a:pt x="353" y="141"/>
                    <a:pt x="394" y="107"/>
                  </a:cubicBezTo>
                  <a:cubicBezTo>
                    <a:pt x="436" y="72"/>
                    <a:pt x="477" y="39"/>
                    <a:pt x="522" y="23"/>
                  </a:cubicBezTo>
                  <a:cubicBezTo>
                    <a:pt x="589" y="0"/>
                    <a:pt x="632" y="9"/>
                    <a:pt x="652" y="51"/>
                  </a:cubicBezTo>
                  <a:cubicBezTo>
                    <a:pt x="654" y="56"/>
                    <a:pt x="667" y="58"/>
                    <a:pt x="678" y="58"/>
                  </a:cubicBezTo>
                  <a:cubicBezTo>
                    <a:pt x="690" y="58"/>
                    <a:pt x="703" y="56"/>
                    <a:pt x="705" y="51"/>
                  </a:cubicBezTo>
                  <a:cubicBezTo>
                    <a:pt x="724" y="9"/>
                    <a:pt x="768" y="0"/>
                    <a:pt x="834" y="23"/>
                  </a:cubicBezTo>
                  <a:cubicBezTo>
                    <a:pt x="880" y="39"/>
                    <a:pt x="921" y="72"/>
                    <a:pt x="963" y="107"/>
                  </a:cubicBezTo>
                  <a:cubicBezTo>
                    <a:pt x="1003" y="141"/>
                    <a:pt x="1038" y="183"/>
                    <a:pt x="1072" y="222"/>
                  </a:cubicBezTo>
                  <a:cubicBezTo>
                    <a:pt x="1076" y="227"/>
                    <a:pt x="1076" y="227"/>
                    <a:pt x="1076" y="227"/>
                  </a:cubicBezTo>
                  <a:cubicBezTo>
                    <a:pt x="1085" y="238"/>
                    <a:pt x="1122" y="282"/>
                    <a:pt x="1128" y="289"/>
                  </a:cubicBezTo>
                  <a:cubicBezTo>
                    <a:pt x="1178" y="289"/>
                    <a:pt x="1178" y="289"/>
                    <a:pt x="1178" y="289"/>
                  </a:cubicBezTo>
                  <a:lnTo>
                    <a:pt x="1178" y="294"/>
                  </a:lnTo>
                  <a:close/>
                  <a:moveTo>
                    <a:pt x="1079" y="294"/>
                  </a:moveTo>
                  <a:cubicBezTo>
                    <a:pt x="1079" y="292"/>
                    <a:pt x="1079" y="292"/>
                    <a:pt x="1079" y="292"/>
                  </a:cubicBezTo>
                  <a:cubicBezTo>
                    <a:pt x="1077" y="293"/>
                    <a:pt x="1077" y="293"/>
                    <a:pt x="1077" y="293"/>
                  </a:cubicBezTo>
                  <a:cubicBezTo>
                    <a:pt x="1076" y="290"/>
                    <a:pt x="1055" y="263"/>
                    <a:pt x="1053" y="260"/>
                  </a:cubicBezTo>
                  <a:cubicBezTo>
                    <a:pt x="1039" y="243"/>
                    <a:pt x="1026" y="228"/>
                    <a:pt x="1014" y="214"/>
                  </a:cubicBezTo>
                  <a:cubicBezTo>
                    <a:pt x="1008" y="208"/>
                    <a:pt x="1002" y="201"/>
                    <a:pt x="996" y="194"/>
                  </a:cubicBezTo>
                  <a:cubicBezTo>
                    <a:pt x="950" y="140"/>
                    <a:pt x="902" y="84"/>
                    <a:pt x="838" y="54"/>
                  </a:cubicBezTo>
                  <a:cubicBezTo>
                    <a:pt x="814" y="44"/>
                    <a:pt x="786" y="33"/>
                    <a:pt x="761" y="40"/>
                  </a:cubicBezTo>
                  <a:cubicBezTo>
                    <a:pt x="736" y="46"/>
                    <a:pt x="723" y="73"/>
                    <a:pt x="715" y="94"/>
                  </a:cubicBezTo>
                  <a:cubicBezTo>
                    <a:pt x="695" y="156"/>
                    <a:pt x="693" y="218"/>
                    <a:pt x="690" y="283"/>
                  </a:cubicBezTo>
                  <a:cubicBezTo>
                    <a:pt x="690" y="292"/>
                    <a:pt x="690" y="292"/>
                    <a:pt x="690" y="292"/>
                  </a:cubicBezTo>
                  <a:cubicBezTo>
                    <a:pt x="685" y="291"/>
                    <a:pt x="685" y="291"/>
                    <a:pt x="685" y="291"/>
                  </a:cubicBezTo>
                  <a:cubicBezTo>
                    <a:pt x="685" y="283"/>
                    <a:pt x="685" y="283"/>
                    <a:pt x="685" y="283"/>
                  </a:cubicBezTo>
                  <a:cubicBezTo>
                    <a:pt x="687" y="217"/>
                    <a:pt x="689" y="155"/>
                    <a:pt x="710" y="92"/>
                  </a:cubicBezTo>
                  <a:cubicBezTo>
                    <a:pt x="718" y="70"/>
                    <a:pt x="733" y="42"/>
                    <a:pt x="760" y="34"/>
                  </a:cubicBezTo>
                  <a:cubicBezTo>
                    <a:pt x="787" y="28"/>
                    <a:pt x="815" y="38"/>
                    <a:pt x="840" y="50"/>
                  </a:cubicBezTo>
                  <a:cubicBezTo>
                    <a:pt x="905" y="80"/>
                    <a:pt x="954" y="136"/>
                    <a:pt x="1000" y="190"/>
                  </a:cubicBezTo>
                  <a:cubicBezTo>
                    <a:pt x="1006" y="197"/>
                    <a:pt x="1012" y="204"/>
                    <a:pt x="1018" y="211"/>
                  </a:cubicBezTo>
                  <a:cubicBezTo>
                    <a:pt x="1030" y="225"/>
                    <a:pt x="1043" y="240"/>
                    <a:pt x="1057" y="257"/>
                  </a:cubicBezTo>
                  <a:cubicBezTo>
                    <a:pt x="1069" y="272"/>
                    <a:pt x="1083" y="290"/>
                    <a:pt x="1082" y="293"/>
                  </a:cubicBezTo>
                  <a:cubicBezTo>
                    <a:pt x="1081" y="294"/>
                    <a:pt x="1081" y="294"/>
                    <a:pt x="1081" y="294"/>
                  </a:cubicBezTo>
                  <a:lnTo>
                    <a:pt x="1079" y="294"/>
                  </a:lnTo>
                  <a:close/>
                  <a:moveTo>
                    <a:pt x="277" y="294"/>
                  </a:moveTo>
                  <a:cubicBezTo>
                    <a:pt x="275" y="293"/>
                    <a:pt x="275" y="293"/>
                    <a:pt x="275" y="293"/>
                  </a:cubicBezTo>
                  <a:cubicBezTo>
                    <a:pt x="274" y="290"/>
                    <a:pt x="292" y="267"/>
                    <a:pt x="300" y="257"/>
                  </a:cubicBezTo>
                  <a:cubicBezTo>
                    <a:pt x="314" y="240"/>
                    <a:pt x="326" y="225"/>
                    <a:pt x="338" y="211"/>
                  </a:cubicBezTo>
                  <a:cubicBezTo>
                    <a:pt x="344" y="204"/>
                    <a:pt x="350" y="197"/>
                    <a:pt x="356" y="190"/>
                  </a:cubicBezTo>
                  <a:cubicBezTo>
                    <a:pt x="403" y="136"/>
                    <a:pt x="451" y="80"/>
                    <a:pt x="517" y="50"/>
                  </a:cubicBezTo>
                  <a:cubicBezTo>
                    <a:pt x="541" y="38"/>
                    <a:pt x="570" y="28"/>
                    <a:pt x="597" y="34"/>
                  </a:cubicBezTo>
                  <a:cubicBezTo>
                    <a:pt x="624" y="42"/>
                    <a:pt x="639" y="70"/>
                    <a:pt x="646" y="92"/>
                  </a:cubicBezTo>
                  <a:cubicBezTo>
                    <a:pt x="667" y="155"/>
                    <a:pt x="669" y="217"/>
                    <a:pt x="672" y="283"/>
                  </a:cubicBezTo>
                  <a:cubicBezTo>
                    <a:pt x="672" y="291"/>
                    <a:pt x="672" y="291"/>
                    <a:pt x="672" y="291"/>
                  </a:cubicBezTo>
                  <a:cubicBezTo>
                    <a:pt x="666" y="292"/>
                    <a:pt x="666" y="292"/>
                    <a:pt x="666" y="292"/>
                  </a:cubicBezTo>
                  <a:cubicBezTo>
                    <a:pt x="666" y="283"/>
                    <a:pt x="666" y="283"/>
                    <a:pt x="666" y="283"/>
                  </a:cubicBezTo>
                  <a:cubicBezTo>
                    <a:pt x="664" y="218"/>
                    <a:pt x="662" y="156"/>
                    <a:pt x="641" y="94"/>
                  </a:cubicBezTo>
                  <a:cubicBezTo>
                    <a:pt x="634" y="73"/>
                    <a:pt x="620" y="46"/>
                    <a:pt x="595" y="40"/>
                  </a:cubicBezTo>
                  <a:cubicBezTo>
                    <a:pt x="570" y="33"/>
                    <a:pt x="543" y="44"/>
                    <a:pt x="519" y="54"/>
                  </a:cubicBezTo>
                  <a:cubicBezTo>
                    <a:pt x="455" y="84"/>
                    <a:pt x="407" y="140"/>
                    <a:pt x="360" y="194"/>
                  </a:cubicBezTo>
                  <a:cubicBezTo>
                    <a:pt x="354" y="201"/>
                    <a:pt x="348" y="208"/>
                    <a:pt x="342" y="214"/>
                  </a:cubicBezTo>
                  <a:cubicBezTo>
                    <a:pt x="330" y="228"/>
                    <a:pt x="318" y="243"/>
                    <a:pt x="304" y="260"/>
                  </a:cubicBezTo>
                  <a:cubicBezTo>
                    <a:pt x="302" y="263"/>
                    <a:pt x="281" y="290"/>
                    <a:pt x="280" y="293"/>
                  </a:cubicBezTo>
                  <a:cubicBezTo>
                    <a:pt x="278" y="291"/>
                    <a:pt x="278" y="291"/>
                    <a:pt x="278" y="291"/>
                  </a:cubicBezTo>
                  <a:cubicBezTo>
                    <a:pt x="277" y="292"/>
                    <a:pt x="277" y="292"/>
                    <a:pt x="277" y="292"/>
                  </a:cubicBezTo>
                  <a:lnTo>
                    <a:pt x="277" y="294"/>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8">
              <a:extLst>
                <a:ext uri="{FF2B5EF4-FFF2-40B4-BE49-F238E27FC236}">
                  <a16:creationId xmlns:a16="http://schemas.microsoft.com/office/drawing/2014/main" id="{632EAE99-8B0C-4B27-A756-70325DB91FF6}"/>
                </a:ext>
              </a:extLst>
            </p:cNvPr>
            <p:cNvSpPr>
              <a:spLocks/>
            </p:cNvSpPr>
            <p:nvPr/>
          </p:nvSpPr>
          <p:spPr bwMode="auto">
            <a:xfrm>
              <a:off x="2784" y="1893"/>
              <a:ext cx="1027" cy="228"/>
            </a:xfrm>
            <a:custGeom>
              <a:avLst/>
              <a:gdLst>
                <a:gd name="T0" fmla="*/ 1027 w 1027"/>
                <a:gd name="T1" fmla="*/ 228 h 228"/>
                <a:gd name="T2" fmla="*/ 879 w 1027"/>
                <a:gd name="T3" fmla="*/ 228 h 228"/>
                <a:gd name="T4" fmla="*/ 879 w 1027"/>
                <a:gd name="T5" fmla="*/ 11 h 228"/>
                <a:gd name="T6" fmla="*/ 67 w 1027"/>
                <a:gd name="T7" fmla="*/ 11 h 228"/>
                <a:gd name="T8" fmla="*/ 67 w 1027"/>
                <a:gd name="T9" fmla="*/ 228 h 228"/>
                <a:gd name="T10" fmla="*/ 0 w 1027"/>
                <a:gd name="T11" fmla="*/ 228 h 228"/>
                <a:gd name="T12" fmla="*/ 0 w 1027"/>
                <a:gd name="T13" fmla="*/ 219 h 228"/>
                <a:gd name="T14" fmla="*/ 57 w 1027"/>
                <a:gd name="T15" fmla="*/ 219 h 228"/>
                <a:gd name="T16" fmla="*/ 57 w 1027"/>
                <a:gd name="T17" fmla="*/ 0 h 228"/>
                <a:gd name="T18" fmla="*/ 887 w 1027"/>
                <a:gd name="T19" fmla="*/ 0 h 228"/>
                <a:gd name="T20" fmla="*/ 887 w 1027"/>
                <a:gd name="T21" fmla="*/ 219 h 228"/>
                <a:gd name="T22" fmla="*/ 1027 w 1027"/>
                <a:gd name="T23" fmla="*/ 219 h 228"/>
                <a:gd name="T24" fmla="*/ 1027 w 1027"/>
                <a:gd name="T25"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7" h="228">
                  <a:moveTo>
                    <a:pt x="1027" y="228"/>
                  </a:moveTo>
                  <a:lnTo>
                    <a:pt x="879" y="228"/>
                  </a:lnTo>
                  <a:lnTo>
                    <a:pt x="879" y="11"/>
                  </a:lnTo>
                  <a:lnTo>
                    <a:pt x="67" y="11"/>
                  </a:lnTo>
                  <a:lnTo>
                    <a:pt x="67" y="228"/>
                  </a:lnTo>
                  <a:lnTo>
                    <a:pt x="0" y="228"/>
                  </a:lnTo>
                  <a:lnTo>
                    <a:pt x="0" y="219"/>
                  </a:lnTo>
                  <a:lnTo>
                    <a:pt x="57" y="219"/>
                  </a:lnTo>
                  <a:lnTo>
                    <a:pt x="57" y="0"/>
                  </a:lnTo>
                  <a:lnTo>
                    <a:pt x="887" y="0"/>
                  </a:lnTo>
                  <a:lnTo>
                    <a:pt x="887" y="219"/>
                  </a:lnTo>
                  <a:lnTo>
                    <a:pt x="1027" y="219"/>
                  </a:lnTo>
                  <a:lnTo>
                    <a:pt x="1027" y="228"/>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9">
              <a:extLst>
                <a:ext uri="{FF2B5EF4-FFF2-40B4-BE49-F238E27FC236}">
                  <a16:creationId xmlns:a16="http://schemas.microsoft.com/office/drawing/2014/main" id="{D774B828-5E1C-4B26-AA1C-8D1C7AB21C4D}"/>
                </a:ext>
              </a:extLst>
            </p:cNvPr>
            <p:cNvSpPr>
              <a:spLocks/>
            </p:cNvSpPr>
            <p:nvPr/>
          </p:nvSpPr>
          <p:spPr bwMode="auto">
            <a:xfrm>
              <a:off x="3159" y="1948"/>
              <a:ext cx="183" cy="169"/>
            </a:xfrm>
            <a:custGeom>
              <a:avLst/>
              <a:gdLst>
                <a:gd name="T0" fmla="*/ 5 w 107"/>
                <a:gd name="T1" fmla="*/ 98 h 98"/>
                <a:gd name="T2" fmla="*/ 0 w 107"/>
                <a:gd name="T3" fmla="*/ 98 h 98"/>
                <a:gd name="T4" fmla="*/ 0 w 107"/>
                <a:gd name="T5" fmla="*/ 13 h 98"/>
                <a:gd name="T6" fmla="*/ 6 w 107"/>
                <a:gd name="T7" fmla="*/ 7 h 98"/>
                <a:gd name="T8" fmla="*/ 11 w 107"/>
                <a:gd name="T9" fmla="*/ 6 h 98"/>
                <a:gd name="T10" fmla="*/ 19 w 107"/>
                <a:gd name="T11" fmla="*/ 4 h 98"/>
                <a:gd name="T12" fmla="*/ 28 w 107"/>
                <a:gd name="T13" fmla="*/ 0 h 98"/>
                <a:gd name="T14" fmla="*/ 29 w 107"/>
                <a:gd name="T15" fmla="*/ 0 h 98"/>
                <a:gd name="T16" fmla="*/ 59 w 107"/>
                <a:gd name="T17" fmla="*/ 0 h 98"/>
                <a:gd name="T18" fmla="*/ 78 w 107"/>
                <a:gd name="T19" fmla="*/ 0 h 98"/>
                <a:gd name="T20" fmla="*/ 86 w 107"/>
                <a:gd name="T21" fmla="*/ 4 h 98"/>
                <a:gd name="T22" fmla="*/ 91 w 107"/>
                <a:gd name="T23" fmla="*/ 5 h 98"/>
                <a:gd name="T24" fmla="*/ 94 w 107"/>
                <a:gd name="T25" fmla="*/ 5 h 98"/>
                <a:gd name="T26" fmla="*/ 94 w 107"/>
                <a:gd name="T27" fmla="*/ 6 h 98"/>
                <a:gd name="T28" fmla="*/ 107 w 107"/>
                <a:gd name="T29" fmla="*/ 20 h 98"/>
                <a:gd name="T30" fmla="*/ 107 w 107"/>
                <a:gd name="T31" fmla="*/ 74 h 98"/>
                <a:gd name="T32" fmla="*/ 107 w 107"/>
                <a:gd name="T33" fmla="*/ 97 h 98"/>
                <a:gd name="T34" fmla="*/ 102 w 107"/>
                <a:gd name="T35" fmla="*/ 97 h 98"/>
                <a:gd name="T36" fmla="*/ 101 w 107"/>
                <a:gd name="T37" fmla="*/ 74 h 98"/>
                <a:gd name="T38" fmla="*/ 101 w 107"/>
                <a:gd name="T39" fmla="*/ 20 h 98"/>
                <a:gd name="T40" fmla="*/ 94 w 107"/>
                <a:gd name="T41" fmla="*/ 11 h 98"/>
                <a:gd name="T42" fmla="*/ 93 w 107"/>
                <a:gd name="T43" fmla="*/ 11 h 98"/>
                <a:gd name="T44" fmla="*/ 91 w 107"/>
                <a:gd name="T45" fmla="*/ 11 h 98"/>
                <a:gd name="T46" fmla="*/ 82 w 107"/>
                <a:gd name="T47" fmla="*/ 7 h 98"/>
                <a:gd name="T48" fmla="*/ 78 w 107"/>
                <a:gd name="T49" fmla="*/ 6 h 98"/>
                <a:gd name="T50" fmla="*/ 59 w 107"/>
                <a:gd name="T51" fmla="*/ 6 h 98"/>
                <a:gd name="T52" fmla="*/ 29 w 107"/>
                <a:gd name="T53" fmla="*/ 6 h 98"/>
                <a:gd name="T54" fmla="*/ 27 w 107"/>
                <a:gd name="T55" fmla="*/ 6 h 98"/>
                <a:gd name="T56" fmla="*/ 24 w 107"/>
                <a:gd name="T57" fmla="*/ 7 h 98"/>
                <a:gd name="T58" fmla="*/ 20 w 107"/>
                <a:gd name="T59" fmla="*/ 10 h 98"/>
                <a:gd name="T60" fmla="*/ 13 w 107"/>
                <a:gd name="T61" fmla="*/ 11 h 98"/>
                <a:gd name="T62" fmla="*/ 6 w 107"/>
                <a:gd name="T63" fmla="*/ 12 h 98"/>
                <a:gd name="T64" fmla="*/ 5 w 107"/>
                <a:gd name="T65" fmla="*/ 12 h 98"/>
                <a:gd name="T66" fmla="*/ 5 w 107"/>
                <a:gd name="T67" fmla="*/ 13 h 98"/>
                <a:gd name="T68" fmla="*/ 5 w 107"/>
                <a:gd name="T69"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7" h="98">
                  <a:moveTo>
                    <a:pt x="5" y="98"/>
                  </a:moveTo>
                  <a:cubicBezTo>
                    <a:pt x="0" y="98"/>
                    <a:pt x="0" y="98"/>
                    <a:pt x="0" y="98"/>
                  </a:cubicBezTo>
                  <a:cubicBezTo>
                    <a:pt x="0" y="65"/>
                    <a:pt x="0" y="46"/>
                    <a:pt x="0" y="13"/>
                  </a:cubicBezTo>
                  <a:cubicBezTo>
                    <a:pt x="0" y="11"/>
                    <a:pt x="1" y="7"/>
                    <a:pt x="6" y="7"/>
                  </a:cubicBezTo>
                  <a:cubicBezTo>
                    <a:pt x="8" y="6"/>
                    <a:pt x="10" y="6"/>
                    <a:pt x="11" y="6"/>
                  </a:cubicBezTo>
                  <a:cubicBezTo>
                    <a:pt x="14" y="5"/>
                    <a:pt x="16" y="4"/>
                    <a:pt x="19" y="4"/>
                  </a:cubicBezTo>
                  <a:cubicBezTo>
                    <a:pt x="21" y="0"/>
                    <a:pt x="25" y="0"/>
                    <a:pt x="28" y="0"/>
                  </a:cubicBezTo>
                  <a:cubicBezTo>
                    <a:pt x="28" y="0"/>
                    <a:pt x="29" y="0"/>
                    <a:pt x="29" y="0"/>
                  </a:cubicBezTo>
                  <a:cubicBezTo>
                    <a:pt x="39" y="0"/>
                    <a:pt x="49" y="0"/>
                    <a:pt x="59" y="0"/>
                  </a:cubicBezTo>
                  <a:cubicBezTo>
                    <a:pt x="78" y="0"/>
                    <a:pt x="78" y="0"/>
                    <a:pt x="78" y="0"/>
                  </a:cubicBezTo>
                  <a:cubicBezTo>
                    <a:pt x="81" y="0"/>
                    <a:pt x="84" y="1"/>
                    <a:pt x="86" y="4"/>
                  </a:cubicBezTo>
                  <a:cubicBezTo>
                    <a:pt x="87" y="5"/>
                    <a:pt x="89" y="5"/>
                    <a:pt x="91" y="5"/>
                  </a:cubicBezTo>
                  <a:cubicBezTo>
                    <a:pt x="92" y="5"/>
                    <a:pt x="93" y="5"/>
                    <a:pt x="94" y="5"/>
                  </a:cubicBezTo>
                  <a:cubicBezTo>
                    <a:pt x="94" y="6"/>
                    <a:pt x="94" y="6"/>
                    <a:pt x="94" y="6"/>
                  </a:cubicBezTo>
                  <a:cubicBezTo>
                    <a:pt x="106" y="7"/>
                    <a:pt x="107" y="8"/>
                    <a:pt x="107" y="20"/>
                  </a:cubicBezTo>
                  <a:cubicBezTo>
                    <a:pt x="107" y="74"/>
                    <a:pt x="107" y="74"/>
                    <a:pt x="107" y="74"/>
                  </a:cubicBezTo>
                  <a:cubicBezTo>
                    <a:pt x="107" y="81"/>
                    <a:pt x="107" y="86"/>
                    <a:pt x="107" y="97"/>
                  </a:cubicBezTo>
                  <a:cubicBezTo>
                    <a:pt x="102" y="97"/>
                    <a:pt x="102" y="97"/>
                    <a:pt x="102" y="97"/>
                  </a:cubicBezTo>
                  <a:cubicBezTo>
                    <a:pt x="101" y="86"/>
                    <a:pt x="101" y="81"/>
                    <a:pt x="101" y="74"/>
                  </a:cubicBezTo>
                  <a:cubicBezTo>
                    <a:pt x="101" y="20"/>
                    <a:pt x="101" y="20"/>
                    <a:pt x="101" y="20"/>
                  </a:cubicBezTo>
                  <a:cubicBezTo>
                    <a:pt x="101" y="12"/>
                    <a:pt x="101" y="12"/>
                    <a:pt x="94" y="11"/>
                  </a:cubicBezTo>
                  <a:cubicBezTo>
                    <a:pt x="93" y="11"/>
                    <a:pt x="93" y="11"/>
                    <a:pt x="93" y="11"/>
                  </a:cubicBezTo>
                  <a:cubicBezTo>
                    <a:pt x="92" y="11"/>
                    <a:pt x="92" y="11"/>
                    <a:pt x="91" y="11"/>
                  </a:cubicBezTo>
                  <a:cubicBezTo>
                    <a:pt x="88" y="10"/>
                    <a:pt x="84" y="10"/>
                    <a:pt x="82" y="7"/>
                  </a:cubicBezTo>
                  <a:cubicBezTo>
                    <a:pt x="81" y="6"/>
                    <a:pt x="80" y="6"/>
                    <a:pt x="78" y="6"/>
                  </a:cubicBezTo>
                  <a:cubicBezTo>
                    <a:pt x="59" y="6"/>
                    <a:pt x="59" y="6"/>
                    <a:pt x="59" y="6"/>
                  </a:cubicBezTo>
                  <a:cubicBezTo>
                    <a:pt x="49" y="6"/>
                    <a:pt x="39" y="6"/>
                    <a:pt x="29" y="6"/>
                  </a:cubicBezTo>
                  <a:cubicBezTo>
                    <a:pt x="28" y="6"/>
                    <a:pt x="28" y="6"/>
                    <a:pt x="27" y="6"/>
                  </a:cubicBezTo>
                  <a:cubicBezTo>
                    <a:pt x="24" y="5"/>
                    <a:pt x="24" y="5"/>
                    <a:pt x="24" y="7"/>
                  </a:cubicBezTo>
                  <a:cubicBezTo>
                    <a:pt x="24" y="8"/>
                    <a:pt x="23" y="10"/>
                    <a:pt x="20" y="10"/>
                  </a:cubicBezTo>
                  <a:cubicBezTo>
                    <a:pt x="17" y="10"/>
                    <a:pt x="15" y="10"/>
                    <a:pt x="13" y="11"/>
                  </a:cubicBezTo>
                  <a:cubicBezTo>
                    <a:pt x="11" y="11"/>
                    <a:pt x="9" y="12"/>
                    <a:pt x="6" y="12"/>
                  </a:cubicBezTo>
                  <a:cubicBezTo>
                    <a:pt x="6" y="12"/>
                    <a:pt x="5" y="12"/>
                    <a:pt x="5" y="12"/>
                  </a:cubicBezTo>
                  <a:cubicBezTo>
                    <a:pt x="5" y="12"/>
                    <a:pt x="5" y="12"/>
                    <a:pt x="5" y="13"/>
                  </a:cubicBezTo>
                  <a:cubicBezTo>
                    <a:pt x="5" y="46"/>
                    <a:pt x="5" y="65"/>
                    <a:pt x="5" y="98"/>
                  </a:cubicBez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10">
              <a:extLst>
                <a:ext uri="{FF2B5EF4-FFF2-40B4-BE49-F238E27FC236}">
                  <a16:creationId xmlns:a16="http://schemas.microsoft.com/office/drawing/2014/main" id="{46AF0BF6-8DEB-4F6A-9ADA-C0CB9C8D5056}"/>
                </a:ext>
              </a:extLst>
            </p:cNvPr>
            <p:cNvSpPr>
              <a:spLocks noEditPoints="1"/>
            </p:cNvSpPr>
            <p:nvPr/>
          </p:nvSpPr>
          <p:spPr bwMode="auto">
            <a:xfrm>
              <a:off x="2647" y="1656"/>
              <a:ext cx="1226" cy="229"/>
            </a:xfrm>
            <a:custGeom>
              <a:avLst/>
              <a:gdLst>
                <a:gd name="T0" fmla="*/ 67 w 716"/>
                <a:gd name="T1" fmla="*/ 112 h 133"/>
                <a:gd name="T2" fmla="*/ 49 w 716"/>
                <a:gd name="T3" fmla="*/ 101 h 133"/>
                <a:gd name="T4" fmla="*/ 30 w 716"/>
                <a:gd name="T5" fmla="*/ 86 h 133"/>
                <a:gd name="T6" fmla="*/ 11 w 716"/>
                <a:gd name="T7" fmla="*/ 53 h 133"/>
                <a:gd name="T8" fmla="*/ 25 w 716"/>
                <a:gd name="T9" fmla="*/ 52 h 133"/>
                <a:gd name="T10" fmla="*/ 36 w 716"/>
                <a:gd name="T11" fmla="*/ 52 h 133"/>
                <a:gd name="T12" fmla="*/ 45 w 716"/>
                <a:gd name="T13" fmla="*/ 52 h 133"/>
                <a:gd name="T14" fmla="*/ 55 w 716"/>
                <a:gd name="T15" fmla="*/ 54 h 133"/>
                <a:gd name="T16" fmla="*/ 72 w 716"/>
                <a:gd name="T17" fmla="*/ 60 h 133"/>
                <a:gd name="T18" fmla="*/ 73 w 716"/>
                <a:gd name="T19" fmla="*/ 56 h 133"/>
                <a:gd name="T20" fmla="*/ 93 w 716"/>
                <a:gd name="T21" fmla="*/ 56 h 133"/>
                <a:gd name="T22" fmla="*/ 127 w 716"/>
                <a:gd name="T23" fmla="*/ 62 h 133"/>
                <a:gd name="T24" fmla="*/ 150 w 716"/>
                <a:gd name="T25" fmla="*/ 62 h 133"/>
                <a:gd name="T26" fmla="*/ 173 w 716"/>
                <a:gd name="T27" fmla="*/ 48 h 133"/>
                <a:gd name="T28" fmla="*/ 178 w 716"/>
                <a:gd name="T29" fmla="*/ 19 h 133"/>
                <a:gd name="T30" fmla="*/ 190 w 716"/>
                <a:gd name="T31" fmla="*/ 11 h 133"/>
                <a:gd name="T32" fmla="*/ 207 w 716"/>
                <a:gd name="T33" fmla="*/ 2 h 133"/>
                <a:gd name="T34" fmla="*/ 211 w 716"/>
                <a:gd name="T35" fmla="*/ 23 h 133"/>
                <a:gd name="T36" fmla="*/ 496 w 716"/>
                <a:gd name="T37" fmla="*/ 27 h 133"/>
                <a:gd name="T38" fmla="*/ 516 w 716"/>
                <a:gd name="T39" fmla="*/ 8 h 133"/>
                <a:gd name="T40" fmla="*/ 530 w 716"/>
                <a:gd name="T41" fmla="*/ 10 h 133"/>
                <a:gd name="T42" fmla="*/ 536 w 716"/>
                <a:gd name="T43" fmla="*/ 28 h 133"/>
                <a:gd name="T44" fmla="*/ 561 w 716"/>
                <a:gd name="T45" fmla="*/ 62 h 133"/>
                <a:gd name="T46" fmla="*/ 612 w 716"/>
                <a:gd name="T47" fmla="*/ 56 h 133"/>
                <a:gd name="T48" fmla="*/ 622 w 716"/>
                <a:gd name="T49" fmla="*/ 64 h 133"/>
                <a:gd name="T50" fmla="*/ 635 w 716"/>
                <a:gd name="T51" fmla="*/ 59 h 133"/>
                <a:gd name="T52" fmla="*/ 649 w 716"/>
                <a:gd name="T53" fmla="*/ 63 h 133"/>
                <a:gd name="T54" fmla="*/ 662 w 716"/>
                <a:gd name="T55" fmla="*/ 61 h 133"/>
                <a:gd name="T56" fmla="*/ 678 w 716"/>
                <a:gd name="T57" fmla="*/ 56 h 133"/>
                <a:gd name="T58" fmla="*/ 691 w 716"/>
                <a:gd name="T59" fmla="*/ 54 h 133"/>
                <a:gd name="T60" fmla="*/ 702 w 716"/>
                <a:gd name="T61" fmla="*/ 52 h 133"/>
                <a:gd name="T62" fmla="*/ 714 w 716"/>
                <a:gd name="T63" fmla="*/ 60 h 133"/>
                <a:gd name="T64" fmla="*/ 684 w 716"/>
                <a:gd name="T65" fmla="*/ 90 h 133"/>
                <a:gd name="T66" fmla="*/ 653 w 716"/>
                <a:gd name="T67" fmla="*/ 108 h 133"/>
                <a:gd name="T68" fmla="*/ 601 w 716"/>
                <a:gd name="T69" fmla="*/ 133 h 133"/>
                <a:gd name="T70" fmla="*/ 599 w 716"/>
                <a:gd name="T71" fmla="*/ 128 h 133"/>
                <a:gd name="T72" fmla="*/ 652 w 716"/>
                <a:gd name="T73" fmla="*/ 103 h 133"/>
                <a:gd name="T74" fmla="*/ 691 w 716"/>
                <a:gd name="T75" fmla="*/ 78 h 133"/>
                <a:gd name="T76" fmla="*/ 701 w 716"/>
                <a:gd name="T77" fmla="*/ 58 h 133"/>
                <a:gd name="T78" fmla="*/ 683 w 716"/>
                <a:gd name="T79" fmla="*/ 57 h 133"/>
                <a:gd name="T80" fmla="*/ 657 w 716"/>
                <a:gd name="T81" fmla="*/ 64 h 133"/>
                <a:gd name="T82" fmla="*/ 637 w 716"/>
                <a:gd name="T83" fmla="*/ 70 h 133"/>
                <a:gd name="T84" fmla="*/ 616 w 716"/>
                <a:gd name="T85" fmla="*/ 63 h 133"/>
                <a:gd name="T86" fmla="*/ 606 w 716"/>
                <a:gd name="T87" fmla="*/ 66 h 133"/>
                <a:gd name="T88" fmla="*/ 562 w 716"/>
                <a:gd name="T89" fmla="*/ 67 h 133"/>
                <a:gd name="T90" fmla="*/ 530 w 716"/>
                <a:gd name="T91" fmla="*/ 26 h 133"/>
                <a:gd name="T92" fmla="*/ 518 w 716"/>
                <a:gd name="T93" fmla="*/ 15 h 133"/>
                <a:gd name="T94" fmla="*/ 508 w 716"/>
                <a:gd name="T95" fmla="*/ 21 h 133"/>
                <a:gd name="T96" fmla="*/ 220 w 716"/>
                <a:gd name="T97" fmla="*/ 32 h 133"/>
                <a:gd name="T98" fmla="*/ 206 w 716"/>
                <a:gd name="T99" fmla="*/ 15 h 133"/>
                <a:gd name="T100" fmla="*/ 193 w 716"/>
                <a:gd name="T101" fmla="*/ 16 h 133"/>
                <a:gd name="T102" fmla="*/ 182 w 716"/>
                <a:gd name="T103" fmla="*/ 30 h 133"/>
                <a:gd name="T104" fmla="*/ 152 w 716"/>
                <a:gd name="T105" fmla="*/ 67 h 133"/>
                <a:gd name="T106" fmla="*/ 108 w 716"/>
                <a:gd name="T107" fmla="*/ 66 h 133"/>
                <a:gd name="T108" fmla="*/ 96 w 716"/>
                <a:gd name="T109" fmla="*/ 60 h 133"/>
                <a:gd name="T110" fmla="*/ 80 w 716"/>
                <a:gd name="T111" fmla="*/ 68 h 133"/>
                <a:gd name="T112" fmla="*/ 56 w 716"/>
                <a:gd name="T113" fmla="*/ 64 h 133"/>
                <a:gd name="T114" fmla="*/ 33 w 716"/>
                <a:gd name="T115" fmla="*/ 57 h 133"/>
                <a:gd name="T116" fmla="*/ 19 w 716"/>
                <a:gd name="T117" fmla="*/ 54 h 133"/>
                <a:gd name="T118" fmla="*/ 6 w 716"/>
                <a:gd name="T119" fmla="*/ 67 h 133"/>
                <a:gd name="T120" fmla="*/ 37 w 716"/>
                <a:gd name="T121" fmla="*/ 86 h 133"/>
                <a:gd name="T122" fmla="*/ 56 w 716"/>
                <a:gd name="T123" fmla="*/ 9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16" h="133">
                  <a:moveTo>
                    <a:pt x="113" y="133"/>
                  </a:moveTo>
                  <a:cubicBezTo>
                    <a:pt x="112" y="133"/>
                    <a:pt x="112" y="133"/>
                    <a:pt x="112" y="133"/>
                  </a:cubicBezTo>
                  <a:cubicBezTo>
                    <a:pt x="103" y="130"/>
                    <a:pt x="94" y="126"/>
                    <a:pt x="85" y="122"/>
                  </a:cubicBezTo>
                  <a:cubicBezTo>
                    <a:pt x="83" y="121"/>
                    <a:pt x="81" y="120"/>
                    <a:pt x="80" y="119"/>
                  </a:cubicBezTo>
                  <a:cubicBezTo>
                    <a:pt x="76" y="117"/>
                    <a:pt x="73" y="115"/>
                    <a:pt x="69" y="114"/>
                  </a:cubicBezTo>
                  <a:cubicBezTo>
                    <a:pt x="67" y="114"/>
                    <a:pt x="67" y="114"/>
                    <a:pt x="67" y="114"/>
                  </a:cubicBezTo>
                  <a:cubicBezTo>
                    <a:pt x="67" y="112"/>
                    <a:pt x="67" y="112"/>
                    <a:pt x="67" y="112"/>
                  </a:cubicBezTo>
                  <a:cubicBezTo>
                    <a:pt x="67" y="112"/>
                    <a:pt x="67" y="112"/>
                    <a:pt x="65" y="111"/>
                  </a:cubicBezTo>
                  <a:cubicBezTo>
                    <a:pt x="64" y="111"/>
                    <a:pt x="62" y="110"/>
                    <a:pt x="60" y="108"/>
                  </a:cubicBezTo>
                  <a:cubicBezTo>
                    <a:pt x="60" y="108"/>
                    <a:pt x="60" y="108"/>
                    <a:pt x="60" y="108"/>
                  </a:cubicBezTo>
                  <a:cubicBezTo>
                    <a:pt x="57" y="108"/>
                    <a:pt x="55" y="107"/>
                    <a:pt x="55" y="104"/>
                  </a:cubicBezTo>
                  <a:cubicBezTo>
                    <a:pt x="54" y="104"/>
                    <a:pt x="54" y="104"/>
                    <a:pt x="54" y="104"/>
                  </a:cubicBezTo>
                  <a:cubicBezTo>
                    <a:pt x="52" y="103"/>
                    <a:pt x="52" y="103"/>
                    <a:pt x="52" y="103"/>
                  </a:cubicBezTo>
                  <a:cubicBezTo>
                    <a:pt x="52" y="102"/>
                    <a:pt x="51" y="102"/>
                    <a:pt x="49" y="101"/>
                  </a:cubicBezTo>
                  <a:cubicBezTo>
                    <a:pt x="47" y="100"/>
                    <a:pt x="44" y="99"/>
                    <a:pt x="43" y="96"/>
                  </a:cubicBezTo>
                  <a:cubicBezTo>
                    <a:pt x="43" y="96"/>
                    <a:pt x="42" y="96"/>
                    <a:pt x="42" y="96"/>
                  </a:cubicBezTo>
                  <a:cubicBezTo>
                    <a:pt x="39" y="96"/>
                    <a:pt x="38" y="93"/>
                    <a:pt x="37" y="92"/>
                  </a:cubicBezTo>
                  <a:cubicBezTo>
                    <a:pt x="37" y="92"/>
                    <a:pt x="37" y="91"/>
                    <a:pt x="37" y="91"/>
                  </a:cubicBezTo>
                  <a:cubicBezTo>
                    <a:pt x="37" y="91"/>
                    <a:pt x="37" y="91"/>
                    <a:pt x="37" y="91"/>
                  </a:cubicBezTo>
                  <a:cubicBezTo>
                    <a:pt x="35" y="91"/>
                    <a:pt x="33" y="91"/>
                    <a:pt x="31" y="89"/>
                  </a:cubicBezTo>
                  <a:cubicBezTo>
                    <a:pt x="31" y="88"/>
                    <a:pt x="30" y="87"/>
                    <a:pt x="30" y="86"/>
                  </a:cubicBezTo>
                  <a:cubicBezTo>
                    <a:pt x="25" y="84"/>
                    <a:pt x="21" y="82"/>
                    <a:pt x="16" y="80"/>
                  </a:cubicBezTo>
                  <a:cubicBezTo>
                    <a:pt x="13" y="78"/>
                    <a:pt x="10" y="76"/>
                    <a:pt x="7" y="75"/>
                  </a:cubicBezTo>
                  <a:cubicBezTo>
                    <a:pt x="4" y="74"/>
                    <a:pt x="2" y="71"/>
                    <a:pt x="1" y="68"/>
                  </a:cubicBezTo>
                  <a:cubicBezTo>
                    <a:pt x="0" y="67"/>
                    <a:pt x="0" y="65"/>
                    <a:pt x="1" y="63"/>
                  </a:cubicBezTo>
                  <a:cubicBezTo>
                    <a:pt x="2" y="62"/>
                    <a:pt x="3" y="61"/>
                    <a:pt x="6" y="62"/>
                  </a:cubicBezTo>
                  <a:cubicBezTo>
                    <a:pt x="5" y="59"/>
                    <a:pt x="7" y="57"/>
                    <a:pt x="8" y="56"/>
                  </a:cubicBezTo>
                  <a:cubicBezTo>
                    <a:pt x="9" y="55"/>
                    <a:pt x="10" y="54"/>
                    <a:pt x="11" y="53"/>
                  </a:cubicBezTo>
                  <a:cubicBezTo>
                    <a:pt x="13" y="52"/>
                    <a:pt x="14" y="52"/>
                    <a:pt x="13" y="51"/>
                  </a:cubicBezTo>
                  <a:cubicBezTo>
                    <a:pt x="13" y="47"/>
                    <a:pt x="13" y="47"/>
                    <a:pt x="13" y="47"/>
                  </a:cubicBezTo>
                  <a:cubicBezTo>
                    <a:pt x="16" y="48"/>
                    <a:pt x="16" y="48"/>
                    <a:pt x="16" y="48"/>
                  </a:cubicBezTo>
                  <a:cubicBezTo>
                    <a:pt x="16" y="48"/>
                    <a:pt x="16" y="47"/>
                    <a:pt x="17" y="47"/>
                  </a:cubicBezTo>
                  <a:cubicBezTo>
                    <a:pt x="18" y="47"/>
                    <a:pt x="21" y="47"/>
                    <a:pt x="22" y="49"/>
                  </a:cubicBezTo>
                  <a:cubicBezTo>
                    <a:pt x="22" y="49"/>
                    <a:pt x="22" y="49"/>
                    <a:pt x="22" y="49"/>
                  </a:cubicBezTo>
                  <a:cubicBezTo>
                    <a:pt x="23" y="49"/>
                    <a:pt x="25" y="50"/>
                    <a:pt x="25" y="52"/>
                  </a:cubicBezTo>
                  <a:cubicBezTo>
                    <a:pt x="26" y="53"/>
                    <a:pt x="25" y="53"/>
                    <a:pt x="25" y="54"/>
                  </a:cubicBezTo>
                  <a:cubicBezTo>
                    <a:pt x="26" y="54"/>
                    <a:pt x="26" y="54"/>
                    <a:pt x="27" y="54"/>
                  </a:cubicBezTo>
                  <a:cubicBezTo>
                    <a:pt x="27" y="54"/>
                    <a:pt x="28" y="54"/>
                    <a:pt x="28" y="54"/>
                  </a:cubicBezTo>
                  <a:cubicBezTo>
                    <a:pt x="28" y="54"/>
                    <a:pt x="28" y="53"/>
                    <a:pt x="28" y="52"/>
                  </a:cubicBezTo>
                  <a:cubicBezTo>
                    <a:pt x="28" y="50"/>
                    <a:pt x="29" y="49"/>
                    <a:pt x="30" y="49"/>
                  </a:cubicBezTo>
                  <a:cubicBezTo>
                    <a:pt x="32" y="48"/>
                    <a:pt x="34" y="48"/>
                    <a:pt x="35" y="50"/>
                  </a:cubicBezTo>
                  <a:cubicBezTo>
                    <a:pt x="36" y="52"/>
                    <a:pt x="36" y="52"/>
                    <a:pt x="36" y="52"/>
                  </a:cubicBezTo>
                  <a:cubicBezTo>
                    <a:pt x="37" y="53"/>
                    <a:pt x="38" y="55"/>
                    <a:pt x="39" y="57"/>
                  </a:cubicBezTo>
                  <a:cubicBezTo>
                    <a:pt x="39" y="58"/>
                    <a:pt x="39" y="58"/>
                    <a:pt x="39" y="58"/>
                  </a:cubicBezTo>
                  <a:cubicBezTo>
                    <a:pt x="40" y="58"/>
                    <a:pt x="41" y="58"/>
                    <a:pt x="41" y="58"/>
                  </a:cubicBezTo>
                  <a:cubicBezTo>
                    <a:pt x="41" y="58"/>
                    <a:pt x="41" y="57"/>
                    <a:pt x="41" y="56"/>
                  </a:cubicBezTo>
                  <a:cubicBezTo>
                    <a:pt x="41" y="55"/>
                    <a:pt x="41" y="54"/>
                    <a:pt x="42" y="53"/>
                  </a:cubicBezTo>
                  <a:cubicBezTo>
                    <a:pt x="42" y="52"/>
                    <a:pt x="43" y="52"/>
                    <a:pt x="45" y="52"/>
                  </a:cubicBezTo>
                  <a:cubicBezTo>
                    <a:pt x="45" y="52"/>
                    <a:pt x="45" y="52"/>
                    <a:pt x="45" y="52"/>
                  </a:cubicBezTo>
                  <a:cubicBezTo>
                    <a:pt x="47" y="52"/>
                    <a:pt x="49" y="53"/>
                    <a:pt x="49" y="55"/>
                  </a:cubicBezTo>
                  <a:cubicBezTo>
                    <a:pt x="50" y="57"/>
                    <a:pt x="50" y="58"/>
                    <a:pt x="51" y="60"/>
                  </a:cubicBezTo>
                  <a:cubicBezTo>
                    <a:pt x="51" y="60"/>
                    <a:pt x="51" y="60"/>
                    <a:pt x="51" y="60"/>
                  </a:cubicBezTo>
                  <a:cubicBezTo>
                    <a:pt x="51" y="60"/>
                    <a:pt x="51" y="59"/>
                    <a:pt x="52" y="59"/>
                  </a:cubicBezTo>
                  <a:cubicBezTo>
                    <a:pt x="52" y="58"/>
                    <a:pt x="52" y="57"/>
                    <a:pt x="52" y="56"/>
                  </a:cubicBezTo>
                  <a:cubicBezTo>
                    <a:pt x="53" y="55"/>
                    <a:pt x="53" y="55"/>
                    <a:pt x="55" y="54"/>
                  </a:cubicBezTo>
                  <a:cubicBezTo>
                    <a:pt x="55" y="54"/>
                    <a:pt x="55" y="54"/>
                    <a:pt x="55" y="54"/>
                  </a:cubicBezTo>
                  <a:cubicBezTo>
                    <a:pt x="58" y="54"/>
                    <a:pt x="59" y="56"/>
                    <a:pt x="59" y="57"/>
                  </a:cubicBezTo>
                  <a:cubicBezTo>
                    <a:pt x="61" y="58"/>
                    <a:pt x="61" y="60"/>
                    <a:pt x="62" y="61"/>
                  </a:cubicBezTo>
                  <a:cubicBezTo>
                    <a:pt x="63" y="63"/>
                    <a:pt x="63" y="63"/>
                    <a:pt x="64" y="63"/>
                  </a:cubicBezTo>
                  <a:cubicBezTo>
                    <a:pt x="64" y="63"/>
                    <a:pt x="64" y="63"/>
                    <a:pt x="64" y="63"/>
                  </a:cubicBezTo>
                  <a:cubicBezTo>
                    <a:pt x="63" y="59"/>
                    <a:pt x="66" y="57"/>
                    <a:pt x="67" y="57"/>
                  </a:cubicBezTo>
                  <a:cubicBezTo>
                    <a:pt x="67" y="57"/>
                    <a:pt x="68" y="57"/>
                    <a:pt x="68" y="57"/>
                  </a:cubicBezTo>
                  <a:cubicBezTo>
                    <a:pt x="69" y="57"/>
                    <a:pt x="71" y="57"/>
                    <a:pt x="72" y="60"/>
                  </a:cubicBezTo>
                  <a:cubicBezTo>
                    <a:pt x="72" y="60"/>
                    <a:pt x="72" y="60"/>
                    <a:pt x="72" y="60"/>
                  </a:cubicBezTo>
                  <a:cubicBezTo>
                    <a:pt x="72" y="60"/>
                    <a:pt x="72" y="61"/>
                    <a:pt x="73" y="61"/>
                  </a:cubicBezTo>
                  <a:cubicBezTo>
                    <a:pt x="74" y="63"/>
                    <a:pt x="75" y="64"/>
                    <a:pt x="76" y="64"/>
                  </a:cubicBezTo>
                  <a:cubicBezTo>
                    <a:pt x="76" y="64"/>
                    <a:pt x="76" y="64"/>
                    <a:pt x="76" y="64"/>
                  </a:cubicBezTo>
                  <a:cubicBezTo>
                    <a:pt x="76" y="64"/>
                    <a:pt x="76" y="64"/>
                    <a:pt x="76" y="64"/>
                  </a:cubicBezTo>
                  <a:cubicBezTo>
                    <a:pt x="76" y="64"/>
                    <a:pt x="76" y="63"/>
                    <a:pt x="75" y="62"/>
                  </a:cubicBezTo>
                  <a:cubicBezTo>
                    <a:pt x="73" y="56"/>
                    <a:pt x="73" y="56"/>
                    <a:pt x="73" y="56"/>
                  </a:cubicBezTo>
                  <a:cubicBezTo>
                    <a:pt x="79" y="58"/>
                    <a:pt x="79" y="58"/>
                    <a:pt x="79" y="58"/>
                  </a:cubicBezTo>
                  <a:cubicBezTo>
                    <a:pt x="82" y="59"/>
                    <a:pt x="83" y="61"/>
                    <a:pt x="85" y="63"/>
                  </a:cubicBezTo>
                  <a:cubicBezTo>
                    <a:pt x="85" y="63"/>
                    <a:pt x="86" y="64"/>
                    <a:pt x="86" y="64"/>
                  </a:cubicBezTo>
                  <a:cubicBezTo>
                    <a:pt x="87" y="65"/>
                    <a:pt x="90" y="66"/>
                    <a:pt x="92" y="66"/>
                  </a:cubicBezTo>
                  <a:cubicBezTo>
                    <a:pt x="92" y="66"/>
                    <a:pt x="92" y="65"/>
                    <a:pt x="91" y="65"/>
                  </a:cubicBezTo>
                  <a:cubicBezTo>
                    <a:pt x="91" y="64"/>
                    <a:pt x="91" y="63"/>
                    <a:pt x="91" y="61"/>
                  </a:cubicBezTo>
                  <a:cubicBezTo>
                    <a:pt x="90" y="59"/>
                    <a:pt x="91" y="57"/>
                    <a:pt x="93" y="56"/>
                  </a:cubicBezTo>
                  <a:cubicBezTo>
                    <a:pt x="94" y="55"/>
                    <a:pt x="94" y="55"/>
                    <a:pt x="94" y="55"/>
                  </a:cubicBezTo>
                  <a:cubicBezTo>
                    <a:pt x="95" y="54"/>
                    <a:pt x="96" y="54"/>
                    <a:pt x="97" y="54"/>
                  </a:cubicBezTo>
                  <a:cubicBezTo>
                    <a:pt x="99" y="54"/>
                    <a:pt x="100" y="55"/>
                    <a:pt x="101" y="57"/>
                  </a:cubicBezTo>
                  <a:cubicBezTo>
                    <a:pt x="101" y="57"/>
                    <a:pt x="101" y="57"/>
                    <a:pt x="101" y="57"/>
                  </a:cubicBezTo>
                  <a:cubicBezTo>
                    <a:pt x="104" y="55"/>
                    <a:pt x="107" y="55"/>
                    <a:pt x="108" y="57"/>
                  </a:cubicBezTo>
                  <a:cubicBezTo>
                    <a:pt x="109" y="58"/>
                    <a:pt x="109" y="59"/>
                    <a:pt x="109" y="61"/>
                  </a:cubicBezTo>
                  <a:cubicBezTo>
                    <a:pt x="115" y="61"/>
                    <a:pt x="121" y="62"/>
                    <a:pt x="127" y="62"/>
                  </a:cubicBezTo>
                  <a:cubicBezTo>
                    <a:pt x="136" y="63"/>
                    <a:pt x="136" y="63"/>
                    <a:pt x="136" y="63"/>
                  </a:cubicBezTo>
                  <a:cubicBezTo>
                    <a:pt x="138" y="63"/>
                    <a:pt x="138" y="62"/>
                    <a:pt x="138" y="62"/>
                  </a:cubicBezTo>
                  <a:cubicBezTo>
                    <a:pt x="139" y="60"/>
                    <a:pt x="141" y="59"/>
                    <a:pt x="141" y="59"/>
                  </a:cubicBezTo>
                  <a:cubicBezTo>
                    <a:pt x="142" y="59"/>
                    <a:pt x="143" y="60"/>
                    <a:pt x="143" y="60"/>
                  </a:cubicBezTo>
                  <a:cubicBezTo>
                    <a:pt x="144" y="59"/>
                    <a:pt x="145" y="58"/>
                    <a:pt x="146" y="58"/>
                  </a:cubicBezTo>
                  <a:cubicBezTo>
                    <a:pt x="148" y="58"/>
                    <a:pt x="150" y="61"/>
                    <a:pt x="151" y="62"/>
                  </a:cubicBezTo>
                  <a:cubicBezTo>
                    <a:pt x="151" y="62"/>
                    <a:pt x="150" y="62"/>
                    <a:pt x="150" y="62"/>
                  </a:cubicBezTo>
                  <a:cubicBezTo>
                    <a:pt x="151" y="65"/>
                    <a:pt x="151" y="65"/>
                    <a:pt x="151" y="65"/>
                  </a:cubicBezTo>
                  <a:cubicBezTo>
                    <a:pt x="151" y="62"/>
                    <a:pt x="151" y="62"/>
                    <a:pt x="151" y="62"/>
                  </a:cubicBezTo>
                  <a:cubicBezTo>
                    <a:pt x="152" y="65"/>
                    <a:pt x="152" y="65"/>
                    <a:pt x="152" y="65"/>
                  </a:cubicBezTo>
                  <a:cubicBezTo>
                    <a:pt x="152" y="62"/>
                    <a:pt x="152" y="62"/>
                    <a:pt x="152" y="62"/>
                  </a:cubicBezTo>
                  <a:cubicBezTo>
                    <a:pt x="152" y="62"/>
                    <a:pt x="152" y="62"/>
                    <a:pt x="152" y="62"/>
                  </a:cubicBezTo>
                  <a:cubicBezTo>
                    <a:pt x="157" y="62"/>
                    <a:pt x="160" y="61"/>
                    <a:pt x="163" y="58"/>
                  </a:cubicBezTo>
                  <a:cubicBezTo>
                    <a:pt x="167" y="54"/>
                    <a:pt x="170" y="51"/>
                    <a:pt x="173" y="48"/>
                  </a:cubicBezTo>
                  <a:cubicBezTo>
                    <a:pt x="173" y="47"/>
                    <a:pt x="173" y="47"/>
                    <a:pt x="173" y="47"/>
                  </a:cubicBezTo>
                  <a:cubicBezTo>
                    <a:pt x="174" y="46"/>
                    <a:pt x="174" y="46"/>
                    <a:pt x="174" y="46"/>
                  </a:cubicBezTo>
                  <a:cubicBezTo>
                    <a:pt x="175" y="44"/>
                    <a:pt x="175" y="42"/>
                    <a:pt x="176" y="40"/>
                  </a:cubicBezTo>
                  <a:cubicBezTo>
                    <a:pt x="177" y="37"/>
                    <a:pt x="178" y="34"/>
                    <a:pt x="177" y="31"/>
                  </a:cubicBezTo>
                  <a:cubicBezTo>
                    <a:pt x="177" y="31"/>
                    <a:pt x="177" y="30"/>
                    <a:pt x="177" y="29"/>
                  </a:cubicBezTo>
                  <a:cubicBezTo>
                    <a:pt x="176" y="27"/>
                    <a:pt x="175" y="24"/>
                    <a:pt x="178" y="20"/>
                  </a:cubicBezTo>
                  <a:cubicBezTo>
                    <a:pt x="178" y="20"/>
                    <a:pt x="178" y="19"/>
                    <a:pt x="178" y="19"/>
                  </a:cubicBezTo>
                  <a:cubicBezTo>
                    <a:pt x="178" y="17"/>
                    <a:pt x="178" y="15"/>
                    <a:pt x="181" y="13"/>
                  </a:cubicBezTo>
                  <a:cubicBezTo>
                    <a:pt x="181" y="13"/>
                    <a:pt x="181" y="13"/>
                    <a:pt x="181" y="12"/>
                  </a:cubicBezTo>
                  <a:cubicBezTo>
                    <a:pt x="181" y="12"/>
                    <a:pt x="181" y="11"/>
                    <a:pt x="181" y="11"/>
                  </a:cubicBezTo>
                  <a:cubicBezTo>
                    <a:pt x="181" y="7"/>
                    <a:pt x="183" y="6"/>
                    <a:pt x="185" y="6"/>
                  </a:cubicBezTo>
                  <a:cubicBezTo>
                    <a:pt x="185" y="6"/>
                    <a:pt x="185" y="6"/>
                    <a:pt x="185" y="6"/>
                  </a:cubicBezTo>
                  <a:cubicBezTo>
                    <a:pt x="186" y="6"/>
                    <a:pt x="188" y="6"/>
                    <a:pt x="188" y="7"/>
                  </a:cubicBezTo>
                  <a:cubicBezTo>
                    <a:pt x="190" y="8"/>
                    <a:pt x="190" y="10"/>
                    <a:pt x="190" y="11"/>
                  </a:cubicBezTo>
                  <a:cubicBezTo>
                    <a:pt x="189" y="11"/>
                    <a:pt x="189" y="11"/>
                    <a:pt x="189" y="12"/>
                  </a:cubicBezTo>
                  <a:cubicBezTo>
                    <a:pt x="190" y="12"/>
                    <a:pt x="190" y="12"/>
                    <a:pt x="190" y="12"/>
                  </a:cubicBezTo>
                  <a:cubicBezTo>
                    <a:pt x="190" y="12"/>
                    <a:pt x="190" y="12"/>
                    <a:pt x="190" y="12"/>
                  </a:cubicBezTo>
                  <a:cubicBezTo>
                    <a:pt x="190" y="12"/>
                    <a:pt x="191" y="11"/>
                    <a:pt x="192" y="11"/>
                  </a:cubicBezTo>
                  <a:cubicBezTo>
                    <a:pt x="194" y="10"/>
                    <a:pt x="195" y="8"/>
                    <a:pt x="196" y="5"/>
                  </a:cubicBezTo>
                  <a:cubicBezTo>
                    <a:pt x="197" y="2"/>
                    <a:pt x="199" y="1"/>
                    <a:pt x="202" y="1"/>
                  </a:cubicBezTo>
                  <a:cubicBezTo>
                    <a:pt x="204" y="1"/>
                    <a:pt x="206" y="1"/>
                    <a:pt x="207" y="2"/>
                  </a:cubicBezTo>
                  <a:cubicBezTo>
                    <a:pt x="211" y="4"/>
                    <a:pt x="213" y="11"/>
                    <a:pt x="211" y="16"/>
                  </a:cubicBezTo>
                  <a:cubicBezTo>
                    <a:pt x="211" y="17"/>
                    <a:pt x="211" y="17"/>
                    <a:pt x="211" y="18"/>
                  </a:cubicBezTo>
                  <a:cubicBezTo>
                    <a:pt x="210" y="19"/>
                    <a:pt x="210" y="20"/>
                    <a:pt x="210" y="20"/>
                  </a:cubicBezTo>
                  <a:cubicBezTo>
                    <a:pt x="209" y="21"/>
                    <a:pt x="209" y="22"/>
                    <a:pt x="209" y="22"/>
                  </a:cubicBezTo>
                  <a:cubicBezTo>
                    <a:pt x="209" y="22"/>
                    <a:pt x="209" y="23"/>
                    <a:pt x="209" y="23"/>
                  </a:cubicBezTo>
                  <a:cubicBezTo>
                    <a:pt x="209" y="23"/>
                    <a:pt x="209" y="23"/>
                    <a:pt x="209" y="23"/>
                  </a:cubicBezTo>
                  <a:cubicBezTo>
                    <a:pt x="211" y="23"/>
                    <a:pt x="211" y="23"/>
                    <a:pt x="211" y="23"/>
                  </a:cubicBezTo>
                  <a:cubicBezTo>
                    <a:pt x="211" y="25"/>
                    <a:pt x="211" y="25"/>
                    <a:pt x="211" y="25"/>
                  </a:cubicBezTo>
                  <a:cubicBezTo>
                    <a:pt x="212" y="28"/>
                    <a:pt x="213" y="28"/>
                    <a:pt x="214" y="28"/>
                  </a:cubicBezTo>
                  <a:cubicBezTo>
                    <a:pt x="215" y="28"/>
                    <a:pt x="216" y="28"/>
                    <a:pt x="217" y="27"/>
                  </a:cubicBezTo>
                  <a:cubicBezTo>
                    <a:pt x="218" y="27"/>
                    <a:pt x="219" y="27"/>
                    <a:pt x="220" y="27"/>
                  </a:cubicBezTo>
                  <a:cubicBezTo>
                    <a:pt x="275" y="27"/>
                    <a:pt x="329" y="27"/>
                    <a:pt x="384" y="27"/>
                  </a:cubicBezTo>
                  <a:cubicBezTo>
                    <a:pt x="420" y="27"/>
                    <a:pt x="456" y="27"/>
                    <a:pt x="492" y="27"/>
                  </a:cubicBezTo>
                  <a:cubicBezTo>
                    <a:pt x="493" y="27"/>
                    <a:pt x="495" y="27"/>
                    <a:pt x="496" y="27"/>
                  </a:cubicBezTo>
                  <a:cubicBezTo>
                    <a:pt x="497" y="27"/>
                    <a:pt x="498" y="27"/>
                    <a:pt x="499" y="27"/>
                  </a:cubicBezTo>
                  <a:cubicBezTo>
                    <a:pt x="499" y="27"/>
                    <a:pt x="499" y="27"/>
                    <a:pt x="499" y="27"/>
                  </a:cubicBezTo>
                  <a:cubicBezTo>
                    <a:pt x="499" y="24"/>
                    <a:pt x="501" y="23"/>
                    <a:pt x="503" y="22"/>
                  </a:cubicBezTo>
                  <a:cubicBezTo>
                    <a:pt x="502" y="20"/>
                    <a:pt x="501" y="18"/>
                    <a:pt x="500" y="16"/>
                  </a:cubicBezTo>
                  <a:cubicBezTo>
                    <a:pt x="498" y="11"/>
                    <a:pt x="499" y="6"/>
                    <a:pt x="503" y="3"/>
                  </a:cubicBezTo>
                  <a:cubicBezTo>
                    <a:pt x="506" y="0"/>
                    <a:pt x="508" y="0"/>
                    <a:pt x="511" y="1"/>
                  </a:cubicBezTo>
                  <a:cubicBezTo>
                    <a:pt x="515" y="2"/>
                    <a:pt x="517" y="5"/>
                    <a:pt x="516" y="8"/>
                  </a:cubicBezTo>
                  <a:cubicBezTo>
                    <a:pt x="516" y="8"/>
                    <a:pt x="516" y="9"/>
                    <a:pt x="516" y="9"/>
                  </a:cubicBezTo>
                  <a:cubicBezTo>
                    <a:pt x="517" y="9"/>
                    <a:pt x="517" y="9"/>
                    <a:pt x="517" y="9"/>
                  </a:cubicBezTo>
                  <a:cubicBezTo>
                    <a:pt x="519" y="9"/>
                    <a:pt x="520" y="10"/>
                    <a:pt x="521" y="11"/>
                  </a:cubicBezTo>
                  <a:cubicBezTo>
                    <a:pt x="521" y="10"/>
                    <a:pt x="521" y="10"/>
                    <a:pt x="521" y="9"/>
                  </a:cubicBezTo>
                  <a:cubicBezTo>
                    <a:pt x="521" y="7"/>
                    <a:pt x="523" y="5"/>
                    <a:pt x="526" y="5"/>
                  </a:cubicBezTo>
                  <a:cubicBezTo>
                    <a:pt x="528" y="5"/>
                    <a:pt x="529" y="6"/>
                    <a:pt x="529" y="6"/>
                  </a:cubicBezTo>
                  <a:cubicBezTo>
                    <a:pt x="531" y="8"/>
                    <a:pt x="530" y="9"/>
                    <a:pt x="530" y="10"/>
                  </a:cubicBezTo>
                  <a:cubicBezTo>
                    <a:pt x="530" y="11"/>
                    <a:pt x="530" y="11"/>
                    <a:pt x="530" y="12"/>
                  </a:cubicBezTo>
                  <a:cubicBezTo>
                    <a:pt x="530" y="12"/>
                    <a:pt x="530" y="13"/>
                    <a:pt x="530" y="13"/>
                  </a:cubicBezTo>
                  <a:cubicBezTo>
                    <a:pt x="531" y="13"/>
                    <a:pt x="534" y="13"/>
                    <a:pt x="534" y="17"/>
                  </a:cubicBezTo>
                  <a:cubicBezTo>
                    <a:pt x="534" y="18"/>
                    <a:pt x="534" y="19"/>
                    <a:pt x="534" y="20"/>
                  </a:cubicBezTo>
                  <a:cubicBezTo>
                    <a:pt x="534" y="22"/>
                    <a:pt x="534" y="22"/>
                    <a:pt x="535" y="23"/>
                  </a:cubicBezTo>
                  <a:cubicBezTo>
                    <a:pt x="536" y="23"/>
                    <a:pt x="536" y="24"/>
                    <a:pt x="536" y="25"/>
                  </a:cubicBezTo>
                  <a:cubicBezTo>
                    <a:pt x="536" y="26"/>
                    <a:pt x="536" y="27"/>
                    <a:pt x="536" y="28"/>
                  </a:cubicBezTo>
                  <a:cubicBezTo>
                    <a:pt x="534" y="30"/>
                    <a:pt x="534" y="32"/>
                    <a:pt x="535" y="36"/>
                  </a:cubicBezTo>
                  <a:cubicBezTo>
                    <a:pt x="535" y="37"/>
                    <a:pt x="535" y="38"/>
                    <a:pt x="536" y="39"/>
                  </a:cubicBezTo>
                  <a:cubicBezTo>
                    <a:pt x="537" y="49"/>
                    <a:pt x="544" y="54"/>
                    <a:pt x="551" y="60"/>
                  </a:cubicBezTo>
                  <a:cubicBezTo>
                    <a:pt x="552" y="61"/>
                    <a:pt x="552" y="61"/>
                    <a:pt x="552" y="61"/>
                  </a:cubicBezTo>
                  <a:cubicBezTo>
                    <a:pt x="553" y="62"/>
                    <a:pt x="554" y="62"/>
                    <a:pt x="556" y="62"/>
                  </a:cubicBezTo>
                  <a:cubicBezTo>
                    <a:pt x="557" y="62"/>
                    <a:pt x="558" y="62"/>
                    <a:pt x="559" y="62"/>
                  </a:cubicBezTo>
                  <a:cubicBezTo>
                    <a:pt x="559" y="62"/>
                    <a:pt x="560" y="62"/>
                    <a:pt x="561" y="62"/>
                  </a:cubicBezTo>
                  <a:cubicBezTo>
                    <a:pt x="561" y="62"/>
                    <a:pt x="561" y="61"/>
                    <a:pt x="561" y="61"/>
                  </a:cubicBezTo>
                  <a:cubicBezTo>
                    <a:pt x="562" y="60"/>
                    <a:pt x="563" y="57"/>
                    <a:pt x="569" y="59"/>
                  </a:cubicBezTo>
                  <a:cubicBezTo>
                    <a:pt x="569" y="60"/>
                    <a:pt x="570" y="60"/>
                    <a:pt x="571" y="60"/>
                  </a:cubicBezTo>
                  <a:cubicBezTo>
                    <a:pt x="572" y="61"/>
                    <a:pt x="574" y="62"/>
                    <a:pt x="575" y="62"/>
                  </a:cubicBezTo>
                  <a:cubicBezTo>
                    <a:pt x="584" y="62"/>
                    <a:pt x="595" y="61"/>
                    <a:pt x="605" y="60"/>
                  </a:cubicBezTo>
                  <a:cubicBezTo>
                    <a:pt x="605" y="58"/>
                    <a:pt x="605" y="57"/>
                    <a:pt x="606" y="56"/>
                  </a:cubicBezTo>
                  <a:cubicBezTo>
                    <a:pt x="607" y="55"/>
                    <a:pt x="609" y="54"/>
                    <a:pt x="612" y="56"/>
                  </a:cubicBezTo>
                  <a:cubicBezTo>
                    <a:pt x="613" y="56"/>
                    <a:pt x="613" y="56"/>
                    <a:pt x="613" y="56"/>
                  </a:cubicBezTo>
                  <a:cubicBezTo>
                    <a:pt x="614" y="56"/>
                    <a:pt x="614" y="56"/>
                    <a:pt x="614" y="56"/>
                  </a:cubicBezTo>
                  <a:cubicBezTo>
                    <a:pt x="615" y="54"/>
                    <a:pt x="617" y="54"/>
                    <a:pt x="618" y="54"/>
                  </a:cubicBezTo>
                  <a:cubicBezTo>
                    <a:pt x="619" y="54"/>
                    <a:pt x="620" y="55"/>
                    <a:pt x="620" y="55"/>
                  </a:cubicBezTo>
                  <a:cubicBezTo>
                    <a:pt x="622" y="56"/>
                    <a:pt x="623" y="57"/>
                    <a:pt x="623" y="58"/>
                  </a:cubicBezTo>
                  <a:cubicBezTo>
                    <a:pt x="624" y="59"/>
                    <a:pt x="623" y="61"/>
                    <a:pt x="623" y="61"/>
                  </a:cubicBezTo>
                  <a:cubicBezTo>
                    <a:pt x="622" y="62"/>
                    <a:pt x="622" y="63"/>
                    <a:pt x="622" y="64"/>
                  </a:cubicBezTo>
                  <a:cubicBezTo>
                    <a:pt x="621" y="64"/>
                    <a:pt x="621" y="64"/>
                    <a:pt x="621" y="64"/>
                  </a:cubicBezTo>
                  <a:cubicBezTo>
                    <a:pt x="621" y="65"/>
                    <a:pt x="621" y="65"/>
                    <a:pt x="621" y="65"/>
                  </a:cubicBezTo>
                  <a:cubicBezTo>
                    <a:pt x="621" y="65"/>
                    <a:pt x="622" y="66"/>
                    <a:pt x="623" y="66"/>
                  </a:cubicBezTo>
                  <a:cubicBezTo>
                    <a:pt x="626" y="66"/>
                    <a:pt x="628" y="64"/>
                    <a:pt x="630" y="61"/>
                  </a:cubicBezTo>
                  <a:cubicBezTo>
                    <a:pt x="631" y="61"/>
                    <a:pt x="631" y="60"/>
                    <a:pt x="632" y="59"/>
                  </a:cubicBezTo>
                  <a:cubicBezTo>
                    <a:pt x="633" y="58"/>
                    <a:pt x="633" y="58"/>
                    <a:pt x="633" y="58"/>
                  </a:cubicBezTo>
                  <a:cubicBezTo>
                    <a:pt x="635" y="59"/>
                    <a:pt x="635" y="59"/>
                    <a:pt x="635" y="59"/>
                  </a:cubicBezTo>
                  <a:cubicBezTo>
                    <a:pt x="636" y="59"/>
                    <a:pt x="638" y="61"/>
                    <a:pt x="637" y="64"/>
                  </a:cubicBezTo>
                  <a:cubicBezTo>
                    <a:pt x="638" y="64"/>
                    <a:pt x="639" y="64"/>
                    <a:pt x="639" y="64"/>
                  </a:cubicBezTo>
                  <a:cubicBezTo>
                    <a:pt x="640" y="62"/>
                    <a:pt x="641" y="61"/>
                    <a:pt x="642" y="61"/>
                  </a:cubicBezTo>
                  <a:cubicBezTo>
                    <a:pt x="642" y="60"/>
                    <a:pt x="643" y="60"/>
                    <a:pt x="643" y="59"/>
                  </a:cubicBezTo>
                  <a:cubicBezTo>
                    <a:pt x="643" y="57"/>
                    <a:pt x="646" y="56"/>
                    <a:pt x="648" y="57"/>
                  </a:cubicBezTo>
                  <a:cubicBezTo>
                    <a:pt x="649" y="57"/>
                    <a:pt x="650" y="59"/>
                    <a:pt x="650" y="61"/>
                  </a:cubicBezTo>
                  <a:cubicBezTo>
                    <a:pt x="650" y="62"/>
                    <a:pt x="650" y="62"/>
                    <a:pt x="649" y="63"/>
                  </a:cubicBezTo>
                  <a:cubicBezTo>
                    <a:pt x="651" y="63"/>
                    <a:pt x="651" y="63"/>
                    <a:pt x="652" y="62"/>
                  </a:cubicBezTo>
                  <a:cubicBezTo>
                    <a:pt x="652" y="60"/>
                    <a:pt x="653" y="59"/>
                    <a:pt x="654" y="58"/>
                  </a:cubicBezTo>
                  <a:cubicBezTo>
                    <a:pt x="654" y="58"/>
                    <a:pt x="655" y="58"/>
                    <a:pt x="655" y="57"/>
                  </a:cubicBezTo>
                  <a:cubicBezTo>
                    <a:pt x="656" y="56"/>
                    <a:pt x="656" y="54"/>
                    <a:pt x="659" y="54"/>
                  </a:cubicBezTo>
                  <a:cubicBezTo>
                    <a:pt x="659" y="54"/>
                    <a:pt x="660" y="55"/>
                    <a:pt x="660" y="55"/>
                  </a:cubicBezTo>
                  <a:cubicBezTo>
                    <a:pt x="661" y="55"/>
                    <a:pt x="663" y="56"/>
                    <a:pt x="662" y="59"/>
                  </a:cubicBezTo>
                  <a:cubicBezTo>
                    <a:pt x="663" y="59"/>
                    <a:pt x="663" y="60"/>
                    <a:pt x="662" y="61"/>
                  </a:cubicBezTo>
                  <a:cubicBezTo>
                    <a:pt x="663" y="61"/>
                    <a:pt x="664" y="60"/>
                    <a:pt x="665" y="60"/>
                  </a:cubicBezTo>
                  <a:cubicBezTo>
                    <a:pt x="666" y="59"/>
                    <a:pt x="667" y="57"/>
                    <a:pt x="668" y="56"/>
                  </a:cubicBezTo>
                  <a:cubicBezTo>
                    <a:pt x="668" y="52"/>
                    <a:pt x="670" y="52"/>
                    <a:pt x="671" y="52"/>
                  </a:cubicBezTo>
                  <a:cubicBezTo>
                    <a:pt x="672" y="52"/>
                    <a:pt x="672" y="52"/>
                    <a:pt x="672" y="52"/>
                  </a:cubicBezTo>
                  <a:cubicBezTo>
                    <a:pt x="673" y="52"/>
                    <a:pt x="675" y="53"/>
                    <a:pt x="675" y="56"/>
                  </a:cubicBezTo>
                  <a:cubicBezTo>
                    <a:pt x="675" y="57"/>
                    <a:pt x="675" y="57"/>
                    <a:pt x="675" y="58"/>
                  </a:cubicBezTo>
                  <a:cubicBezTo>
                    <a:pt x="677" y="58"/>
                    <a:pt x="678" y="58"/>
                    <a:pt x="678" y="56"/>
                  </a:cubicBezTo>
                  <a:cubicBezTo>
                    <a:pt x="678" y="54"/>
                    <a:pt x="679" y="53"/>
                    <a:pt x="681" y="51"/>
                  </a:cubicBezTo>
                  <a:cubicBezTo>
                    <a:pt x="681" y="50"/>
                    <a:pt x="682" y="50"/>
                    <a:pt x="682" y="49"/>
                  </a:cubicBezTo>
                  <a:cubicBezTo>
                    <a:pt x="685" y="45"/>
                    <a:pt x="685" y="45"/>
                    <a:pt x="685" y="45"/>
                  </a:cubicBezTo>
                  <a:cubicBezTo>
                    <a:pt x="687" y="50"/>
                    <a:pt x="687" y="50"/>
                    <a:pt x="687" y="50"/>
                  </a:cubicBezTo>
                  <a:cubicBezTo>
                    <a:pt x="687" y="50"/>
                    <a:pt x="688" y="51"/>
                    <a:pt x="688" y="51"/>
                  </a:cubicBezTo>
                  <a:cubicBezTo>
                    <a:pt x="688" y="53"/>
                    <a:pt x="689" y="54"/>
                    <a:pt x="689" y="54"/>
                  </a:cubicBezTo>
                  <a:cubicBezTo>
                    <a:pt x="689" y="54"/>
                    <a:pt x="690" y="54"/>
                    <a:pt x="691" y="54"/>
                  </a:cubicBezTo>
                  <a:cubicBezTo>
                    <a:pt x="690" y="53"/>
                    <a:pt x="690" y="52"/>
                    <a:pt x="691" y="51"/>
                  </a:cubicBezTo>
                  <a:cubicBezTo>
                    <a:pt x="692" y="49"/>
                    <a:pt x="694" y="49"/>
                    <a:pt x="695" y="48"/>
                  </a:cubicBezTo>
                  <a:cubicBezTo>
                    <a:pt x="695" y="48"/>
                    <a:pt x="695" y="48"/>
                    <a:pt x="695" y="48"/>
                  </a:cubicBezTo>
                  <a:cubicBezTo>
                    <a:pt x="696" y="48"/>
                    <a:pt x="697" y="47"/>
                    <a:pt x="698" y="47"/>
                  </a:cubicBezTo>
                  <a:cubicBezTo>
                    <a:pt x="699" y="47"/>
                    <a:pt x="699" y="47"/>
                    <a:pt x="699" y="47"/>
                  </a:cubicBezTo>
                  <a:cubicBezTo>
                    <a:pt x="701" y="48"/>
                    <a:pt x="701" y="48"/>
                    <a:pt x="701" y="48"/>
                  </a:cubicBezTo>
                  <a:cubicBezTo>
                    <a:pt x="702" y="49"/>
                    <a:pt x="702" y="50"/>
                    <a:pt x="702" y="52"/>
                  </a:cubicBezTo>
                  <a:cubicBezTo>
                    <a:pt x="702" y="52"/>
                    <a:pt x="702" y="52"/>
                    <a:pt x="703" y="53"/>
                  </a:cubicBezTo>
                  <a:cubicBezTo>
                    <a:pt x="704" y="54"/>
                    <a:pt x="705" y="55"/>
                    <a:pt x="706" y="57"/>
                  </a:cubicBezTo>
                  <a:cubicBezTo>
                    <a:pt x="706" y="57"/>
                    <a:pt x="707" y="57"/>
                    <a:pt x="707" y="58"/>
                  </a:cubicBezTo>
                  <a:cubicBezTo>
                    <a:pt x="707" y="59"/>
                    <a:pt x="708" y="59"/>
                    <a:pt x="708" y="60"/>
                  </a:cubicBezTo>
                  <a:cubicBezTo>
                    <a:pt x="708" y="62"/>
                    <a:pt x="709" y="62"/>
                    <a:pt x="709" y="62"/>
                  </a:cubicBezTo>
                  <a:cubicBezTo>
                    <a:pt x="709" y="62"/>
                    <a:pt x="710" y="62"/>
                    <a:pt x="711" y="62"/>
                  </a:cubicBezTo>
                  <a:cubicBezTo>
                    <a:pt x="714" y="60"/>
                    <a:pt x="714" y="60"/>
                    <a:pt x="714" y="60"/>
                  </a:cubicBezTo>
                  <a:cubicBezTo>
                    <a:pt x="715" y="63"/>
                    <a:pt x="715" y="63"/>
                    <a:pt x="715" y="63"/>
                  </a:cubicBezTo>
                  <a:cubicBezTo>
                    <a:pt x="716" y="69"/>
                    <a:pt x="714" y="72"/>
                    <a:pt x="709" y="75"/>
                  </a:cubicBezTo>
                  <a:cubicBezTo>
                    <a:pt x="707" y="76"/>
                    <a:pt x="705" y="77"/>
                    <a:pt x="704" y="77"/>
                  </a:cubicBezTo>
                  <a:cubicBezTo>
                    <a:pt x="701" y="78"/>
                    <a:pt x="699" y="79"/>
                    <a:pt x="697" y="81"/>
                  </a:cubicBezTo>
                  <a:cubicBezTo>
                    <a:pt x="695" y="82"/>
                    <a:pt x="694" y="82"/>
                    <a:pt x="693" y="83"/>
                  </a:cubicBezTo>
                  <a:cubicBezTo>
                    <a:pt x="689" y="84"/>
                    <a:pt x="686" y="86"/>
                    <a:pt x="684" y="89"/>
                  </a:cubicBezTo>
                  <a:cubicBezTo>
                    <a:pt x="684" y="90"/>
                    <a:pt x="684" y="90"/>
                    <a:pt x="684" y="90"/>
                  </a:cubicBezTo>
                  <a:cubicBezTo>
                    <a:pt x="682" y="90"/>
                    <a:pt x="682" y="90"/>
                    <a:pt x="682" y="90"/>
                  </a:cubicBezTo>
                  <a:cubicBezTo>
                    <a:pt x="680" y="90"/>
                    <a:pt x="679" y="91"/>
                    <a:pt x="678" y="93"/>
                  </a:cubicBezTo>
                  <a:cubicBezTo>
                    <a:pt x="676" y="94"/>
                    <a:pt x="675" y="95"/>
                    <a:pt x="673" y="96"/>
                  </a:cubicBezTo>
                  <a:cubicBezTo>
                    <a:pt x="671" y="97"/>
                    <a:pt x="670" y="98"/>
                    <a:pt x="668" y="99"/>
                  </a:cubicBezTo>
                  <a:cubicBezTo>
                    <a:pt x="666" y="101"/>
                    <a:pt x="665" y="101"/>
                    <a:pt x="663" y="102"/>
                  </a:cubicBezTo>
                  <a:cubicBezTo>
                    <a:pt x="662" y="103"/>
                    <a:pt x="661" y="104"/>
                    <a:pt x="660" y="104"/>
                  </a:cubicBezTo>
                  <a:cubicBezTo>
                    <a:pt x="659" y="106"/>
                    <a:pt x="656" y="108"/>
                    <a:pt x="653" y="108"/>
                  </a:cubicBezTo>
                  <a:cubicBezTo>
                    <a:pt x="651" y="109"/>
                    <a:pt x="648" y="110"/>
                    <a:pt x="647" y="112"/>
                  </a:cubicBezTo>
                  <a:cubicBezTo>
                    <a:pt x="645" y="114"/>
                    <a:pt x="641" y="116"/>
                    <a:pt x="639" y="117"/>
                  </a:cubicBezTo>
                  <a:cubicBezTo>
                    <a:pt x="637" y="117"/>
                    <a:pt x="636" y="118"/>
                    <a:pt x="635" y="119"/>
                  </a:cubicBezTo>
                  <a:cubicBezTo>
                    <a:pt x="634" y="119"/>
                    <a:pt x="632" y="120"/>
                    <a:pt x="631" y="120"/>
                  </a:cubicBezTo>
                  <a:cubicBezTo>
                    <a:pt x="628" y="122"/>
                    <a:pt x="625" y="123"/>
                    <a:pt x="622" y="125"/>
                  </a:cubicBezTo>
                  <a:cubicBezTo>
                    <a:pt x="616" y="127"/>
                    <a:pt x="610" y="130"/>
                    <a:pt x="604" y="132"/>
                  </a:cubicBezTo>
                  <a:cubicBezTo>
                    <a:pt x="603" y="132"/>
                    <a:pt x="602" y="133"/>
                    <a:pt x="601" y="133"/>
                  </a:cubicBezTo>
                  <a:cubicBezTo>
                    <a:pt x="601" y="133"/>
                    <a:pt x="601" y="133"/>
                    <a:pt x="601" y="133"/>
                  </a:cubicBezTo>
                  <a:lnTo>
                    <a:pt x="113" y="133"/>
                  </a:lnTo>
                  <a:close/>
                  <a:moveTo>
                    <a:pt x="71" y="110"/>
                  </a:moveTo>
                  <a:cubicBezTo>
                    <a:pt x="75" y="111"/>
                    <a:pt x="79" y="112"/>
                    <a:pt x="82" y="114"/>
                  </a:cubicBezTo>
                  <a:cubicBezTo>
                    <a:pt x="84" y="115"/>
                    <a:pt x="85" y="116"/>
                    <a:pt x="87" y="117"/>
                  </a:cubicBezTo>
                  <a:cubicBezTo>
                    <a:pt x="96" y="121"/>
                    <a:pt x="105" y="125"/>
                    <a:pt x="113" y="128"/>
                  </a:cubicBezTo>
                  <a:cubicBezTo>
                    <a:pt x="599" y="128"/>
                    <a:pt x="599" y="128"/>
                    <a:pt x="599" y="128"/>
                  </a:cubicBezTo>
                  <a:cubicBezTo>
                    <a:pt x="600" y="128"/>
                    <a:pt x="601" y="127"/>
                    <a:pt x="602" y="127"/>
                  </a:cubicBezTo>
                  <a:cubicBezTo>
                    <a:pt x="608" y="125"/>
                    <a:pt x="614" y="123"/>
                    <a:pt x="620" y="120"/>
                  </a:cubicBezTo>
                  <a:cubicBezTo>
                    <a:pt x="623" y="118"/>
                    <a:pt x="626" y="117"/>
                    <a:pt x="629" y="116"/>
                  </a:cubicBezTo>
                  <a:cubicBezTo>
                    <a:pt x="630" y="115"/>
                    <a:pt x="631" y="114"/>
                    <a:pt x="632" y="114"/>
                  </a:cubicBezTo>
                  <a:cubicBezTo>
                    <a:pt x="634" y="113"/>
                    <a:pt x="635" y="112"/>
                    <a:pt x="637" y="112"/>
                  </a:cubicBezTo>
                  <a:cubicBezTo>
                    <a:pt x="638" y="111"/>
                    <a:pt x="641" y="110"/>
                    <a:pt x="643" y="108"/>
                  </a:cubicBezTo>
                  <a:cubicBezTo>
                    <a:pt x="645" y="106"/>
                    <a:pt x="649" y="104"/>
                    <a:pt x="652" y="103"/>
                  </a:cubicBezTo>
                  <a:cubicBezTo>
                    <a:pt x="654" y="103"/>
                    <a:pt x="655" y="102"/>
                    <a:pt x="657" y="100"/>
                  </a:cubicBezTo>
                  <a:cubicBezTo>
                    <a:pt x="658" y="99"/>
                    <a:pt x="659" y="98"/>
                    <a:pt x="661" y="98"/>
                  </a:cubicBezTo>
                  <a:cubicBezTo>
                    <a:pt x="662" y="97"/>
                    <a:pt x="663" y="96"/>
                    <a:pt x="665" y="95"/>
                  </a:cubicBezTo>
                  <a:cubicBezTo>
                    <a:pt x="667" y="94"/>
                    <a:pt x="669" y="92"/>
                    <a:pt x="671" y="91"/>
                  </a:cubicBezTo>
                  <a:cubicBezTo>
                    <a:pt x="672" y="91"/>
                    <a:pt x="673" y="90"/>
                    <a:pt x="674" y="89"/>
                  </a:cubicBezTo>
                  <a:cubicBezTo>
                    <a:pt x="676" y="87"/>
                    <a:pt x="677" y="86"/>
                    <a:pt x="680" y="85"/>
                  </a:cubicBezTo>
                  <a:cubicBezTo>
                    <a:pt x="683" y="81"/>
                    <a:pt x="687" y="79"/>
                    <a:pt x="691" y="78"/>
                  </a:cubicBezTo>
                  <a:cubicBezTo>
                    <a:pt x="692" y="77"/>
                    <a:pt x="693" y="77"/>
                    <a:pt x="694" y="76"/>
                  </a:cubicBezTo>
                  <a:cubicBezTo>
                    <a:pt x="697" y="75"/>
                    <a:pt x="699" y="74"/>
                    <a:pt x="701" y="73"/>
                  </a:cubicBezTo>
                  <a:cubicBezTo>
                    <a:pt x="703" y="72"/>
                    <a:pt x="705" y="71"/>
                    <a:pt x="706" y="70"/>
                  </a:cubicBezTo>
                  <a:cubicBezTo>
                    <a:pt x="708" y="70"/>
                    <a:pt x="709" y="69"/>
                    <a:pt x="709" y="68"/>
                  </a:cubicBezTo>
                  <a:cubicBezTo>
                    <a:pt x="707" y="68"/>
                    <a:pt x="704" y="67"/>
                    <a:pt x="703" y="62"/>
                  </a:cubicBezTo>
                  <a:cubicBezTo>
                    <a:pt x="703" y="62"/>
                    <a:pt x="702" y="61"/>
                    <a:pt x="702" y="60"/>
                  </a:cubicBezTo>
                  <a:cubicBezTo>
                    <a:pt x="702" y="60"/>
                    <a:pt x="701" y="59"/>
                    <a:pt x="701" y="58"/>
                  </a:cubicBezTo>
                  <a:cubicBezTo>
                    <a:pt x="701" y="58"/>
                    <a:pt x="700" y="57"/>
                    <a:pt x="700" y="57"/>
                  </a:cubicBezTo>
                  <a:cubicBezTo>
                    <a:pt x="699" y="56"/>
                    <a:pt x="698" y="55"/>
                    <a:pt x="697" y="54"/>
                  </a:cubicBezTo>
                  <a:cubicBezTo>
                    <a:pt x="697" y="55"/>
                    <a:pt x="697" y="55"/>
                    <a:pt x="697" y="55"/>
                  </a:cubicBezTo>
                  <a:cubicBezTo>
                    <a:pt x="697" y="57"/>
                    <a:pt x="695" y="57"/>
                    <a:pt x="695" y="58"/>
                  </a:cubicBezTo>
                  <a:cubicBezTo>
                    <a:pt x="693" y="59"/>
                    <a:pt x="691" y="60"/>
                    <a:pt x="689" y="60"/>
                  </a:cubicBezTo>
                  <a:cubicBezTo>
                    <a:pt x="687" y="60"/>
                    <a:pt x="685" y="59"/>
                    <a:pt x="684" y="56"/>
                  </a:cubicBezTo>
                  <a:cubicBezTo>
                    <a:pt x="683" y="56"/>
                    <a:pt x="683" y="57"/>
                    <a:pt x="683" y="57"/>
                  </a:cubicBezTo>
                  <a:cubicBezTo>
                    <a:pt x="682" y="63"/>
                    <a:pt x="677" y="63"/>
                    <a:pt x="675" y="63"/>
                  </a:cubicBezTo>
                  <a:cubicBezTo>
                    <a:pt x="674" y="63"/>
                    <a:pt x="674" y="63"/>
                    <a:pt x="674" y="63"/>
                  </a:cubicBezTo>
                  <a:cubicBezTo>
                    <a:pt x="672" y="63"/>
                    <a:pt x="671" y="63"/>
                    <a:pt x="671" y="62"/>
                  </a:cubicBezTo>
                  <a:cubicBezTo>
                    <a:pt x="671" y="62"/>
                    <a:pt x="670" y="62"/>
                    <a:pt x="670" y="62"/>
                  </a:cubicBezTo>
                  <a:cubicBezTo>
                    <a:pt x="670" y="62"/>
                    <a:pt x="670" y="63"/>
                    <a:pt x="669" y="63"/>
                  </a:cubicBezTo>
                  <a:cubicBezTo>
                    <a:pt x="667" y="66"/>
                    <a:pt x="663" y="67"/>
                    <a:pt x="660" y="66"/>
                  </a:cubicBezTo>
                  <a:cubicBezTo>
                    <a:pt x="658" y="66"/>
                    <a:pt x="657" y="65"/>
                    <a:pt x="657" y="64"/>
                  </a:cubicBezTo>
                  <a:cubicBezTo>
                    <a:pt x="657" y="64"/>
                    <a:pt x="657" y="64"/>
                    <a:pt x="657" y="64"/>
                  </a:cubicBezTo>
                  <a:cubicBezTo>
                    <a:pt x="656" y="67"/>
                    <a:pt x="653" y="68"/>
                    <a:pt x="650" y="68"/>
                  </a:cubicBezTo>
                  <a:cubicBezTo>
                    <a:pt x="649" y="68"/>
                    <a:pt x="648" y="68"/>
                    <a:pt x="647" y="68"/>
                  </a:cubicBezTo>
                  <a:cubicBezTo>
                    <a:pt x="645" y="68"/>
                    <a:pt x="645" y="67"/>
                    <a:pt x="644" y="66"/>
                  </a:cubicBezTo>
                  <a:cubicBezTo>
                    <a:pt x="644" y="66"/>
                    <a:pt x="644" y="66"/>
                    <a:pt x="644" y="66"/>
                  </a:cubicBezTo>
                  <a:cubicBezTo>
                    <a:pt x="644" y="66"/>
                    <a:pt x="644" y="66"/>
                    <a:pt x="644" y="66"/>
                  </a:cubicBezTo>
                  <a:cubicBezTo>
                    <a:pt x="643" y="69"/>
                    <a:pt x="639" y="70"/>
                    <a:pt x="637" y="70"/>
                  </a:cubicBezTo>
                  <a:cubicBezTo>
                    <a:pt x="637" y="70"/>
                    <a:pt x="636" y="70"/>
                    <a:pt x="636" y="70"/>
                  </a:cubicBezTo>
                  <a:cubicBezTo>
                    <a:pt x="636" y="70"/>
                    <a:pt x="636" y="70"/>
                    <a:pt x="636" y="70"/>
                  </a:cubicBezTo>
                  <a:cubicBezTo>
                    <a:pt x="634" y="70"/>
                    <a:pt x="633" y="69"/>
                    <a:pt x="633" y="69"/>
                  </a:cubicBezTo>
                  <a:cubicBezTo>
                    <a:pt x="632" y="68"/>
                    <a:pt x="632" y="68"/>
                    <a:pt x="632" y="67"/>
                  </a:cubicBezTo>
                  <a:cubicBezTo>
                    <a:pt x="630" y="69"/>
                    <a:pt x="627" y="71"/>
                    <a:pt x="622" y="71"/>
                  </a:cubicBezTo>
                  <a:cubicBezTo>
                    <a:pt x="620" y="71"/>
                    <a:pt x="618" y="70"/>
                    <a:pt x="616" y="69"/>
                  </a:cubicBezTo>
                  <a:cubicBezTo>
                    <a:pt x="615" y="67"/>
                    <a:pt x="615" y="65"/>
                    <a:pt x="616" y="63"/>
                  </a:cubicBezTo>
                  <a:cubicBezTo>
                    <a:pt x="616" y="62"/>
                    <a:pt x="617" y="61"/>
                    <a:pt x="617" y="61"/>
                  </a:cubicBezTo>
                  <a:cubicBezTo>
                    <a:pt x="617" y="60"/>
                    <a:pt x="617" y="60"/>
                    <a:pt x="618" y="60"/>
                  </a:cubicBezTo>
                  <a:cubicBezTo>
                    <a:pt x="618" y="60"/>
                    <a:pt x="618" y="60"/>
                    <a:pt x="618" y="60"/>
                  </a:cubicBezTo>
                  <a:cubicBezTo>
                    <a:pt x="616" y="61"/>
                    <a:pt x="615" y="61"/>
                    <a:pt x="613" y="61"/>
                  </a:cubicBezTo>
                  <a:cubicBezTo>
                    <a:pt x="612" y="61"/>
                    <a:pt x="611" y="61"/>
                    <a:pt x="610" y="61"/>
                  </a:cubicBezTo>
                  <a:cubicBezTo>
                    <a:pt x="610" y="62"/>
                    <a:pt x="610" y="63"/>
                    <a:pt x="609" y="64"/>
                  </a:cubicBezTo>
                  <a:cubicBezTo>
                    <a:pt x="608" y="65"/>
                    <a:pt x="607" y="65"/>
                    <a:pt x="606" y="66"/>
                  </a:cubicBezTo>
                  <a:cubicBezTo>
                    <a:pt x="595" y="67"/>
                    <a:pt x="585" y="67"/>
                    <a:pt x="576" y="67"/>
                  </a:cubicBezTo>
                  <a:cubicBezTo>
                    <a:pt x="576" y="67"/>
                    <a:pt x="576" y="67"/>
                    <a:pt x="576" y="67"/>
                  </a:cubicBezTo>
                  <a:cubicBezTo>
                    <a:pt x="572" y="67"/>
                    <a:pt x="570" y="66"/>
                    <a:pt x="568" y="65"/>
                  </a:cubicBezTo>
                  <a:cubicBezTo>
                    <a:pt x="568" y="65"/>
                    <a:pt x="567" y="64"/>
                    <a:pt x="567" y="64"/>
                  </a:cubicBezTo>
                  <a:cubicBezTo>
                    <a:pt x="566" y="64"/>
                    <a:pt x="566" y="64"/>
                    <a:pt x="566" y="64"/>
                  </a:cubicBezTo>
                  <a:cubicBezTo>
                    <a:pt x="566" y="64"/>
                    <a:pt x="566" y="64"/>
                    <a:pt x="565" y="64"/>
                  </a:cubicBezTo>
                  <a:cubicBezTo>
                    <a:pt x="565" y="65"/>
                    <a:pt x="564" y="67"/>
                    <a:pt x="562" y="67"/>
                  </a:cubicBezTo>
                  <a:cubicBezTo>
                    <a:pt x="561" y="67"/>
                    <a:pt x="560" y="67"/>
                    <a:pt x="559" y="67"/>
                  </a:cubicBezTo>
                  <a:cubicBezTo>
                    <a:pt x="558" y="67"/>
                    <a:pt x="557" y="67"/>
                    <a:pt x="556" y="67"/>
                  </a:cubicBezTo>
                  <a:cubicBezTo>
                    <a:pt x="554" y="67"/>
                    <a:pt x="551" y="67"/>
                    <a:pt x="549" y="65"/>
                  </a:cubicBezTo>
                  <a:cubicBezTo>
                    <a:pt x="547" y="64"/>
                    <a:pt x="547" y="64"/>
                    <a:pt x="547" y="64"/>
                  </a:cubicBezTo>
                  <a:cubicBezTo>
                    <a:pt x="540" y="58"/>
                    <a:pt x="532" y="52"/>
                    <a:pt x="530" y="40"/>
                  </a:cubicBezTo>
                  <a:cubicBezTo>
                    <a:pt x="530" y="39"/>
                    <a:pt x="530" y="38"/>
                    <a:pt x="530" y="37"/>
                  </a:cubicBezTo>
                  <a:cubicBezTo>
                    <a:pt x="529" y="34"/>
                    <a:pt x="528" y="30"/>
                    <a:pt x="530" y="26"/>
                  </a:cubicBezTo>
                  <a:cubicBezTo>
                    <a:pt x="529" y="24"/>
                    <a:pt x="529" y="22"/>
                    <a:pt x="529" y="20"/>
                  </a:cubicBezTo>
                  <a:cubicBezTo>
                    <a:pt x="529" y="19"/>
                    <a:pt x="529" y="19"/>
                    <a:pt x="529" y="18"/>
                  </a:cubicBezTo>
                  <a:cubicBezTo>
                    <a:pt x="529" y="18"/>
                    <a:pt x="529" y="18"/>
                    <a:pt x="529" y="18"/>
                  </a:cubicBezTo>
                  <a:cubicBezTo>
                    <a:pt x="528" y="18"/>
                    <a:pt x="527" y="17"/>
                    <a:pt x="526" y="16"/>
                  </a:cubicBezTo>
                  <a:cubicBezTo>
                    <a:pt x="526" y="17"/>
                    <a:pt x="525" y="17"/>
                    <a:pt x="525" y="17"/>
                  </a:cubicBezTo>
                  <a:cubicBezTo>
                    <a:pt x="522" y="19"/>
                    <a:pt x="520" y="17"/>
                    <a:pt x="519" y="17"/>
                  </a:cubicBezTo>
                  <a:cubicBezTo>
                    <a:pt x="518" y="16"/>
                    <a:pt x="518" y="15"/>
                    <a:pt x="518" y="15"/>
                  </a:cubicBezTo>
                  <a:cubicBezTo>
                    <a:pt x="517" y="14"/>
                    <a:pt x="517" y="14"/>
                    <a:pt x="517" y="14"/>
                  </a:cubicBezTo>
                  <a:cubicBezTo>
                    <a:pt x="516" y="14"/>
                    <a:pt x="514" y="14"/>
                    <a:pt x="512" y="12"/>
                  </a:cubicBezTo>
                  <a:cubicBezTo>
                    <a:pt x="511" y="11"/>
                    <a:pt x="511" y="9"/>
                    <a:pt x="511" y="8"/>
                  </a:cubicBezTo>
                  <a:cubicBezTo>
                    <a:pt x="511" y="7"/>
                    <a:pt x="511" y="7"/>
                    <a:pt x="509" y="6"/>
                  </a:cubicBezTo>
                  <a:cubicBezTo>
                    <a:pt x="509" y="6"/>
                    <a:pt x="508" y="5"/>
                    <a:pt x="507" y="7"/>
                  </a:cubicBezTo>
                  <a:cubicBezTo>
                    <a:pt x="505" y="9"/>
                    <a:pt x="504" y="11"/>
                    <a:pt x="505" y="14"/>
                  </a:cubicBezTo>
                  <a:cubicBezTo>
                    <a:pt x="506" y="16"/>
                    <a:pt x="507" y="19"/>
                    <a:pt x="508" y="21"/>
                  </a:cubicBezTo>
                  <a:cubicBezTo>
                    <a:pt x="508" y="22"/>
                    <a:pt x="509" y="24"/>
                    <a:pt x="507" y="26"/>
                  </a:cubicBezTo>
                  <a:cubicBezTo>
                    <a:pt x="507" y="26"/>
                    <a:pt x="506" y="27"/>
                    <a:pt x="504" y="27"/>
                  </a:cubicBezTo>
                  <a:cubicBezTo>
                    <a:pt x="504" y="30"/>
                    <a:pt x="503" y="32"/>
                    <a:pt x="499" y="32"/>
                  </a:cubicBezTo>
                  <a:cubicBezTo>
                    <a:pt x="498" y="32"/>
                    <a:pt x="497" y="32"/>
                    <a:pt x="496" y="32"/>
                  </a:cubicBezTo>
                  <a:cubicBezTo>
                    <a:pt x="495" y="32"/>
                    <a:pt x="494" y="33"/>
                    <a:pt x="492" y="33"/>
                  </a:cubicBezTo>
                  <a:cubicBezTo>
                    <a:pt x="456" y="32"/>
                    <a:pt x="420" y="32"/>
                    <a:pt x="384" y="32"/>
                  </a:cubicBezTo>
                  <a:cubicBezTo>
                    <a:pt x="329" y="33"/>
                    <a:pt x="275" y="33"/>
                    <a:pt x="220" y="32"/>
                  </a:cubicBezTo>
                  <a:cubicBezTo>
                    <a:pt x="220" y="32"/>
                    <a:pt x="219" y="33"/>
                    <a:pt x="218" y="33"/>
                  </a:cubicBezTo>
                  <a:cubicBezTo>
                    <a:pt x="217" y="33"/>
                    <a:pt x="215" y="33"/>
                    <a:pt x="214" y="33"/>
                  </a:cubicBezTo>
                  <a:cubicBezTo>
                    <a:pt x="210" y="33"/>
                    <a:pt x="208" y="31"/>
                    <a:pt x="207" y="28"/>
                  </a:cubicBezTo>
                  <a:cubicBezTo>
                    <a:pt x="205" y="27"/>
                    <a:pt x="205" y="27"/>
                    <a:pt x="204" y="26"/>
                  </a:cubicBezTo>
                  <a:cubicBezTo>
                    <a:pt x="203" y="24"/>
                    <a:pt x="204" y="22"/>
                    <a:pt x="204" y="21"/>
                  </a:cubicBezTo>
                  <a:cubicBezTo>
                    <a:pt x="204" y="20"/>
                    <a:pt x="204" y="20"/>
                    <a:pt x="204" y="20"/>
                  </a:cubicBezTo>
                  <a:cubicBezTo>
                    <a:pt x="205" y="18"/>
                    <a:pt x="205" y="17"/>
                    <a:pt x="206" y="15"/>
                  </a:cubicBezTo>
                  <a:cubicBezTo>
                    <a:pt x="206" y="15"/>
                    <a:pt x="206" y="14"/>
                    <a:pt x="206" y="14"/>
                  </a:cubicBezTo>
                  <a:cubicBezTo>
                    <a:pt x="207" y="12"/>
                    <a:pt x="206" y="8"/>
                    <a:pt x="204" y="7"/>
                  </a:cubicBezTo>
                  <a:cubicBezTo>
                    <a:pt x="203" y="6"/>
                    <a:pt x="202" y="6"/>
                    <a:pt x="202" y="6"/>
                  </a:cubicBezTo>
                  <a:cubicBezTo>
                    <a:pt x="201" y="6"/>
                    <a:pt x="201" y="6"/>
                    <a:pt x="201" y="6"/>
                  </a:cubicBezTo>
                  <a:cubicBezTo>
                    <a:pt x="200" y="11"/>
                    <a:pt x="198" y="14"/>
                    <a:pt x="194" y="15"/>
                  </a:cubicBezTo>
                  <a:cubicBezTo>
                    <a:pt x="194" y="15"/>
                    <a:pt x="194" y="16"/>
                    <a:pt x="194" y="16"/>
                  </a:cubicBezTo>
                  <a:cubicBezTo>
                    <a:pt x="193" y="16"/>
                    <a:pt x="193" y="16"/>
                    <a:pt x="193" y="16"/>
                  </a:cubicBezTo>
                  <a:cubicBezTo>
                    <a:pt x="192" y="17"/>
                    <a:pt x="190" y="19"/>
                    <a:pt x="187" y="18"/>
                  </a:cubicBezTo>
                  <a:cubicBezTo>
                    <a:pt x="186" y="18"/>
                    <a:pt x="186" y="17"/>
                    <a:pt x="185" y="17"/>
                  </a:cubicBezTo>
                  <a:cubicBezTo>
                    <a:pt x="185" y="17"/>
                    <a:pt x="184" y="17"/>
                    <a:pt x="184" y="17"/>
                  </a:cubicBezTo>
                  <a:cubicBezTo>
                    <a:pt x="183" y="18"/>
                    <a:pt x="183" y="18"/>
                    <a:pt x="183" y="20"/>
                  </a:cubicBezTo>
                  <a:cubicBezTo>
                    <a:pt x="183" y="21"/>
                    <a:pt x="183" y="22"/>
                    <a:pt x="182" y="23"/>
                  </a:cubicBezTo>
                  <a:cubicBezTo>
                    <a:pt x="181" y="25"/>
                    <a:pt x="181" y="26"/>
                    <a:pt x="182" y="28"/>
                  </a:cubicBezTo>
                  <a:cubicBezTo>
                    <a:pt x="182" y="29"/>
                    <a:pt x="182" y="30"/>
                    <a:pt x="182" y="30"/>
                  </a:cubicBezTo>
                  <a:cubicBezTo>
                    <a:pt x="183" y="35"/>
                    <a:pt x="182" y="38"/>
                    <a:pt x="181" y="42"/>
                  </a:cubicBezTo>
                  <a:cubicBezTo>
                    <a:pt x="180" y="43"/>
                    <a:pt x="180" y="45"/>
                    <a:pt x="180" y="47"/>
                  </a:cubicBezTo>
                  <a:cubicBezTo>
                    <a:pt x="179" y="48"/>
                    <a:pt x="178" y="49"/>
                    <a:pt x="178" y="50"/>
                  </a:cubicBezTo>
                  <a:cubicBezTo>
                    <a:pt x="177" y="51"/>
                    <a:pt x="177" y="51"/>
                    <a:pt x="177" y="51"/>
                  </a:cubicBezTo>
                  <a:cubicBezTo>
                    <a:pt x="174" y="54"/>
                    <a:pt x="171" y="58"/>
                    <a:pt x="167" y="62"/>
                  </a:cubicBezTo>
                  <a:cubicBezTo>
                    <a:pt x="163" y="65"/>
                    <a:pt x="158" y="67"/>
                    <a:pt x="152" y="67"/>
                  </a:cubicBezTo>
                  <a:cubicBezTo>
                    <a:pt x="152" y="67"/>
                    <a:pt x="152" y="67"/>
                    <a:pt x="152" y="67"/>
                  </a:cubicBezTo>
                  <a:cubicBezTo>
                    <a:pt x="151" y="65"/>
                    <a:pt x="151" y="65"/>
                    <a:pt x="151" y="65"/>
                  </a:cubicBezTo>
                  <a:cubicBezTo>
                    <a:pt x="151" y="67"/>
                    <a:pt x="151" y="67"/>
                    <a:pt x="151" y="67"/>
                  </a:cubicBezTo>
                  <a:cubicBezTo>
                    <a:pt x="150" y="67"/>
                    <a:pt x="147" y="67"/>
                    <a:pt x="146" y="65"/>
                  </a:cubicBezTo>
                  <a:cubicBezTo>
                    <a:pt x="144" y="66"/>
                    <a:pt x="143" y="66"/>
                    <a:pt x="142" y="65"/>
                  </a:cubicBezTo>
                  <a:cubicBezTo>
                    <a:pt x="141" y="67"/>
                    <a:pt x="140" y="68"/>
                    <a:pt x="137" y="68"/>
                  </a:cubicBezTo>
                  <a:cubicBezTo>
                    <a:pt x="127" y="67"/>
                    <a:pt x="127" y="67"/>
                    <a:pt x="127" y="67"/>
                  </a:cubicBezTo>
                  <a:cubicBezTo>
                    <a:pt x="121" y="67"/>
                    <a:pt x="115" y="67"/>
                    <a:pt x="108" y="66"/>
                  </a:cubicBezTo>
                  <a:cubicBezTo>
                    <a:pt x="108" y="66"/>
                    <a:pt x="106" y="66"/>
                    <a:pt x="105" y="65"/>
                  </a:cubicBezTo>
                  <a:cubicBezTo>
                    <a:pt x="104" y="64"/>
                    <a:pt x="104" y="62"/>
                    <a:pt x="104" y="61"/>
                  </a:cubicBezTo>
                  <a:cubicBezTo>
                    <a:pt x="104" y="61"/>
                    <a:pt x="104" y="61"/>
                    <a:pt x="104" y="61"/>
                  </a:cubicBezTo>
                  <a:cubicBezTo>
                    <a:pt x="104" y="61"/>
                    <a:pt x="104" y="61"/>
                    <a:pt x="104" y="61"/>
                  </a:cubicBezTo>
                  <a:cubicBezTo>
                    <a:pt x="103" y="62"/>
                    <a:pt x="101" y="62"/>
                    <a:pt x="100" y="62"/>
                  </a:cubicBezTo>
                  <a:cubicBezTo>
                    <a:pt x="98" y="62"/>
                    <a:pt x="97" y="61"/>
                    <a:pt x="96" y="60"/>
                  </a:cubicBezTo>
                  <a:cubicBezTo>
                    <a:pt x="96" y="60"/>
                    <a:pt x="96" y="60"/>
                    <a:pt x="96" y="60"/>
                  </a:cubicBezTo>
                  <a:cubicBezTo>
                    <a:pt x="96" y="61"/>
                    <a:pt x="96" y="62"/>
                    <a:pt x="97" y="63"/>
                  </a:cubicBezTo>
                  <a:cubicBezTo>
                    <a:pt x="97" y="64"/>
                    <a:pt x="97" y="65"/>
                    <a:pt x="97" y="66"/>
                  </a:cubicBezTo>
                  <a:cubicBezTo>
                    <a:pt x="98" y="68"/>
                    <a:pt x="97" y="70"/>
                    <a:pt x="96" y="71"/>
                  </a:cubicBezTo>
                  <a:cubicBezTo>
                    <a:pt x="95" y="71"/>
                    <a:pt x="94" y="71"/>
                    <a:pt x="93" y="71"/>
                  </a:cubicBezTo>
                  <a:cubicBezTo>
                    <a:pt x="90" y="71"/>
                    <a:pt x="84" y="70"/>
                    <a:pt x="82" y="68"/>
                  </a:cubicBezTo>
                  <a:cubicBezTo>
                    <a:pt x="82" y="68"/>
                    <a:pt x="81" y="67"/>
                    <a:pt x="81" y="67"/>
                  </a:cubicBezTo>
                  <a:cubicBezTo>
                    <a:pt x="81" y="67"/>
                    <a:pt x="81" y="68"/>
                    <a:pt x="80" y="68"/>
                  </a:cubicBezTo>
                  <a:cubicBezTo>
                    <a:pt x="79" y="70"/>
                    <a:pt x="77" y="70"/>
                    <a:pt x="74" y="69"/>
                  </a:cubicBezTo>
                  <a:cubicBezTo>
                    <a:pt x="72" y="69"/>
                    <a:pt x="71" y="67"/>
                    <a:pt x="70" y="66"/>
                  </a:cubicBezTo>
                  <a:cubicBezTo>
                    <a:pt x="69" y="66"/>
                    <a:pt x="69" y="66"/>
                    <a:pt x="69" y="66"/>
                  </a:cubicBezTo>
                  <a:cubicBezTo>
                    <a:pt x="68" y="68"/>
                    <a:pt x="66" y="68"/>
                    <a:pt x="64" y="68"/>
                  </a:cubicBezTo>
                  <a:cubicBezTo>
                    <a:pt x="60" y="68"/>
                    <a:pt x="58" y="65"/>
                    <a:pt x="57" y="63"/>
                  </a:cubicBezTo>
                  <a:cubicBezTo>
                    <a:pt x="57" y="63"/>
                    <a:pt x="57" y="63"/>
                    <a:pt x="57" y="63"/>
                  </a:cubicBezTo>
                  <a:cubicBezTo>
                    <a:pt x="57" y="63"/>
                    <a:pt x="57" y="64"/>
                    <a:pt x="56" y="64"/>
                  </a:cubicBezTo>
                  <a:cubicBezTo>
                    <a:pt x="56" y="65"/>
                    <a:pt x="55" y="66"/>
                    <a:pt x="53" y="66"/>
                  </a:cubicBezTo>
                  <a:cubicBezTo>
                    <a:pt x="52" y="66"/>
                    <a:pt x="52" y="66"/>
                    <a:pt x="52" y="66"/>
                  </a:cubicBezTo>
                  <a:cubicBezTo>
                    <a:pt x="49" y="66"/>
                    <a:pt x="47" y="65"/>
                    <a:pt x="46" y="62"/>
                  </a:cubicBezTo>
                  <a:cubicBezTo>
                    <a:pt x="46" y="61"/>
                    <a:pt x="46" y="61"/>
                    <a:pt x="45" y="61"/>
                  </a:cubicBezTo>
                  <a:cubicBezTo>
                    <a:pt x="44" y="63"/>
                    <a:pt x="42" y="64"/>
                    <a:pt x="37" y="62"/>
                  </a:cubicBezTo>
                  <a:cubicBezTo>
                    <a:pt x="35" y="61"/>
                    <a:pt x="35" y="60"/>
                    <a:pt x="34" y="59"/>
                  </a:cubicBezTo>
                  <a:cubicBezTo>
                    <a:pt x="34" y="58"/>
                    <a:pt x="34" y="58"/>
                    <a:pt x="33" y="57"/>
                  </a:cubicBezTo>
                  <a:cubicBezTo>
                    <a:pt x="33" y="58"/>
                    <a:pt x="33" y="58"/>
                    <a:pt x="32" y="59"/>
                  </a:cubicBezTo>
                  <a:cubicBezTo>
                    <a:pt x="32" y="59"/>
                    <a:pt x="31" y="60"/>
                    <a:pt x="30" y="60"/>
                  </a:cubicBezTo>
                  <a:cubicBezTo>
                    <a:pt x="28" y="60"/>
                    <a:pt x="27" y="60"/>
                    <a:pt x="25" y="59"/>
                  </a:cubicBezTo>
                  <a:cubicBezTo>
                    <a:pt x="24" y="59"/>
                    <a:pt x="24" y="59"/>
                    <a:pt x="24" y="59"/>
                  </a:cubicBezTo>
                  <a:cubicBezTo>
                    <a:pt x="23" y="58"/>
                    <a:pt x="22" y="58"/>
                    <a:pt x="22" y="58"/>
                  </a:cubicBezTo>
                  <a:cubicBezTo>
                    <a:pt x="21" y="58"/>
                    <a:pt x="19" y="57"/>
                    <a:pt x="19" y="55"/>
                  </a:cubicBezTo>
                  <a:cubicBezTo>
                    <a:pt x="19" y="54"/>
                    <a:pt x="19" y="54"/>
                    <a:pt x="19" y="54"/>
                  </a:cubicBezTo>
                  <a:cubicBezTo>
                    <a:pt x="19" y="53"/>
                    <a:pt x="19" y="53"/>
                    <a:pt x="19" y="53"/>
                  </a:cubicBezTo>
                  <a:cubicBezTo>
                    <a:pt x="19" y="53"/>
                    <a:pt x="19" y="53"/>
                    <a:pt x="18" y="53"/>
                  </a:cubicBezTo>
                  <a:cubicBezTo>
                    <a:pt x="18" y="56"/>
                    <a:pt x="15" y="57"/>
                    <a:pt x="14" y="58"/>
                  </a:cubicBezTo>
                  <a:cubicBezTo>
                    <a:pt x="13" y="58"/>
                    <a:pt x="12" y="59"/>
                    <a:pt x="12" y="59"/>
                  </a:cubicBezTo>
                  <a:cubicBezTo>
                    <a:pt x="11" y="60"/>
                    <a:pt x="11" y="60"/>
                    <a:pt x="11" y="60"/>
                  </a:cubicBezTo>
                  <a:cubicBezTo>
                    <a:pt x="12" y="62"/>
                    <a:pt x="12" y="64"/>
                    <a:pt x="11" y="65"/>
                  </a:cubicBezTo>
                  <a:cubicBezTo>
                    <a:pt x="11" y="66"/>
                    <a:pt x="9" y="67"/>
                    <a:pt x="6" y="67"/>
                  </a:cubicBezTo>
                  <a:cubicBezTo>
                    <a:pt x="7" y="69"/>
                    <a:pt x="8" y="69"/>
                    <a:pt x="9" y="70"/>
                  </a:cubicBezTo>
                  <a:cubicBezTo>
                    <a:pt x="12" y="71"/>
                    <a:pt x="16" y="73"/>
                    <a:pt x="19" y="75"/>
                  </a:cubicBezTo>
                  <a:cubicBezTo>
                    <a:pt x="23" y="77"/>
                    <a:pt x="27" y="79"/>
                    <a:pt x="32" y="81"/>
                  </a:cubicBezTo>
                  <a:cubicBezTo>
                    <a:pt x="35" y="82"/>
                    <a:pt x="35" y="84"/>
                    <a:pt x="35" y="85"/>
                  </a:cubicBezTo>
                  <a:cubicBezTo>
                    <a:pt x="35" y="85"/>
                    <a:pt x="35" y="86"/>
                    <a:pt x="35" y="86"/>
                  </a:cubicBezTo>
                  <a:cubicBezTo>
                    <a:pt x="35" y="86"/>
                    <a:pt x="36" y="86"/>
                    <a:pt x="37" y="86"/>
                  </a:cubicBezTo>
                  <a:cubicBezTo>
                    <a:pt x="37" y="86"/>
                    <a:pt x="37" y="86"/>
                    <a:pt x="37" y="86"/>
                  </a:cubicBezTo>
                  <a:cubicBezTo>
                    <a:pt x="41" y="86"/>
                    <a:pt x="42" y="89"/>
                    <a:pt x="42" y="90"/>
                  </a:cubicBezTo>
                  <a:cubicBezTo>
                    <a:pt x="42" y="90"/>
                    <a:pt x="42" y="90"/>
                    <a:pt x="42" y="90"/>
                  </a:cubicBezTo>
                  <a:cubicBezTo>
                    <a:pt x="43" y="90"/>
                    <a:pt x="43" y="90"/>
                    <a:pt x="43" y="90"/>
                  </a:cubicBezTo>
                  <a:cubicBezTo>
                    <a:pt x="43" y="90"/>
                    <a:pt x="44" y="90"/>
                    <a:pt x="44" y="90"/>
                  </a:cubicBezTo>
                  <a:cubicBezTo>
                    <a:pt x="45" y="91"/>
                    <a:pt x="47" y="91"/>
                    <a:pt x="47" y="93"/>
                  </a:cubicBezTo>
                  <a:cubicBezTo>
                    <a:pt x="48" y="95"/>
                    <a:pt x="49" y="95"/>
                    <a:pt x="51" y="96"/>
                  </a:cubicBezTo>
                  <a:cubicBezTo>
                    <a:pt x="53" y="97"/>
                    <a:pt x="55" y="97"/>
                    <a:pt x="56" y="99"/>
                  </a:cubicBezTo>
                  <a:cubicBezTo>
                    <a:pt x="59" y="100"/>
                    <a:pt x="60" y="102"/>
                    <a:pt x="60" y="103"/>
                  </a:cubicBezTo>
                  <a:cubicBezTo>
                    <a:pt x="60" y="103"/>
                    <a:pt x="61" y="103"/>
                    <a:pt x="61" y="103"/>
                  </a:cubicBezTo>
                  <a:cubicBezTo>
                    <a:pt x="64" y="103"/>
                    <a:pt x="65" y="104"/>
                    <a:pt x="65" y="106"/>
                  </a:cubicBezTo>
                  <a:cubicBezTo>
                    <a:pt x="65" y="106"/>
                    <a:pt x="65" y="106"/>
                    <a:pt x="67" y="106"/>
                  </a:cubicBezTo>
                  <a:cubicBezTo>
                    <a:pt x="68" y="107"/>
                    <a:pt x="70" y="108"/>
                    <a:pt x="71" y="110"/>
                  </a:cubicBez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14" name="Freeform 11">
              <a:extLst>
                <a:ext uri="{FF2B5EF4-FFF2-40B4-BE49-F238E27FC236}">
                  <a16:creationId xmlns:a16="http://schemas.microsoft.com/office/drawing/2014/main" id="{2B21E5AE-396B-40AF-9CF4-4FAA02765169}"/>
                </a:ext>
              </a:extLst>
            </p:cNvPr>
            <p:cNvSpPr>
              <a:spLocks/>
            </p:cNvSpPr>
            <p:nvPr/>
          </p:nvSpPr>
          <p:spPr bwMode="auto">
            <a:xfrm>
              <a:off x="3757" y="1938"/>
              <a:ext cx="130" cy="183"/>
            </a:xfrm>
            <a:custGeom>
              <a:avLst/>
              <a:gdLst>
                <a:gd name="T0" fmla="*/ 62 w 76"/>
                <a:gd name="T1" fmla="*/ 8 h 106"/>
                <a:gd name="T2" fmla="*/ 73 w 76"/>
                <a:gd name="T3" fmla="*/ 32 h 106"/>
                <a:gd name="T4" fmla="*/ 70 w 76"/>
                <a:gd name="T5" fmla="*/ 32 h 106"/>
                <a:gd name="T6" fmla="*/ 60 w 76"/>
                <a:gd name="T7" fmla="*/ 11 h 106"/>
                <a:gd name="T8" fmla="*/ 37 w 76"/>
                <a:gd name="T9" fmla="*/ 3 h 106"/>
                <a:gd name="T10" fmla="*/ 14 w 76"/>
                <a:gd name="T11" fmla="*/ 9 h 106"/>
                <a:gd name="T12" fmla="*/ 5 w 76"/>
                <a:gd name="T13" fmla="*/ 25 h 106"/>
                <a:gd name="T14" fmla="*/ 17 w 76"/>
                <a:gd name="T15" fmla="*/ 41 h 106"/>
                <a:gd name="T16" fmla="*/ 38 w 76"/>
                <a:gd name="T17" fmla="*/ 48 h 106"/>
                <a:gd name="T18" fmla="*/ 64 w 76"/>
                <a:gd name="T19" fmla="*/ 57 h 106"/>
                <a:gd name="T20" fmla="*/ 76 w 76"/>
                <a:gd name="T21" fmla="*/ 78 h 106"/>
                <a:gd name="T22" fmla="*/ 65 w 76"/>
                <a:gd name="T23" fmla="*/ 99 h 106"/>
                <a:gd name="T24" fmla="*/ 38 w 76"/>
                <a:gd name="T25" fmla="*/ 106 h 106"/>
                <a:gd name="T26" fmla="*/ 12 w 76"/>
                <a:gd name="T27" fmla="*/ 97 h 106"/>
                <a:gd name="T28" fmla="*/ 0 w 76"/>
                <a:gd name="T29" fmla="*/ 70 h 106"/>
                <a:gd name="T30" fmla="*/ 3 w 76"/>
                <a:gd name="T31" fmla="*/ 70 h 106"/>
                <a:gd name="T32" fmla="*/ 14 w 76"/>
                <a:gd name="T33" fmla="*/ 94 h 106"/>
                <a:gd name="T34" fmla="*/ 38 w 76"/>
                <a:gd name="T35" fmla="*/ 102 h 106"/>
                <a:gd name="T36" fmla="*/ 63 w 76"/>
                <a:gd name="T37" fmla="*/ 96 h 106"/>
                <a:gd name="T38" fmla="*/ 72 w 76"/>
                <a:gd name="T39" fmla="*/ 78 h 106"/>
                <a:gd name="T40" fmla="*/ 61 w 76"/>
                <a:gd name="T41" fmla="*/ 60 h 106"/>
                <a:gd name="T42" fmla="*/ 37 w 76"/>
                <a:gd name="T43" fmla="*/ 51 h 106"/>
                <a:gd name="T44" fmla="*/ 14 w 76"/>
                <a:gd name="T45" fmla="*/ 44 h 106"/>
                <a:gd name="T46" fmla="*/ 2 w 76"/>
                <a:gd name="T47" fmla="*/ 25 h 106"/>
                <a:gd name="T48" fmla="*/ 13 w 76"/>
                <a:gd name="T49" fmla="*/ 6 h 106"/>
                <a:gd name="T50" fmla="*/ 37 w 76"/>
                <a:gd name="T51" fmla="*/ 0 h 106"/>
                <a:gd name="T52" fmla="*/ 62 w 76"/>
                <a:gd name="T53" fmla="*/ 8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6" h="106">
                  <a:moveTo>
                    <a:pt x="62" y="8"/>
                  </a:moveTo>
                  <a:cubicBezTo>
                    <a:pt x="69" y="14"/>
                    <a:pt x="72" y="22"/>
                    <a:pt x="73" y="32"/>
                  </a:cubicBezTo>
                  <a:cubicBezTo>
                    <a:pt x="70" y="32"/>
                    <a:pt x="70" y="32"/>
                    <a:pt x="70" y="32"/>
                  </a:cubicBezTo>
                  <a:cubicBezTo>
                    <a:pt x="69" y="23"/>
                    <a:pt x="66" y="16"/>
                    <a:pt x="60" y="11"/>
                  </a:cubicBezTo>
                  <a:cubicBezTo>
                    <a:pt x="55" y="6"/>
                    <a:pt x="47" y="3"/>
                    <a:pt x="37" y="3"/>
                  </a:cubicBezTo>
                  <a:cubicBezTo>
                    <a:pt x="27" y="3"/>
                    <a:pt x="20" y="5"/>
                    <a:pt x="14" y="9"/>
                  </a:cubicBezTo>
                  <a:cubicBezTo>
                    <a:pt x="8" y="12"/>
                    <a:pt x="5" y="18"/>
                    <a:pt x="5" y="25"/>
                  </a:cubicBezTo>
                  <a:cubicBezTo>
                    <a:pt x="5" y="32"/>
                    <a:pt x="9" y="37"/>
                    <a:pt x="17" y="41"/>
                  </a:cubicBezTo>
                  <a:cubicBezTo>
                    <a:pt x="20" y="43"/>
                    <a:pt x="27" y="45"/>
                    <a:pt x="38" y="48"/>
                  </a:cubicBezTo>
                  <a:cubicBezTo>
                    <a:pt x="50" y="51"/>
                    <a:pt x="59" y="54"/>
                    <a:pt x="64" y="57"/>
                  </a:cubicBezTo>
                  <a:cubicBezTo>
                    <a:pt x="72" y="62"/>
                    <a:pt x="76" y="69"/>
                    <a:pt x="76" y="78"/>
                  </a:cubicBezTo>
                  <a:cubicBezTo>
                    <a:pt x="76" y="87"/>
                    <a:pt x="72" y="94"/>
                    <a:pt x="65" y="99"/>
                  </a:cubicBezTo>
                  <a:cubicBezTo>
                    <a:pt x="58" y="103"/>
                    <a:pt x="49" y="106"/>
                    <a:pt x="38" y="106"/>
                  </a:cubicBezTo>
                  <a:cubicBezTo>
                    <a:pt x="27" y="106"/>
                    <a:pt x="18" y="103"/>
                    <a:pt x="12" y="97"/>
                  </a:cubicBezTo>
                  <a:cubicBezTo>
                    <a:pt x="5" y="91"/>
                    <a:pt x="1" y="82"/>
                    <a:pt x="0" y="70"/>
                  </a:cubicBezTo>
                  <a:cubicBezTo>
                    <a:pt x="3" y="70"/>
                    <a:pt x="3" y="70"/>
                    <a:pt x="3" y="70"/>
                  </a:cubicBezTo>
                  <a:cubicBezTo>
                    <a:pt x="4" y="81"/>
                    <a:pt x="8" y="89"/>
                    <a:pt x="14" y="94"/>
                  </a:cubicBezTo>
                  <a:cubicBezTo>
                    <a:pt x="20" y="100"/>
                    <a:pt x="28" y="102"/>
                    <a:pt x="38" y="102"/>
                  </a:cubicBezTo>
                  <a:cubicBezTo>
                    <a:pt x="48" y="102"/>
                    <a:pt x="56" y="100"/>
                    <a:pt x="63" y="96"/>
                  </a:cubicBezTo>
                  <a:cubicBezTo>
                    <a:pt x="69" y="91"/>
                    <a:pt x="72" y="86"/>
                    <a:pt x="72" y="78"/>
                  </a:cubicBezTo>
                  <a:cubicBezTo>
                    <a:pt x="72" y="70"/>
                    <a:pt x="69" y="64"/>
                    <a:pt x="61" y="60"/>
                  </a:cubicBezTo>
                  <a:cubicBezTo>
                    <a:pt x="57" y="57"/>
                    <a:pt x="49" y="54"/>
                    <a:pt x="37" y="51"/>
                  </a:cubicBezTo>
                  <a:cubicBezTo>
                    <a:pt x="25" y="48"/>
                    <a:pt x="18" y="46"/>
                    <a:pt x="14" y="44"/>
                  </a:cubicBezTo>
                  <a:cubicBezTo>
                    <a:pt x="6" y="39"/>
                    <a:pt x="2" y="33"/>
                    <a:pt x="2" y="25"/>
                  </a:cubicBezTo>
                  <a:cubicBezTo>
                    <a:pt x="2" y="17"/>
                    <a:pt x="6" y="10"/>
                    <a:pt x="13" y="6"/>
                  </a:cubicBezTo>
                  <a:cubicBezTo>
                    <a:pt x="19" y="2"/>
                    <a:pt x="27" y="0"/>
                    <a:pt x="37" y="0"/>
                  </a:cubicBezTo>
                  <a:cubicBezTo>
                    <a:pt x="48" y="0"/>
                    <a:pt x="56" y="3"/>
                    <a:pt x="62" y="8"/>
                  </a:cubicBez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2">
              <a:extLst>
                <a:ext uri="{FF2B5EF4-FFF2-40B4-BE49-F238E27FC236}">
                  <a16:creationId xmlns:a16="http://schemas.microsoft.com/office/drawing/2014/main" id="{FC456ECE-DD6A-4619-93C4-2C06F1931332}"/>
                </a:ext>
              </a:extLst>
            </p:cNvPr>
            <p:cNvSpPr>
              <a:spLocks/>
            </p:cNvSpPr>
            <p:nvPr/>
          </p:nvSpPr>
          <p:spPr bwMode="auto">
            <a:xfrm>
              <a:off x="3899" y="1942"/>
              <a:ext cx="96" cy="179"/>
            </a:xfrm>
            <a:custGeom>
              <a:avLst/>
              <a:gdLst>
                <a:gd name="T0" fmla="*/ 53 w 56"/>
                <a:gd name="T1" fmla="*/ 0 h 104"/>
                <a:gd name="T2" fmla="*/ 56 w 56"/>
                <a:gd name="T3" fmla="*/ 0 h 104"/>
                <a:gd name="T4" fmla="*/ 56 w 56"/>
                <a:gd name="T5" fmla="*/ 70 h 104"/>
                <a:gd name="T6" fmla="*/ 50 w 56"/>
                <a:gd name="T7" fmla="*/ 94 h 104"/>
                <a:gd name="T8" fmla="*/ 27 w 56"/>
                <a:gd name="T9" fmla="*/ 104 h 104"/>
                <a:gd name="T10" fmla="*/ 8 w 56"/>
                <a:gd name="T11" fmla="*/ 97 h 104"/>
                <a:gd name="T12" fmla="*/ 0 w 56"/>
                <a:gd name="T13" fmla="*/ 75 h 104"/>
                <a:gd name="T14" fmla="*/ 0 w 56"/>
                <a:gd name="T15" fmla="*/ 70 h 104"/>
                <a:gd name="T16" fmla="*/ 3 w 56"/>
                <a:gd name="T17" fmla="*/ 70 h 104"/>
                <a:gd name="T18" fmla="*/ 3 w 56"/>
                <a:gd name="T19" fmla="*/ 75 h 104"/>
                <a:gd name="T20" fmla="*/ 27 w 56"/>
                <a:gd name="T21" fmla="*/ 100 h 104"/>
                <a:gd name="T22" fmla="*/ 47 w 56"/>
                <a:gd name="T23" fmla="*/ 92 h 104"/>
                <a:gd name="T24" fmla="*/ 53 w 56"/>
                <a:gd name="T25" fmla="*/ 70 h 104"/>
                <a:gd name="T26" fmla="*/ 53 w 56"/>
                <a:gd name="T27"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6" h="104">
                  <a:moveTo>
                    <a:pt x="53" y="0"/>
                  </a:moveTo>
                  <a:cubicBezTo>
                    <a:pt x="56" y="0"/>
                    <a:pt x="56" y="0"/>
                    <a:pt x="56" y="0"/>
                  </a:cubicBezTo>
                  <a:cubicBezTo>
                    <a:pt x="56" y="70"/>
                    <a:pt x="56" y="70"/>
                    <a:pt x="56" y="70"/>
                  </a:cubicBezTo>
                  <a:cubicBezTo>
                    <a:pt x="56" y="80"/>
                    <a:pt x="54" y="88"/>
                    <a:pt x="50" y="94"/>
                  </a:cubicBezTo>
                  <a:cubicBezTo>
                    <a:pt x="45" y="100"/>
                    <a:pt x="37" y="104"/>
                    <a:pt x="27" y="104"/>
                  </a:cubicBezTo>
                  <a:cubicBezTo>
                    <a:pt x="19" y="104"/>
                    <a:pt x="12" y="101"/>
                    <a:pt x="8" y="97"/>
                  </a:cubicBezTo>
                  <a:cubicBezTo>
                    <a:pt x="2" y="92"/>
                    <a:pt x="0" y="84"/>
                    <a:pt x="0" y="75"/>
                  </a:cubicBezTo>
                  <a:cubicBezTo>
                    <a:pt x="0" y="70"/>
                    <a:pt x="0" y="70"/>
                    <a:pt x="0" y="70"/>
                  </a:cubicBezTo>
                  <a:cubicBezTo>
                    <a:pt x="3" y="70"/>
                    <a:pt x="3" y="70"/>
                    <a:pt x="3" y="70"/>
                  </a:cubicBezTo>
                  <a:cubicBezTo>
                    <a:pt x="3" y="75"/>
                    <a:pt x="3" y="75"/>
                    <a:pt x="3" y="75"/>
                  </a:cubicBezTo>
                  <a:cubicBezTo>
                    <a:pt x="3" y="92"/>
                    <a:pt x="11" y="100"/>
                    <a:pt x="27" y="100"/>
                  </a:cubicBezTo>
                  <a:cubicBezTo>
                    <a:pt x="36" y="100"/>
                    <a:pt x="43" y="97"/>
                    <a:pt x="47" y="92"/>
                  </a:cubicBezTo>
                  <a:cubicBezTo>
                    <a:pt x="51" y="87"/>
                    <a:pt x="53" y="80"/>
                    <a:pt x="53" y="70"/>
                  </a:cubicBezTo>
                  <a:lnTo>
                    <a:pt x="53" y="0"/>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13">
              <a:extLst>
                <a:ext uri="{FF2B5EF4-FFF2-40B4-BE49-F238E27FC236}">
                  <a16:creationId xmlns:a16="http://schemas.microsoft.com/office/drawing/2014/main" id="{517ABCCD-5B62-4773-BF0B-4B08A72ED8BA}"/>
                </a:ext>
              </a:extLst>
            </p:cNvPr>
            <p:cNvSpPr>
              <a:spLocks/>
            </p:cNvSpPr>
            <p:nvPr/>
          </p:nvSpPr>
          <p:spPr bwMode="auto">
            <a:xfrm>
              <a:off x="4019" y="1942"/>
              <a:ext cx="142" cy="175"/>
            </a:xfrm>
            <a:custGeom>
              <a:avLst/>
              <a:gdLst>
                <a:gd name="T0" fmla="*/ 0 w 142"/>
                <a:gd name="T1" fmla="*/ 0 h 175"/>
                <a:gd name="T2" fmla="*/ 142 w 142"/>
                <a:gd name="T3" fmla="*/ 0 h 175"/>
                <a:gd name="T4" fmla="*/ 142 w 142"/>
                <a:gd name="T5" fmla="*/ 5 h 175"/>
                <a:gd name="T6" fmla="*/ 73 w 142"/>
                <a:gd name="T7" fmla="*/ 5 h 175"/>
                <a:gd name="T8" fmla="*/ 73 w 142"/>
                <a:gd name="T9" fmla="*/ 175 h 175"/>
                <a:gd name="T10" fmla="*/ 68 w 142"/>
                <a:gd name="T11" fmla="*/ 175 h 175"/>
                <a:gd name="T12" fmla="*/ 68 w 142"/>
                <a:gd name="T13" fmla="*/ 5 h 175"/>
                <a:gd name="T14" fmla="*/ 0 w 142"/>
                <a:gd name="T15" fmla="*/ 5 h 175"/>
                <a:gd name="T16" fmla="*/ 0 w 142"/>
                <a:gd name="T17" fmla="*/ 0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75">
                  <a:moveTo>
                    <a:pt x="0" y="0"/>
                  </a:moveTo>
                  <a:lnTo>
                    <a:pt x="142" y="0"/>
                  </a:lnTo>
                  <a:lnTo>
                    <a:pt x="142" y="5"/>
                  </a:lnTo>
                  <a:lnTo>
                    <a:pt x="73" y="5"/>
                  </a:lnTo>
                  <a:lnTo>
                    <a:pt x="73" y="175"/>
                  </a:lnTo>
                  <a:lnTo>
                    <a:pt x="68" y="175"/>
                  </a:lnTo>
                  <a:lnTo>
                    <a:pt x="68" y="5"/>
                  </a:lnTo>
                  <a:lnTo>
                    <a:pt x="0" y="5"/>
                  </a:lnTo>
                  <a:lnTo>
                    <a:pt x="0" y="0"/>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14">
              <a:extLst>
                <a:ext uri="{FF2B5EF4-FFF2-40B4-BE49-F238E27FC236}">
                  <a16:creationId xmlns:a16="http://schemas.microsoft.com/office/drawing/2014/main" id="{07EA4914-AC74-4EB8-9118-98D991690FD1}"/>
                </a:ext>
              </a:extLst>
            </p:cNvPr>
            <p:cNvSpPr>
              <a:spLocks/>
            </p:cNvSpPr>
            <p:nvPr/>
          </p:nvSpPr>
          <p:spPr bwMode="auto">
            <a:xfrm>
              <a:off x="4183" y="1942"/>
              <a:ext cx="130" cy="179"/>
            </a:xfrm>
            <a:custGeom>
              <a:avLst/>
              <a:gdLst>
                <a:gd name="T0" fmla="*/ 0 w 76"/>
                <a:gd name="T1" fmla="*/ 0 h 104"/>
                <a:gd name="T2" fmla="*/ 4 w 76"/>
                <a:gd name="T3" fmla="*/ 0 h 104"/>
                <a:gd name="T4" fmla="*/ 4 w 76"/>
                <a:gd name="T5" fmla="*/ 62 h 104"/>
                <a:gd name="T6" fmla="*/ 12 w 76"/>
                <a:gd name="T7" fmla="*/ 90 h 104"/>
                <a:gd name="T8" fmla="*/ 38 w 76"/>
                <a:gd name="T9" fmla="*/ 100 h 104"/>
                <a:gd name="T10" fmla="*/ 65 w 76"/>
                <a:gd name="T11" fmla="*/ 90 h 104"/>
                <a:gd name="T12" fmla="*/ 73 w 76"/>
                <a:gd name="T13" fmla="*/ 62 h 104"/>
                <a:gd name="T14" fmla="*/ 73 w 76"/>
                <a:gd name="T15" fmla="*/ 0 h 104"/>
                <a:gd name="T16" fmla="*/ 76 w 76"/>
                <a:gd name="T17" fmla="*/ 0 h 104"/>
                <a:gd name="T18" fmla="*/ 76 w 76"/>
                <a:gd name="T19" fmla="*/ 62 h 104"/>
                <a:gd name="T20" fmla="*/ 68 w 76"/>
                <a:gd name="T21" fmla="*/ 92 h 104"/>
                <a:gd name="T22" fmla="*/ 38 w 76"/>
                <a:gd name="T23" fmla="*/ 104 h 104"/>
                <a:gd name="T24" fmla="*/ 9 w 76"/>
                <a:gd name="T25" fmla="*/ 92 h 104"/>
                <a:gd name="T26" fmla="*/ 0 w 76"/>
                <a:gd name="T27" fmla="*/ 62 h 104"/>
                <a:gd name="T28" fmla="*/ 0 w 76"/>
                <a:gd name="T29"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6" h="104">
                  <a:moveTo>
                    <a:pt x="0" y="0"/>
                  </a:moveTo>
                  <a:cubicBezTo>
                    <a:pt x="4" y="0"/>
                    <a:pt x="4" y="0"/>
                    <a:pt x="4" y="0"/>
                  </a:cubicBezTo>
                  <a:cubicBezTo>
                    <a:pt x="4" y="62"/>
                    <a:pt x="4" y="62"/>
                    <a:pt x="4" y="62"/>
                  </a:cubicBezTo>
                  <a:cubicBezTo>
                    <a:pt x="4" y="74"/>
                    <a:pt x="6" y="83"/>
                    <a:pt x="12" y="90"/>
                  </a:cubicBezTo>
                  <a:cubicBezTo>
                    <a:pt x="17" y="97"/>
                    <a:pt x="26" y="100"/>
                    <a:pt x="38" y="100"/>
                  </a:cubicBezTo>
                  <a:cubicBezTo>
                    <a:pt x="50" y="100"/>
                    <a:pt x="59" y="97"/>
                    <a:pt x="65" y="90"/>
                  </a:cubicBezTo>
                  <a:cubicBezTo>
                    <a:pt x="70" y="83"/>
                    <a:pt x="73" y="74"/>
                    <a:pt x="73" y="62"/>
                  </a:cubicBezTo>
                  <a:cubicBezTo>
                    <a:pt x="73" y="0"/>
                    <a:pt x="73" y="0"/>
                    <a:pt x="73" y="0"/>
                  </a:cubicBezTo>
                  <a:cubicBezTo>
                    <a:pt x="76" y="0"/>
                    <a:pt x="76" y="0"/>
                    <a:pt x="76" y="0"/>
                  </a:cubicBezTo>
                  <a:cubicBezTo>
                    <a:pt x="76" y="62"/>
                    <a:pt x="76" y="62"/>
                    <a:pt x="76" y="62"/>
                  </a:cubicBezTo>
                  <a:cubicBezTo>
                    <a:pt x="76" y="75"/>
                    <a:pt x="73" y="85"/>
                    <a:pt x="68" y="92"/>
                  </a:cubicBezTo>
                  <a:cubicBezTo>
                    <a:pt x="61" y="100"/>
                    <a:pt x="52" y="104"/>
                    <a:pt x="38" y="104"/>
                  </a:cubicBezTo>
                  <a:cubicBezTo>
                    <a:pt x="25" y="104"/>
                    <a:pt x="15" y="100"/>
                    <a:pt x="9" y="92"/>
                  </a:cubicBezTo>
                  <a:cubicBezTo>
                    <a:pt x="3" y="85"/>
                    <a:pt x="0" y="75"/>
                    <a:pt x="0" y="62"/>
                  </a:cubicBezTo>
                  <a:lnTo>
                    <a:pt x="0" y="0"/>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cxnSp>
        <p:nvCxnSpPr>
          <p:cNvPr id="18" name="直接连接符 17">
            <a:extLst>
              <a:ext uri="{FF2B5EF4-FFF2-40B4-BE49-F238E27FC236}">
                <a16:creationId xmlns:a16="http://schemas.microsoft.com/office/drawing/2014/main" id="{C4FDD588-6689-4C92-A238-94D5AB9E6310}"/>
              </a:ext>
            </a:extLst>
          </p:cNvPr>
          <p:cNvCxnSpPr>
            <a:cxnSpLocks/>
            <a:stCxn id="10" idx="36"/>
          </p:cNvCxnSpPr>
          <p:nvPr/>
        </p:nvCxnSpPr>
        <p:spPr>
          <a:xfrm flipH="1" flipV="1">
            <a:off x="6" y="672215"/>
            <a:ext cx="9605838" cy="786"/>
          </a:xfrm>
          <a:prstGeom prst="line">
            <a:avLst/>
          </a:prstGeom>
          <a:ln w="25400"/>
        </p:spPr>
        <p:style>
          <a:lnRef idx="1">
            <a:schemeClr val="accent1"/>
          </a:lnRef>
          <a:fillRef idx="0">
            <a:schemeClr val="accent1"/>
          </a:fillRef>
          <a:effectRef idx="0">
            <a:schemeClr val="accent1"/>
          </a:effectRef>
          <a:fontRef idx="minor">
            <a:schemeClr val="tx1"/>
          </a:fontRef>
        </p:style>
      </p:cxnSp>
      <p:pic>
        <p:nvPicPr>
          <p:cNvPr id="19" name="图片 18" descr="文本&#10;&#10;中度可信度描述已自动生成">
            <a:extLst>
              <a:ext uri="{FF2B5EF4-FFF2-40B4-BE49-F238E27FC236}">
                <a16:creationId xmlns:a16="http://schemas.microsoft.com/office/drawing/2014/main" id="{3D26FA95-DC57-4F76-B973-3EAC95F1D93B}"/>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0" y="6296878"/>
            <a:ext cx="1706880" cy="561122"/>
          </a:xfrm>
          <a:prstGeom prst="rect">
            <a:avLst/>
          </a:prstGeom>
        </p:spPr>
      </p:pic>
      <p:sp>
        <p:nvSpPr>
          <p:cNvPr id="2" name="标题 1">
            <a:extLst>
              <a:ext uri="{FF2B5EF4-FFF2-40B4-BE49-F238E27FC236}">
                <a16:creationId xmlns:a16="http://schemas.microsoft.com/office/drawing/2014/main" id="{BA289117-A229-429C-9C25-E8A79F911657}"/>
              </a:ext>
            </a:extLst>
          </p:cNvPr>
          <p:cNvSpPr>
            <a:spLocks noGrp="1"/>
          </p:cNvSpPr>
          <p:nvPr>
            <p:ph type="ctrTitle"/>
          </p:nvPr>
        </p:nvSpPr>
        <p:spPr>
          <a:xfrm>
            <a:off x="495300" y="886913"/>
            <a:ext cx="11201400" cy="2069647"/>
          </a:xfrm>
        </p:spPr>
        <p:txBody>
          <a:bodyPr/>
          <a:lstStyle/>
          <a:p>
            <a:r>
              <a:rPr lang="zh-CN" altLang="en-US" sz="5400" dirty="0">
                <a:solidFill>
                  <a:schemeClr val="bg1"/>
                </a:solidFill>
              </a:rPr>
              <a:t>大气污染影响下长三角光伏发电损失的时空演变与驱动归因</a:t>
            </a:r>
          </a:p>
        </p:txBody>
      </p:sp>
      <p:sp>
        <p:nvSpPr>
          <p:cNvPr id="3" name="副标题 2">
            <a:extLst>
              <a:ext uri="{FF2B5EF4-FFF2-40B4-BE49-F238E27FC236}">
                <a16:creationId xmlns:a16="http://schemas.microsoft.com/office/drawing/2014/main" id="{1A06ED05-D9D7-4C83-BAA0-E63018468C58}"/>
              </a:ext>
            </a:extLst>
          </p:cNvPr>
          <p:cNvSpPr>
            <a:spLocks noGrp="1"/>
          </p:cNvSpPr>
          <p:nvPr>
            <p:ph type="subTitle" idx="1"/>
          </p:nvPr>
        </p:nvSpPr>
        <p:spPr>
          <a:xfrm>
            <a:off x="482600" y="3602038"/>
            <a:ext cx="11214100" cy="680402"/>
          </a:xfrm>
        </p:spPr>
        <p:txBody>
          <a:bodyPr>
            <a:normAutofit/>
          </a:bodyPr>
          <a:lstStyle/>
          <a:p>
            <a:r>
              <a:rPr lang="zh-CN" altLang="en-US" sz="3600" dirty="0"/>
              <a:t>汇报人：姚飞</a:t>
            </a:r>
          </a:p>
        </p:txBody>
      </p:sp>
      <p:sp>
        <p:nvSpPr>
          <p:cNvPr id="20" name="副标题 2">
            <a:extLst>
              <a:ext uri="{FF2B5EF4-FFF2-40B4-BE49-F238E27FC236}">
                <a16:creationId xmlns:a16="http://schemas.microsoft.com/office/drawing/2014/main" id="{696B4ACD-1533-42C8-9F09-33877C860CEF}"/>
              </a:ext>
            </a:extLst>
          </p:cNvPr>
          <p:cNvSpPr txBox="1">
            <a:spLocks/>
          </p:cNvSpPr>
          <p:nvPr/>
        </p:nvSpPr>
        <p:spPr>
          <a:xfrm>
            <a:off x="495300" y="4290596"/>
            <a:ext cx="11214100" cy="6804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sz="3600" dirty="0"/>
              <a:t>2026</a:t>
            </a:r>
            <a:r>
              <a:rPr lang="zh-CN" altLang="en-US" sz="3600" dirty="0"/>
              <a:t>年</a:t>
            </a:r>
            <a:r>
              <a:rPr lang="en-US" altLang="zh-CN" sz="3600" dirty="0"/>
              <a:t>10</a:t>
            </a:r>
            <a:r>
              <a:rPr lang="zh-CN" altLang="en-US" sz="3600" dirty="0"/>
              <a:t>月</a:t>
            </a:r>
            <a:r>
              <a:rPr lang="en-US" altLang="zh-CN" sz="3600" dirty="0"/>
              <a:t>27</a:t>
            </a:r>
            <a:r>
              <a:rPr lang="zh-CN" altLang="en-US" sz="3600" dirty="0"/>
              <a:t>日</a:t>
            </a:r>
          </a:p>
        </p:txBody>
      </p:sp>
      <p:sp>
        <p:nvSpPr>
          <p:cNvPr id="21" name="文本框 20">
            <a:extLst>
              <a:ext uri="{FF2B5EF4-FFF2-40B4-BE49-F238E27FC236}">
                <a16:creationId xmlns:a16="http://schemas.microsoft.com/office/drawing/2014/main" id="{84390B51-5C40-4F8D-9C54-BC459B180459}"/>
              </a:ext>
            </a:extLst>
          </p:cNvPr>
          <p:cNvSpPr txBox="1"/>
          <p:nvPr/>
        </p:nvSpPr>
        <p:spPr>
          <a:xfrm>
            <a:off x="0" y="283509"/>
            <a:ext cx="6458948" cy="400110"/>
          </a:xfrm>
          <a:prstGeom prst="rect">
            <a:avLst/>
          </a:prstGeom>
          <a:noFill/>
        </p:spPr>
        <p:txBody>
          <a:bodyPr wrap="none" rtlCol="0">
            <a:spAutoFit/>
          </a:bodyPr>
          <a:lstStyle/>
          <a:p>
            <a:r>
              <a:rPr lang="en-US" altLang="zh-CN" sz="2000" b="1" dirty="0"/>
              <a:t>2026</a:t>
            </a:r>
            <a:r>
              <a:rPr lang="zh-CN" altLang="en-US" sz="2000" b="1" dirty="0"/>
              <a:t>年度上海市白玉兰人才计划浦江项目（</a:t>
            </a:r>
            <a:r>
              <a:rPr lang="en-US" altLang="zh-CN" sz="2000" b="1" dirty="0"/>
              <a:t> A</a:t>
            </a:r>
            <a:r>
              <a:rPr lang="zh-CN" altLang="en-US" sz="2000" b="1" dirty="0"/>
              <a:t>类）答辩</a:t>
            </a:r>
          </a:p>
        </p:txBody>
      </p:sp>
    </p:spTree>
    <p:extLst>
      <p:ext uri="{BB962C8B-B14F-4D97-AF65-F5344CB8AC3E}">
        <p14:creationId xmlns:p14="http://schemas.microsoft.com/office/powerpoint/2010/main" val="2554813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0B1EE-F2B5-F8A4-E37D-D9694E17566D}"/>
              </a:ext>
            </a:extLst>
          </p:cNvPr>
          <p:cNvSpPr>
            <a:spLocks noGrp="1"/>
          </p:cNvSpPr>
          <p:nvPr>
            <p:ph type="title"/>
          </p:nvPr>
        </p:nvSpPr>
        <p:spPr/>
        <p:txBody>
          <a:bodyPr/>
          <a:lstStyle/>
          <a:p>
            <a:r>
              <a:rPr lang="en-CN" dirty="0"/>
              <a:t>教育及科研工作经历</a:t>
            </a:r>
          </a:p>
        </p:txBody>
      </p:sp>
      <p:sp>
        <p:nvSpPr>
          <p:cNvPr id="3" name="Slide Number Placeholder 2">
            <a:extLst>
              <a:ext uri="{FF2B5EF4-FFF2-40B4-BE49-F238E27FC236}">
                <a16:creationId xmlns:a16="http://schemas.microsoft.com/office/drawing/2014/main" id="{A540FF04-481A-3726-B2AE-17BBE25C8A71}"/>
              </a:ext>
            </a:extLst>
          </p:cNvPr>
          <p:cNvSpPr>
            <a:spLocks noGrp="1"/>
          </p:cNvSpPr>
          <p:nvPr>
            <p:ph type="sldNum" sz="quarter" idx="12"/>
          </p:nvPr>
        </p:nvSpPr>
        <p:spPr/>
        <p:txBody>
          <a:bodyPr/>
          <a:lstStyle/>
          <a:p>
            <a:fld id="{3ACD1EC8-6F57-41A7-99F1-FEDB2874BA2B}" type="slidenum">
              <a:rPr lang="zh-CN" altLang="en-US" smtClean="0"/>
              <a:t>2</a:t>
            </a:fld>
            <a:endParaRPr lang="zh-CN" altLang="en-US"/>
          </a:p>
        </p:txBody>
      </p:sp>
      <p:grpSp>
        <p:nvGrpSpPr>
          <p:cNvPr id="35" name="Group 34">
            <a:extLst>
              <a:ext uri="{FF2B5EF4-FFF2-40B4-BE49-F238E27FC236}">
                <a16:creationId xmlns:a16="http://schemas.microsoft.com/office/drawing/2014/main" id="{41FFA4DD-7198-CD0E-E086-440D262CA1FF}"/>
              </a:ext>
            </a:extLst>
          </p:cNvPr>
          <p:cNvGrpSpPr/>
          <p:nvPr/>
        </p:nvGrpSpPr>
        <p:grpSpPr>
          <a:xfrm>
            <a:off x="125296" y="1050966"/>
            <a:ext cx="12215654" cy="4575479"/>
            <a:chOff x="442307" y="1315722"/>
            <a:chExt cx="12105440" cy="4534196"/>
          </a:xfrm>
        </p:grpSpPr>
        <p:sp>
          <p:nvSpPr>
            <p:cNvPr id="36" name="Notched Right Arrow 35">
              <a:extLst>
                <a:ext uri="{FF2B5EF4-FFF2-40B4-BE49-F238E27FC236}">
                  <a16:creationId xmlns:a16="http://schemas.microsoft.com/office/drawing/2014/main" id="{61D40990-8F57-5D70-9C89-5042878C2362}"/>
                </a:ext>
              </a:extLst>
            </p:cNvPr>
            <p:cNvSpPr/>
            <p:nvPr/>
          </p:nvSpPr>
          <p:spPr>
            <a:xfrm>
              <a:off x="442307" y="3069000"/>
              <a:ext cx="11833667" cy="720000"/>
            </a:xfrm>
            <a:prstGeom prst="notchedRightArrow">
              <a:avLst/>
            </a:prstGeom>
            <a:gradFill flip="none" rotWithShape="1">
              <a:gsLst>
                <a:gs pos="0">
                  <a:srgbClr val="4472C4">
                    <a:lumMod val="67000"/>
                  </a:srgbClr>
                </a:gs>
                <a:gs pos="48000">
                  <a:srgbClr val="4472C4">
                    <a:lumMod val="97000"/>
                    <a:lumOff val="3000"/>
                  </a:srgbClr>
                </a:gs>
                <a:gs pos="100000">
                  <a:srgbClr val="4472C4">
                    <a:lumMod val="60000"/>
                    <a:lumOff val="40000"/>
                  </a:srgbClr>
                </a:gs>
              </a:gsLst>
              <a:lin ang="10800000" scaled="1"/>
              <a:tileRect/>
            </a:gradFill>
            <a:ln>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Calibri"/>
                <a:ea typeface="+mn-ea"/>
                <a:cs typeface="+mn-cs"/>
              </a:endParaRPr>
            </a:p>
          </p:txBody>
        </p:sp>
        <p:grpSp>
          <p:nvGrpSpPr>
            <p:cNvPr id="37" name="Group 36">
              <a:extLst>
                <a:ext uri="{FF2B5EF4-FFF2-40B4-BE49-F238E27FC236}">
                  <a16:creationId xmlns:a16="http://schemas.microsoft.com/office/drawing/2014/main" id="{66B12BA0-0888-E9FF-8B07-60B6BA7655FA}"/>
                </a:ext>
              </a:extLst>
            </p:cNvPr>
            <p:cNvGrpSpPr/>
            <p:nvPr/>
          </p:nvGrpSpPr>
          <p:grpSpPr>
            <a:xfrm>
              <a:off x="1579537" y="1315722"/>
              <a:ext cx="2583044" cy="2340487"/>
              <a:chOff x="1579537" y="1315722"/>
              <a:chExt cx="2583044" cy="2340487"/>
            </a:xfrm>
          </p:grpSpPr>
          <p:sp>
            <p:nvSpPr>
              <p:cNvPr id="59" name="Oval 58">
                <a:extLst>
                  <a:ext uri="{FF2B5EF4-FFF2-40B4-BE49-F238E27FC236}">
                    <a16:creationId xmlns:a16="http://schemas.microsoft.com/office/drawing/2014/main" id="{11134FD8-2EA1-066E-4F94-4BE9526BB799}"/>
                  </a:ext>
                </a:extLst>
              </p:cNvPr>
              <p:cNvSpPr/>
              <p:nvPr/>
            </p:nvSpPr>
            <p:spPr>
              <a:xfrm>
                <a:off x="1579537" y="3203905"/>
                <a:ext cx="452304" cy="452304"/>
              </a:xfrm>
              <a:prstGeom prst="ellipse">
                <a:avLst/>
              </a:prstGeom>
              <a:noFill/>
              <a:ln w="76200" cap="flat" cmpd="sng" algn="ctr">
                <a:solidFill>
                  <a:sysClr val="window" lastClr="FFFFFF"/>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nvGrpSpPr>
              <p:cNvPr id="60" name="Group 59">
                <a:extLst>
                  <a:ext uri="{FF2B5EF4-FFF2-40B4-BE49-F238E27FC236}">
                    <a16:creationId xmlns:a16="http://schemas.microsoft.com/office/drawing/2014/main" id="{0F5870F2-F332-9601-D7CD-F8FF22789DE8}"/>
                  </a:ext>
                </a:extLst>
              </p:cNvPr>
              <p:cNvGrpSpPr/>
              <p:nvPr/>
            </p:nvGrpSpPr>
            <p:grpSpPr>
              <a:xfrm>
                <a:off x="1805689" y="1315722"/>
                <a:ext cx="2356892" cy="1888183"/>
                <a:chOff x="1805689" y="1315722"/>
                <a:chExt cx="2356892" cy="1888183"/>
              </a:xfrm>
            </p:grpSpPr>
            <p:cxnSp>
              <p:nvCxnSpPr>
                <p:cNvPr id="61" name="Straight Connector 60">
                  <a:extLst>
                    <a:ext uri="{FF2B5EF4-FFF2-40B4-BE49-F238E27FC236}">
                      <a16:creationId xmlns:a16="http://schemas.microsoft.com/office/drawing/2014/main" id="{3AA08A8C-9E6A-3EB4-DE6D-37C57E73B375}"/>
                    </a:ext>
                  </a:extLst>
                </p:cNvPr>
                <p:cNvCxnSpPr>
                  <a:cxnSpLocks/>
                  <a:stCxn id="59" idx="0"/>
                </p:cNvCxnSpPr>
                <p:nvPr/>
              </p:nvCxnSpPr>
              <p:spPr>
                <a:xfrm flipV="1">
                  <a:off x="1805689" y="1403905"/>
                  <a:ext cx="0" cy="1800000"/>
                </a:xfrm>
                <a:prstGeom prst="line">
                  <a:avLst/>
                </a:prstGeom>
                <a:noFill/>
                <a:ln w="38100" cap="flat" cmpd="sng" algn="ctr">
                  <a:gradFill flip="none" rotWithShape="1">
                    <a:gsLst>
                      <a:gs pos="0">
                        <a:srgbClr val="4472C4">
                          <a:lumMod val="0"/>
                          <a:lumOff val="100000"/>
                        </a:srgbClr>
                      </a:gs>
                      <a:gs pos="35000">
                        <a:srgbClr val="4472C4">
                          <a:lumMod val="0"/>
                          <a:lumOff val="100000"/>
                        </a:srgbClr>
                      </a:gs>
                      <a:gs pos="100000">
                        <a:srgbClr val="4472C4">
                          <a:lumMod val="100000"/>
                        </a:srgbClr>
                      </a:gs>
                    </a:gsLst>
                    <a:path path="circle">
                      <a:fillToRect l="50000" t="-80000" r="50000" b="180000"/>
                    </a:path>
                    <a:tileRect/>
                  </a:gradFill>
                  <a:prstDash val="solid"/>
                  <a:miter lim="800000"/>
                </a:ln>
                <a:effectLst/>
              </p:spPr>
            </p:cxnSp>
            <p:grpSp>
              <p:nvGrpSpPr>
                <p:cNvPr id="62" name="Group 61">
                  <a:extLst>
                    <a:ext uri="{FF2B5EF4-FFF2-40B4-BE49-F238E27FC236}">
                      <a16:creationId xmlns:a16="http://schemas.microsoft.com/office/drawing/2014/main" id="{7AE19BD7-998F-EE01-FDF4-A975BEB6B17E}"/>
                    </a:ext>
                  </a:extLst>
                </p:cNvPr>
                <p:cNvGrpSpPr/>
                <p:nvPr/>
              </p:nvGrpSpPr>
              <p:grpSpPr>
                <a:xfrm>
                  <a:off x="1850354" y="1315722"/>
                  <a:ext cx="2312227" cy="1140156"/>
                  <a:chOff x="1850354" y="1315722"/>
                  <a:chExt cx="2312227" cy="1140156"/>
                </a:xfrm>
              </p:grpSpPr>
              <p:sp>
                <p:nvSpPr>
                  <p:cNvPr id="63" name="文本框 25">
                    <a:extLst>
                      <a:ext uri="{FF2B5EF4-FFF2-40B4-BE49-F238E27FC236}">
                        <a16:creationId xmlns:a16="http://schemas.microsoft.com/office/drawing/2014/main" id="{780EA437-9EDB-1700-B423-4EB8851645D3}"/>
                      </a:ext>
                    </a:extLst>
                  </p:cNvPr>
                  <p:cNvSpPr txBox="1"/>
                  <p:nvPr>
                    <p:custDataLst>
                      <p:tags r:id="rId7"/>
                    </p:custDataLst>
                  </p:nvPr>
                </p:nvSpPr>
                <p:spPr>
                  <a:xfrm>
                    <a:off x="1850354" y="1315722"/>
                    <a:ext cx="1847790" cy="457500"/>
                  </a:xfrm>
                  <a:prstGeom prst="rect">
                    <a:avLst/>
                  </a:prstGeom>
                  <a:noFill/>
                </p:spPr>
                <p:txBody>
                  <a:bodyPr wrap="none"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24DA2"/>
                        </a:solidFill>
                        <a:effectLst/>
                        <a:uLnTx/>
                        <a:uFillTx/>
                        <a:cs typeface="+mn-ea"/>
                        <a:sym typeface="+mn-lt"/>
                      </a:rPr>
                      <a:t>2011</a:t>
                    </a:r>
                    <a:r>
                      <a:rPr kumimoji="0" lang="zh-CN" altLang="en-US" sz="2400" b="0" i="0" u="none" strike="noStrike" kern="0" cap="none" spc="0" normalizeH="0" baseline="0" noProof="0" dirty="0">
                        <a:ln>
                          <a:noFill/>
                        </a:ln>
                        <a:solidFill>
                          <a:srgbClr val="024DA2"/>
                        </a:solidFill>
                        <a:effectLst/>
                        <a:uLnTx/>
                        <a:uFillTx/>
                        <a:cs typeface="+mn-ea"/>
                        <a:sym typeface="+mn-lt"/>
                      </a:rPr>
                      <a:t>～</a:t>
                    </a:r>
                    <a:r>
                      <a:rPr kumimoji="0" lang="en-US" altLang="zh-CN" sz="2400" b="0" i="0" u="none" strike="noStrike" kern="0" cap="none" spc="0" normalizeH="0" baseline="0" noProof="0" dirty="0">
                        <a:ln>
                          <a:noFill/>
                        </a:ln>
                        <a:solidFill>
                          <a:srgbClr val="024DA2"/>
                        </a:solidFill>
                        <a:effectLst/>
                        <a:uLnTx/>
                        <a:uFillTx/>
                        <a:cs typeface="+mn-ea"/>
                        <a:sym typeface="+mn-lt"/>
                      </a:rPr>
                      <a:t>2015</a:t>
                    </a:r>
                  </a:p>
                </p:txBody>
              </p:sp>
              <p:sp>
                <p:nvSpPr>
                  <p:cNvPr id="64" name="矩形 22">
                    <a:extLst>
                      <a:ext uri="{FF2B5EF4-FFF2-40B4-BE49-F238E27FC236}">
                        <a16:creationId xmlns:a16="http://schemas.microsoft.com/office/drawing/2014/main" id="{9B219D2C-47D2-6F8D-19D6-8B8BC46DA1C2}"/>
                      </a:ext>
                    </a:extLst>
                  </p:cNvPr>
                  <p:cNvSpPr/>
                  <p:nvPr>
                    <p:custDataLst>
                      <p:tags r:id="rId8"/>
                    </p:custDataLst>
                  </p:nvPr>
                </p:nvSpPr>
                <p:spPr>
                  <a:xfrm>
                    <a:off x="1850354" y="1754379"/>
                    <a:ext cx="2312227" cy="701499"/>
                  </a:xfrm>
                  <a:prstGeom prst="rect">
                    <a:avLst/>
                  </a:prstGeom>
                </p:spPr>
                <p:txBody>
                  <a:bodyPr wrap="squar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srgbClr val="024DA2"/>
                        </a:solidFill>
                        <a:effectLst/>
                        <a:uLnTx/>
                        <a:uFillTx/>
                        <a:cs typeface="+mn-ea"/>
                        <a:sym typeface="+mn-lt"/>
                      </a:rPr>
                      <a:t>华东师范大学本科</a:t>
                    </a:r>
                    <a:endParaRPr kumimoji="0" lang="en-US" altLang="zh-CN" sz="2000" b="0" i="0" u="none" strike="noStrike" kern="0" cap="none" spc="0" normalizeH="0" baseline="0" noProof="0" dirty="0">
                      <a:ln>
                        <a:noFill/>
                      </a:ln>
                      <a:solidFill>
                        <a:srgbClr val="024DA2"/>
                      </a:solidFill>
                      <a:effectLst/>
                      <a:uLnTx/>
                      <a:uFillTx/>
                      <a:cs typeface="+mn-ea"/>
                      <a:sym typeface="+mn-lt"/>
                    </a:endParaRPr>
                  </a:p>
                  <a:p>
                    <a:pPr marL="0" marR="0" lvl="0" indent="0" defTabSz="914400" eaLnBrk="1" fontAlgn="auto" latinLnBrk="0" hangingPunct="1">
                      <a:lnSpc>
                        <a:spcPct val="100000"/>
                      </a:lnSpc>
                      <a:spcBef>
                        <a:spcPts val="0"/>
                      </a:spcBef>
                      <a:spcAft>
                        <a:spcPts val="0"/>
                      </a:spcAft>
                      <a:buClrTx/>
                      <a:buSzTx/>
                      <a:buFontTx/>
                      <a:buNone/>
                      <a:tabLst/>
                      <a:defRPr/>
                    </a:pPr>
                    <a:r>
                      <a:rPr lang="zh-CN" altLang="en-US" sz="2000" kern="0" dirty="0">
                        <a:solidFill>
                          <a:srgbClr val="024DA2"/>
                        </a:solidFill>
                        <a:cs typeface="+mn-ea"/>
                        <a:sym typeface="+mn-lt"/>
                      </a:rPr>
                      <a:t>地理信息系统专业</a:t>
                    </a:r>
                    <a:endParaRPr kumimoji="0" lang="en-US" altLang="zh-CN" sz="2000" b="0" i="0" u="none" strike="noStrike" kern="0" cap="none" spc="0" normalizeH="0" baseline="0" noProof="0" dirty="0">
                      <a:ln>
                        <a:noFill/>
                      </a:ln>
                      <a:solidFill>
                        <a:srgbClr val="024DA2"/>
                      </a:solidFill>
                      <a:effectLst/>
                      <a:uLnTx/>
                      <a:uFillTx/>
                      <a:cs typeface="+mn-ea"/>
                      <a:sym typeface="+mn-lt"/>
                    </a:endParaRPr>
                  </a:p>
                </p:txBody>
              </p:sp>
            </p:grpSp>
          </p:grpSp>
        </p:grpSp>
        <p:grpSp>
          <p:nvGrpSpPr>
            <p:cNvPr id="38" name="Group 37">
              <a:extLst>
                <a:ext uri="{FF2B5EF4-FFF2-40B4-BE49-F238E27FC236}">
                  <a16:creationId xmlns:a16="http://schemas.microsoft.com/office/drawing/2014/main" id="{F108C3CF-B528-1813-FFBA-6C040F11DA10}"/>
                </a:ext>
              </a:extLst>
            </p:cNvPr>
            <p:cNvGrpSpPr/>
            <p:nvPr/>
          </p:nvGrpSpPr>
          <p:grpSpPr>
            <a:xfrm>
              <a:off x="8765437" y="3203905"/>
              <a:ext cx="3140602" cy="2646013"/>
              <a:chOff x="8765437" y="3203905"/>
              <a:chExt cx="3140602" cy="2646013"/>
            </a:xfrm>
          </p:grpSpPr>
          <p:grpSp>
            <p:nvGrpSpPr>
              <p:cNvPr id="53" name="Group 52">
                <a:extLst>
                  <a:ext uri="{FF2B5EF4-FFF2-40B4-BE49-F238E27FC236}">
                    <a16:creationId xmlns:a16="http://schemas.microsoft.com/office/drawing/2014/main" id="{5138B35B-CF25-E920-B2B1-EA346A6F0653}"/>
                  </a:ext>
                </a:extLst>
              </p:cNvPr>
              <p:cNvGrpSpPr/>
              <p:nvPr/>
            </p:nvGrpSpPr>
            <p:grpSpPr>
              <a:xfrm>
                <a:off x="8991589" y="3656209"/>
                <a:ext cx="2914450" cy="2193709"/>
                <a:chOff x="10394601" y="3656209"/>
                <a:chExt cx="2914450" cy="2193709"/>
              </a:xfrm>
            </p:grpSpPr>
            <p:cxnSp>
              <p:nvCxnSpPr>
                <p:cNvPr id="55" name="Straight Connector 54">
                  <a:extLst>
                    <a:ext uri="{FF2B5EF4-FFF2-40B4-BE49-F238E27FC236}">
                      <a16:creationId xmlns:a16="http://schemas.microsoft.com/office/drawing/2014/main" id="{423FFE00-95C4-59B4-CB09-604D88212927}"/>
                    </a:ext>
                  </a:extLst>
                </p:cNvPr>
                <p:cNvCxnSpPr>
                  <a:cxnSpLocks/>
                  <a:stCxn id="54" idx="4"/>
                </p:cNvCxnSpPr>
                <p:nvPr/>
              </p:nvCxnSpPr>
              <p:spPr>
                <a:xfrm>
                  <a:off x="10394601" y="3656209"/>
                  <a:ext cx="15818" cy="2160000"/>
                </a:xfrm>
                <a:prstGeom prst="line">
                  <a:avLst/>
                </a:prstGeom>
                <a:noFill/>
                <a:ln w="38100" cap="flat" cmpd="sng" algn="ctr">
                  <a:gradFill flip="none" rotWithShape="1">
                    <a:gsLst>
                      <a:gs pos="0">
                        <a:srgbClr val="4472C4">
                          <a:lumMod val="0"/>
                          <a:lumOff val="100000"/>
                        </a:srgbClr>
                      </a:gs>
                      <a:gs pos="35000">
                        <a:srgbClr val="4472C4">
                          <a:lumMod val="0"/>
                          <a:lumOff val="100000"/>
                        </a:srgbClr>
                      </a:gs>
                      <a:gs pos="100000">
                        <a:srgbClr val="4472C4">
                          <a:lumMod val="100000"/>
                        </a:srgbClr>
                      </a:gs>
                    </a:gsLst>
                    <a:path path="circle">
                      <a:fillToRect l="50000" t="-80000" r="50000" b="180000"/>
                    </a:path>
                    <a:tileRect/>
                  </a:gradFill>
                  <a:prstDash val="solid"/>
                  <a:miter lim="800000"/>
                </a:ln>
                <a:effectLst/>
              </p:spPr>
            </p:cxnSp>
            <p:grpSp>
              <p:nvGrpSpPr>
                <p:cNvPr id="56" name="Group 55">
                  <a:extLst>
                    <a:ext uri="{FF2B5EF4-FFF2-40B4-BE49-F238E27FC236}">
                      <a16:creationId xmlns:a16="http://schemas.microsoft.com/office/drawing/2014/main" id="{1D28DCB9-1FA6-3F69-90BF-0CB21D07E6F0}"/>
                    </a:ext>
                  </a:extLst>
                </p:cNvPr>
                <p:cNvGrpSpPr/>
                <p:nvPr/>
              </p:nvGrpSpPr>
              <p:grpSpPr>
                <a:xfrm>
                  <a:off x="10461219" y="4572774"/>
                  <a:ext cx="2847832" cy="1277144"/>
                  <a:chOff x="10461219" y="4572774"/>
                  <a:chExt cx="2847832" cy="1277144"/>
                </a:xfrm>
              </p:grpSpPr>
              <p:sp>
                <p:nvSpPr>
                  <p:cNvPr id="57" name="文本框 25">
                    <a:extLst>
                      <a:ext uri="{FF2B5EF4-FFF2-40B4-BE49-F238E27FC236}">
                        <a16:creationId xmlns:a16="http://schemas.microsoft.com/office/drawing/2014/main" id="{B0600BAF-F90A-63B6-19B2-A7139445202E}"/>
                      </a:ext>
                    </a:extLst>
                  </p:cNvPr>
                  <p:cNvSpPr txBox="1"/>
                  <p:nvPr>
                    <p:custDataLst>
                      <p:tags r:id="rId5"/>
                    </p:custDataLst>
                  </p:nvPr>
                </p:nvSpPr>
                <p:spPr>
                  <a:xfrm>
                    <a:off x="10461219" y="4572774"/>
                    <a:ext cx="1816019" cy="457500"/>
                  </a:xfrm>
                  <a:prstGeom prst="rect">
                    <a:avLst/>
                  </a:prstGeom>
                  <a:noFill/>
                </p:spPr>
                <p:txBody>
                  <a:bodyPr wrap="none"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24DA2"/>
                        </a:solidFill>
                        <a:effectLst/>
                        <a:uLnTx/>
                        <a:uFillTx/>
                        <a:cs typeface="+mn-ea"/>
                        <a:sym typeface="+mn-lt"/>
                      </a:rPr>
                      <a:t>2026</a:t>
                    </a:r>
                    <a:r>
                      <a:rPr kumimoji="0" lang="zh-CN" altLang="en-US" sz="2400" b="0" i="0" u="none" strike="noStrike" kern="0" cap="none" spc="0" normalizeH="0" baseline="0" noProof="0" dirty="0">
                        <a:ln>
                          <a:noFill/>
                        </a:ln>
                        <a:solidFill>
                          <a:srgbClr val="024DA2"/>
                        </a:solidFill>
                        <a:effectLst/>
                        <a:uLnTx/>
                        <a:uFillTx/>
                        <a:cs typeface="+mn-ea"/>
                        <a:sym typeface="+mn-lt"/>
                      </a:rPr>
                      <a:t>～至今</a:t>
                    </a:r>
                    <a:endParaRPr kumimoji="0" lang="en-US" altLang="zh-CN" sz="2400" b="0" i="0" u="none" strike="noStrike" kern="0" cap="none" spc="0" normalizeH="0" baseline="0" noProof="0" dirty="0">
                      <a:ln>
                        <a:noFill/>
                      </a:ln>
                      <a:solidFill>
                        <a:srgbClr val="024DA2"/>
                      </a:solidFill>
                      <a:effectLst/>
                      <a:uLnTx/>
                      <a:uFillTx/>
                      <a:cs typeface="+mn-ea"/>
                      <a:sym typeface="+mn-lt"/>
                    </a:endParaRPr>
                  </a:p>
                </p:txBody>
              </p:sp>
              <p:sp>
                <p:nvSpPr>
                  <p:cNvPr id="58" name="矩形 22">
                    <a:extLst>
                      <a:ext uri="{FF2B5EF4-FFF2-40B4-BE49-F238E27FC236}">
                        <a16:creationId xmlns:a16="http://schemas.microsoft.com/office/drawing/2014/main" id="{2F456498-CD4D-08C3-AF02-D23693B42B3F}"/>
                      </a:ext>
                    </a:extLst>
                  </p:cNvPr>
                  <p:cNvSpPr/>
                  <p:nvPr>
                    <p:custDataLst>
                      <p:tags r:id="rId6"/>
                    </p:custDataLst>
                  </p:nvPr>
                </p:nvSpPr>
                <p:spPr>
                  <a:xfrm>
                    <a:off x="10461220" y="5072169"/>
                    <a:ext cx="2847831" cy="777749"/>
                  </a:xfrm>
                  <a:prstGeom prst="rect">
                    <a:avLst/>
                  </a:prstGeom>
                </p:spPr>
                <p:txBody>
                  <a:bodyPr wrap="square" anchor="ctr">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zh-CN" altLang="en-US" sz="2000" b="0" i="0" u="none" strike="noStrike" kern="0" cap="none" spc="0" normalizeH="0" baseline="0" noProof="0" dirty="0">
                        <a:ln>
                          <a:noFill/>
                        </a:ln>
                        <a:solidFill>
                          <a:srgbClr val="024DA2"/>
                        </a:solidFill>
                        <a:effectLst/>
                        <a:uLnTx/>
                        <a:uFillTx/>
                        <a:cs typeface="+mn-ea"/>
                        <a:sym typeface="+mn-lt"/>
                      </a:rPr>
                      <a:t>上海交通大学</a:t>
                    </a:r>
                    <a:endParaRPr kumimoji="0" lang="en-US" altLang="zh-CN" sz="2000" b="0" i="0" u="none" strike="noStrike" kern="0" cap="none" spc="0" normalizeH="0" baseline="0" noProof="0" dirty="0">
                      <a:ln>
                        <a:noFill/>
                      </a:ln>
                      <a:solidFill>
                        <a:srgbClr val="024DA2"/>
                      </a:solidFill>
                      <a:effectLst/>
                      <a:uLnTx/>
                      <a:uFillTx/>
                      <a:cs typeface="+mn-ea"/>
                      <a:sym typeface="+mn-lt"/>
                    </a:endParaRPr>
                  </a:p>
                  <a:p>
                    <a:pPr marL="0" marR="0" lvl="0" indent="0" defTabSz="914400" eaLnBrk="1" fontAlgn="auto" latinLnBrk="0" hangingPunct="1">
                      <a:lnSpc>
                        <a:spcPct val="100000"/>
                      </a:lnSpc>
                      <a:spcBef>
                        <a:spcPts val="0"/>
                      </a:spcBef>
                      <a:spcAft>
                        <a:spcPts val="600"/>
                      </a:spcAft>
                      <a:buClrTx/>
                      <a:buSzTx/>
                      <a:buFontTx/>
                      <a:buNone/>
                      <a:tabLst/>
                      <a:defRPr/>
                    </a:pPr>
                    <a:r>
                      <a:rPr kumimoji="0" lang="zh-CN" altLang="en-US" sz="2000" b="0" i="0" u="none" strike="noStrike" kern="0" cap="none" spc="0" normalizeH="0" baseline="0" noProof="0" dirty="0">
                        <a:ln>
                          <a:noFill/>
                        </a:ln>
                        <a:solidFill>
                          <a:srgbClr val="024DA2"/>
                        </a:solidFill>
                        <a:effectLst/>
                        <a:uLnTx/>
                        <a:uFillTx/>
                        <a:cs typeface="+mn-ea"/>
                        <a:sym typeface="+mn-lt"/>
                      </a:rPr>
                      <a:t>助理教授、博士生导师</a:t>
                    </a:r>
                    <a:endParaRPr kumimoji="0" lang="en-US" altLang="zh-CN" sz="2000" b="0" i="0" u="none" strike="noStrike" kern="0" cap="none" spc="0" normalizeH="0" baseline="0" noProof="0" dirty="0">
                      <a:ln>
                        <a:noFill/>
                      </a:ln>
                      <a:solidFill>
                        <a:srgbClr val="024DA2"/>
                      </a:solidFill>
                      <a:effectLst/>
                      <a:uLnTx/>
                      <a:uFillTx/>
                      <a:cs typeface="+mn-ea"/>
                      <a:sym typeface="+mn-lt"/>
                    </a:endParaRPr>
                  </a:p>
                </p:txBody>
              </p:sp>
            </p:grpSp>
          </p:grpSp>
          <p:sp>
            <p:nvSpPr>
              <p:cNvPr id="54" name="Oval 53">
                <a:extLst>
                  <a:ext uri="{FF2B5EF4-FFF2-40B4-BE49-F238E27FC236}">
                    <a16:creationId xmlns:a16="http://schemas.microsoft.com/office/drawing/2014/main" id="{5FCABBB9-595F-A86F-405E-BA696734B78A}"/>
                  </a:ext>
                </a:extLst>
              </p:cNvPr>
              <p:cNvSpPr/>
              <p:nvPr/>
            </p:nvSpPr>
            <p:spPr>
              <a:xfrm>
                <a:off x="8765437" y="3203905"/>
                <a:ext cx="452304" cy="452304"/>
              </a:xfrm>
              <a:prstGeom prst="ellipse">
                <a:avLst/>
              </a:prstGeom>
              <a:noFill/>
              <a:ln w="76200" cap="flat" cmpd="sng" algn="ctr">
                <a:solidFill>
                  <a:sysClr val="window" lastClr="FFFFFF"/>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39" name="Group 38">
              <a:extLst>
                <a:ext uri="{FF2B5EF4-FFF2-40B4-BE49-F238E27FC236}">
                  <a16:creationId xmlns:a16="http://schemas.microsoft.com/office/drawing/2014/main" id="{9B163119-2101-997E-28D8-FD4A4BE5C6F8}"/>
                </a:ext>
              </a:extLst>
            </p:cNvPr>
            <p:cNvGrpSpPr/>
            <p:nvPr/>
          </p:nvGrpSpPr>
          <p:grpSpPr>
            <a:xfrm>
              <a:off x="3774394" y="3203905"/>
              <a:ext cx="4401217" cy="2642805"/>
              <a:chOff x="3774394" y="3203905"/>
              <a:chExt cx="4401217" cy="2642805"/>
            </a:xfrm>
          </p:grpSpPr>
          <p:grpSp>
            <p:nvGrpSpPr>
              <p:cNvPr id="47" name="Group 46">
                <a:extLst>
                  <a:ext uri="{FF2B5EF4-FFF2-40B4-BE49-F238E27FC236}">
                    <a16:creationId xmlns:a16="http://schemas.microsoft.com/office/drawing/2014/main" id="{44C66BE0-8A4D-BE55-A6BF-0D31F3ADC9CF}"/>
                  </a:ext>
                </a:extLst>
              </p:cNvPr>
              <p:cNvGrpSpPr/>
              <p:nvPr/>
            </p:nvGrpSpPr>
            <p:grpSpPr>
              <a:xfrm>
                <a:off x="4000546" y="3656209"/>
                <a:ext cx="4175065" cy="2190501"/>
                <a:chOff x="5403558" y="3656209"/>
                <a:chExt cx="4175065" cy="2190501"/>
              </a:xfrm>
            </p:grpSpPr>
            <p:cxnSp>
              <p:nvCxnSpPr>
                <p:cNvPr id="49" name="Straight Connector 48">
                  <a:extLst>
                    <a:ext uri="{FF2B5EF4-FFF2-40B4-BE49-F238E27FC236}">
                      <a16:creationId xmlns:a16="http://schemas.microsoft.com/office/drawing/2014/main" id="{3189DADA-E97F-D71D-A257-C0EC8CBC85A4}"/>
                    </a:ext>
                  </a:extLst>
                </p:cNvPr>
                <p:cNvCxnSpPr>
                  <a:cxnSpLocks/>
                </p:cNvCxnSpPr>
                <p:nvPr/>
              </p:nvCxnSpPr>
              <p:spPr>
                <a:xfrm>
                  <a:off x="5403558" y="3656209"/>
                  <a:ext cx="0" cy="2160000"/>
                </a:xfrm>
                <a:prstGeom prst="line">
                  <a:avLst/>
                </a:prstGeom>
                <a:noFill/>
                <a:ln w="38100" cap="flat" cmpd="sng" algn="ctr">
                  <a:gradFill flip="none" rotWithShape="1">
                    <a:gsLst>
                      <a:gs pos="0">
                        <a:srgbClr val="4472C4">
                          <a:lumMod val="0"/>
                          <a:lumOff val="100000"/>
                        </a:srgbClr>
                      </a:gs>
                      <a:gs pos="35000">
                        <a:srgbClr val="4472C4">
                          <a:lumMod val="0"/>
                          <a:lumOff val="100000"/>
                        </a:srgbClr>
                      </a:gs>
                      <a:gs pos="100000">
                        <a:srgbClr val="4472C4">
                          <a:lumMod val="100000"/>
                        </a:srgbClr>
                      </a:gs>
                    </a:gsLst>
                    <a:path path="circle">
                      <a:fillToRect l="50000" t="-80000" r="50000" b="180000"/>
                    </a:path>
                    <a:tileRect/>
                  </a:gradFill>
                  <a:prstDash val="solid"/>
                  <a:miter lim="800000"/>
                </a:ln>
                <a:effectLst/>
              </p:spPr>
            </p:cxnSp>
            <p:grpSp>
              <p:nvGrpSpPr>
                <p:cNvPr id="50" name="Group 49">
                  <a:extLst>
                    <a:ext uri="{FF2B5EF4-FFF2-40B4-BE49-F238E27FC236}">
                      <a16:creationId xmlns:a16="http://schemas.microsoft.com/office/drawing/2014/main" id="{DF8785D4-E811-0E20-0521-793D9BD50635}"/>
                    </a:ext>
                  </a:extLst>
                </p:cNvPr>
                <p:cNvGrpSpPr/>
                <p:nvPr/>
              </p:nvGrpSpPr>
              <p:grpSpPr>
                <a:xfrm>
                  <a:off x="5448233" y="4570613"/>
                  <a:ext cx="4130390" cy="1276097"/>
                  <a:chOff x="5448233" y="4570613"/>
                  <a:chExt cx="4130390" cy="1276097"/>
                </a:xfrm>
              </p:grpSpPr>
              <p:sp>
                <p:nvSpPr>
                  <p:cNvPr id="51" name="文本框 25">
                    <a:extLst>
                      <a:ext uri="{FF2B5EF4-FFF2-40B4-BE49-F238E27FC236}">
                        <a16:creationId xmlns:a16="http://schemas.microsoft.com/office/drawing/2014/main" id="{9FAEDBD9-2FA2-919A-4A89-38EF62FDC024}"/>
                      </a:ext>
                    </a:extLst>
                  </p:cNvPr>
                  <p:cNvSpPr txBox="1"/>
                  <p:nvPr>
                    <p:custDataLst>
                      <p:tags r:id="rId3"/>
                    </p:custDataLst>
                  </p:nvPr>
                </p:nvSpPr>
                <p:spPr>
                  <a:xfrm>
                    <a:off x="5448233" y="4570613"/>
                    <a:ext cx="1847790" cy="457500"/>
                  </a:xfrm>
                  <a:prstGeom prst="rect">
                    <a:avLst/>
                  </a:prstGeom>
                  <a:noFill/>
                </p:spPr>
                <p:txBody>
                  <a:bodyPr wrap="none"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24DA2"/>
                        </a:solidFill>
                        <a:effectLst/>
                        <a:uLnTx/>
                        <a:uFillTx/>
                        <a:cs typeface="+mn-ea"/>
                        <a:sym typeface="+mn-lt"/>
                      </a:rPr>
                      <a:t>2015</a:t>
                    </a:r>
                    <a:r>
                      <a:rPr kumimoji="0" lang="zh-CN" altLang="en-US" sz="2400" b="0" i="0" u="none" strike="noStrike" kern="0" cap="none" spc="0" normalizeH="0" baseline="0" noProof="0" dirty="0">
                        <a:ln>
                          <a:noFill/>
                        </a:ln>
                        <a:solidFill>
                          <a:srgbClr val="024DA2"/>
                        </a:solidFill>
                        <a:effectLst/>
                        <a:uLnTx/>
                        <a:uFillTx/>
                        <a:cs typeface="+mn-ea"/>
                        <a:sym typeface="+mn-lt"/>
                      </a:rPr>
                      <a:t>～</a:t>
                    </a:r>
                    <a:r>
                      <a:rPr kumimoji="0" lang="en-US" altLang="zh-CN" sz="2400" b="0" i="0" u="none" strike="noStrike" kern="0" cap="none" spc="0" normalizeH="0" baseline="0" noProof="0" dirty="0">
                        <a:ln>
                          <a:noFill/>
                        </a:ln>
                        <a:solidFill>
                          <a:srgbClr val="024DA2"/>
                        </a:solidFill>
                        <a:effectLst/>
                        <a:uLnTx/>
                        <a:uFillTx/>
                        <a:cs typeface="+mn-ea"/>
                        <a:sym typeface="+mn-lt"/>
                      </a:rPr>
                      <a:t>2018</a:t>
                    </a:r>
                  </a:p>
                </p:txBody>
              </p:sp>
              <p:sp>
                <p:nvSpPr>
                  <p:cNvPr id="52" name="矩形 22">
                    <a:extLst>
                      <a:ext uri="{FF2B5EF4-FFF2-40B4-BE49-F238E27FC236}">
                        <a16:creationId xmlns:a16="http://schemas.microsoft.com/office/drawing/2014/main" id="{BE455D58-084E-8E0D-4BAB-E70E3A155817}"/>
                      </a:ext>
                    </a:extLst>
                  </p:cNvPr>
                  <p:cNvSpPr/>
                  <p:nvPr>
                    <p:custDataLst>
                      <p:tags r:id="rId4"/>
                    </p:custDataLst>
                  </p:nvPr>
                </p:nvSpPr>
                <p:spPr>
                  <a:xfrm>
                    <a:off x="5448233" y="5068961"/>
                    <a:ext cx="4130390" cy="777749"/>
                  </a:xfrm>
                  <a:prstGeom prst="rect">
                    <a:avLst/>
                  </a:prstGeom>
                </p:spPr>
                <p:txBody>
                  <a:bodyPr wrap="square" anchor="ctr">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zh-CN" altLang="en-CN" sz="2000" b="0" i="0" u="none" strike="noStrike" kern="0" cap="none" spc="0" normalizeH="0" baseline="0" noProof="0" dirty="0">
                        <a:ln>
                          <a:noFill/>
                        </a:ln>
                        <a:solidFill>
                          <a:srgbClr val="024DA2"/>
                        </a:solidFill>
                        <a:effectLst/>
                        <a:uLnTx/>
                        <a:uFillTx/>
                        <a:cs typeface="+mn-ea"/>
                        <a:sym typeface="+mn-lt"/>
                      </a:rPr>
                      <a:t>北京大学</a:t>
                    </a:r>
                    <a:r>
                      <a:rPr kumimoji="0" lang="zh-CN" altLang="en-US" sz="2000" b="0" i="0" u="none" strike="noStrike" kern="0" cap="none" spc="0" normalizeH="0" baseline="0" noProof="0" dirty="0">
                        <a:ln>
                          <a:noFill/>
                        </a:ln>
                        <a:solidFill>
                          <a:srgbClr val="024DA2"/>
                        </a:solidFill>
                        <a:effectLst/>
                        <a:uLnTx/>
                        <a:uFillTx/>
                        <a:cs typeface="+mn-ea"/>
                        <a:sym typeface="+mn-lt"/>
                      </a:rPr>
                      <a:t>硕士</a:t>
                    </a:r>
                    <a:endParaRPr kumimoji="0" lang="en-US" altLang="zh-CN" sz="2000" b="0" i="0" u="none" strike="noStrike" kern="0" cap="none" spc="0" normalizeH="0" baseline="0" noProof="0" dirty="0">
                      <a:ln>
                        <a:noFill/>
                      </a:ln>
                      <a:solidFill>
                        <a:srgbClr val="024DA2"/>
                      </a:solidFill>
                      <a:effectLst/>
                      <a:uLnTx/>
                      <a:uFillTx/>
                      <a:cs typeface="+mn-ea"/>
                      <a:sym typeface="+mn-lt"/>
                    </a:endParaRPr>
                  </a:p>
                  <a:p>
                    <a:pPr marL="0" marR="0" lvl="0" indent="0" defTabSz="914400" eaLnBrk="1" fontAlgn="auto" latinLnBrk="0" hangingPunct="1">
                      <a:lnSpc>
                        <a:spcPct val="100000"/>
                      </a:lnSpc>
                      <a:spcBef>
                        <a:spcPts val="0"/>
                      </a:spcBef>
                      <a:spcAft>
                        <a:spcPts val="600"/>
                      </a:spcAft>
                      <a:buClrTx/>
                      <a:buSzTx/>
                      <a:buFontTx/>
                      <a:buNone/>
                      <a:tabLst/>
                      <a:defRPr/>
                    </a:pPr>
                    <a:r>
                      <a:rPr lang="zh-CN" altLang="en-US" sz="2000" kern="0" dirty="0">
                        <a:solidFill>
                          <a:srgbClr val="024DA2"/>
                        </a:solidFill>
                        <a:cs typeface="+mn-ea"/>
                        <a:sym typeface="+mn-lt"/>
                      </a:rPr>
                      <a:t>地理学（城市与区域规划）专业</a:t>
                    </a:r>
                    <a:endParaRPr kumimoji="0" lang="zh-CN" altLang="en-US" sz="2000" b="0" i="0" u="none" strike="noStrike" kern="0" cap="none" spc="0" normalizeH="0" baseline="0" noProof="0" dirty="0">
                      <a:ln>
                        <a:noFill/>
                      </a:ln>
                      <a:solidFill>
                        <a:srgbClr val="024DA2"/>
                      </a:solidFill>
                      <a:effectLst/>
                      <a:uLnTx/>
                      <a:uFillTx/>
                      <a:cs typeface="+mn-ea"/>
                      <a:sym typeface="+mn-lt"/>
                    </a:endParaRPr>
                  </a:p>
                </p:txBody>
              </p:sp>
            </p:grpSp>
          </p:grpSp>
          <p:sp>
            <p:nvSpPr>
              <p:cNvPr id="48" name="Oval 47">
                <a:extLst>
                  <a:ext uri="{FF2B5EF4-FFF2-40B4-BE49-F238E27FC236}">
                    <a16:creationId xmlns:a16="http://schemas.microsoft.com/office/drawing/2014/main" id="{95E8BDFC-7946-D5D0-44E6-D1A991A7B66A}"/>
                  </a:ext>
                </a:extLst>
              </p:cNvPr>
              <p:cNvSpPr/>
              <p:nvPr/>
            </p:nvSpPr>
            <p:spPr>
              <a:xfrm>
                <a:off x="3774394" y="3203905"/>
                <a:ext cx="452304" cy="452304"/>
              </a:xfrm>
              <a:prstGeom prst="ellipse">
                <a:avLst/>
              </a:prstGeom>
              <a:noFill/>
              <a:ln w="76200" cap="flat" cmpd="sng" algn="ctr">
                <a:solidFill>
                  <a:sysClr val="window" lastClr="FFFFFF"/>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grpSp>
          <p:nvGrpSpPr>
            <p:cNvPr id="40" name="Group 39">
              <a:extLst>
                <a:ext uri="{FF2B5EF4-FFF2-40B4-BE49-F238E27FC236}">
                  <a16:creationId xmlns:a16="http://schemas.microsoft.com/office/drawing/2014/main" id="{9E0E9EAA-0601-D64D-D1E1-1499747CF465}"/>
                </a:ext>
              </a:extLst>
            </p:cNvPr>
            <p:cNvGrpSpPr/>
            <p:nvPr/>
          </p:nvGrpSpPr>
          <p:grpSpPr>
            <a:xfrm>
              <a:off x="6195403" y="1315722"/>
              <a:ext cx="6352344" cy="2340487"/>
              <a:chOff x="6195403" y="1315722"/>
              <a:chExt cx="6352344" cy="2340487"/>
            </a:xfrm>
          </p:grpSpPr>
          <p:grpSp>
            <p:nvGrpSpPr>
              <p:cNvPr id="41" name="Group 40">
                <a:extLst>
                  <a:ext uri="{FF2B5EF4-FFF2-40B4-BE49-F238E27FC236}">
                    <a16:creationId xmlns:a16="http://schemas.microsoft.com/office/drawing/2014/main" id="{478AFDA7-A939-6F14-E107-C7E0B624AD4A}"/>
                  </a:ext>
                </a:extLst>
              </p:cNvPr>
              <p:cNvGrpSpPr/>
              <p:nvPr/>
            </p:nvGrpSpPr>
            <p:grpSpPr>
              <a:xfrm>
                <a:off x="6421555" y="1315722"/>
                <a:ext cx="6126192" cy="1888183"/>
                <a:chOff x="7832477" y="1315722"/>
                <a:chExt cx="6126192" cy="1888183"/>
              </a:xfrm>
            </p:grpSpPr>
            <p:cxnSp>
              <p:nvCxnSpPr>
                <p:cNvPr id="43" name="Straight Connector 42">
                  <a:extLst>
                    <a:ext uri="{FF2B5EF4-FFF2-40B4-BE49-F238E27FC236}">
                      <a16:creationId xmlns:a16="http://schemas.microsoft.com/office/drawing/2014/main" id="{4A8846AA-AAE7-2053-AB76-79F406DC1645}"/>
                    </a:ext>
                  </a:extLst>
                </p:cNvPr>
                <p:cNvCxnSpPr>
                  <a:cxnSpLocks/>
                </p:cNvCxnSpPr>
                <p:nvPr/>
              </p:nvCxnSpPr>
              <p:spPr>
                <a:xfrm flipV="1">
                  <a:off x="7832477" y="1403905"/>
                  <a:ext cx="0" cy="1800000"/>
                </a:xfrm>
                <a:prstGeom prst="line">
                  <a:avLst/>
                </a:prstGeom>
                <a:noFill/>
                <a:ln w="38100" cap="flat" cmpd="sng" algn="ctr">
                  <a:gradFill flip="none" rotWithShape="1">
                    <a:gsLst>
                      <a:gs pos="0">
                        <a:srgbClr val="4472C4">
                          <a:lumMod val="0"/>
                          <a:lumOff val="100000"/>
                        </a:srgbClr>
                      </a:gs>
                      <a:gs pos="35000">
                        <a:srgbClr val="4472C4">
                          <a:lumMod val="0"/>
                          <a:lumOff val="100000"/>
                        </a:srgbClr>
                      </a:gs>
                      <a:gs pos="100000">
                        <a:srgbClr val="4472C4">
                          <a:lumMod val="100000"/>
                        </a:srgbClr>
                      </a:gs>
                    </a:gsLst>
                    <a:path path="circle">
                      <a:fillToRect l="50000" t="-80000" r="50000" b="180000"/>
                    </a:path>
                    <a:tileRect/>
                  </a:gradFill>
                  <a:prstDash val="solid"/>
                  <a:miter lim="800000"/>
                </a:ln>
                <a:effectLst/>
              </p:spPr>
            </p:cxnSp>
            <p:grpSp>
              <p:nvGrpSpPr>
                <p:cNvPr id="44" name="Group 43">
                  <a:extLst>
                    <a:ext uri="{FF2B5EF4-FFF2-40B4-BE49-F238E27FC236}">
                      <a16:creationId xmlns:a16="http://schemas.microsoft.com/office/drawing/2014/main" id="{8A229DBB-C005-A289-D891-105B86472D0F}"/>
                    </a:ext>
                  </a:extLst>
                </p:cNvPr>
                <p:cNvGrpSpPr/>
                <p:nvPr/>
              </p:nvGrpSpPr>
              <p:grpSpPr>
                <a:xfrm>
                  <a:off x="7877141" y="1315722"/>
                  <a:ext cx="6081528" cy="1841655"/>
                  <a:chOff x="7877141" y="1315722"/>
                  <a:chExt cx="6081528" cy="1841655"/>
                </a:xfrm>
              </p:grpSpPr>
              <p:sp>
                <p:nvSpPr>
                  <p:cNvPr id="45" name="文本框 25">
                    <a:extLst>
                      <a:ext uri="{FF2B5EF4-FFF2-40B4-BE49-F238E27FC236}">
                        <a16:creationId xmlns:a16="http://schemas.microsoft.com/office/drawing/2014/main" id="{0D2315C2-4947-226E-5186-61376996114C}"/>
                      </a:ext>
                    </a:extLst>
                  </p:cNvPr>
                  <p:cNvSpPr txBox="1"/>
                  <p:nvPr>
                    <p:custDataLst>
                      <p:tags r:id="rId1"/>
                    </p:custDataLst>
                  </p:nvPr>
                </p:nvSpPr>
                <p:spPr>
                  <a:xfrm>
                    <a:off x="7877144" y="1315722"/>
                    <a:ext cx="1847790" cy="457500"/>
                  </a:xfrm>
                  <a:prstGeom prst="rect">
                    <a:avLst/>
                  </a:prstGeom>
                  <a:noFill/>
                </p:spPr>
                <p:txBody>
                  <a:bodyPr wrap="none"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0" i="0" u="none" strike="noStrike" kern="0" cap="none" spc="0" normalizeH="0" baseline="0" noProof="0" dirty="0">
                        <a:ln>
                          <a:noFill/>
                        </a:ln>
                        <a:solidFill>
                          <a:srgbClr val="024DA2"/>
                        </a:solidFill>
                        <a:effectLst/>
                        <a:uLnTx/>
                        <a:uFillTx/>
                        <a:cs typeface="+mn-ea"/>
                        <a:sym typeface="+mn-lt"/>
                      </a:rPr>
                      <a:t>2018</a:t>
                    </a:r>
                    <a:r>
                      <a:rPr kumimoji="0" lang="zh-CN" altLang="en-US" sz="2400" b="0" i="0" u="none" strike="noStrike" kern="0" cap="none" spc="0" normalizeH="0" baseline="0" noProof="0" dirty="0">
                        <a:ln>
                          <a:noFill/>
                        </a:ln>
                        <a:solidFill>
                          <a:srgbClr val="024DA2"/>
                        </a:solidFill>
                        <a:effectLst/>
                        <a:uLnTx/>
                        <a:uFillTx/>
                        <a:cs typeface="+mn-ea"/>
                        <a:sym typeface="+mn-lt"/>
                      </a:rPr>
                      <a:t>～</a:t>
                    </a:r>
                    <a:r>
                      <a:rPr kumimoji="0" lang="en-US" altLang="zh-CN" sz="2400" b="0" i="0" u="none" strike="noStrike" kern="0" cap="none" spc="0" normalizeH="0" baseline="0" noProof="0" dirty="0">
                        <a:ln>
                          <a:noFill/>
                        </a:ln>
                        <a:solidFill>
                          <a:srgbClr val="024DA2"/>
                        </a:solidFill>
                        <a:effectLst/>
                        <a:uLnTx/>
                        <a:uFillTx/>
                        <a:cs typeface="+mn-ea"/>
                        <a:sym typeface="+mn-lt"/>
                      </a:rPr>
                      <a:t>2026</a:t>
                    </a:r>
                  </a:p>
                </p:txBody>
              </p:sp>
              <p:sp>
                <p:nvSpPr>
                  <p:cNvPr id="46" name="矩形 22">
                    <a:extLst>
                      <a:ext uri="{FF2B5EF4-FFF2-40B4-BE49-F238E27FC236}">
                        <a16:creationId xmlns:a16="http://schemas.microsoft.com/office/drawing/2014/main" id="{F9F126C1-7D0E-C63D-FAA4-D6D7313D17E3}"/>
                      </a:ext>
                    </a:extLst>
                  </p:cNvPr>
                  <p:cNvSpPr/>
                  <p:nvPr>
                    <p:custDataLst>
                      <p:tags r:id="rId2"/>
                    </p:custDataLst>
                  </p:nvPr>
                </p:nvSpPr>
                <p:spPr>
                  <a:xfrm>
                    <a:off x="7877141" y="1754379"/>
                    <a:ext cx="6081528" cy="1402998"/>
                  </a:xfrm>
                  <a:prstGeom prst="rect">
                    <a:avLst/>
                  </a:prstGeom>
                </p:spPr>
                <p:txBody>
                  <a:bodyPr wrap="square" anchor="ctr">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kumimoji="0" lang="zh-CN" altLang="en-US" sz="2000" b="0" i="0" u="none" strike="noStrike" kern="0" cap="none" spc="0" normalizeH="0" baseline="0" noProof="0" dirty="0">
                        <a:ln>
                          <a:noFill/>
                        </a:ln>
                        <a:solidFill>
                          <a:srgbClr val="024DA2"/>
                        </a:solidFill>
                        <a:effectLst/>
                        <a:uLnTx/>
                        <a:uFillTx/>
                        <a:cs typeface="+mn-ea"/>
                        <a:sym typeface="+mn-lt"/>
                      </a:rPr>
                      <a:t>爱丁堡大学</a:t>
                    </a:r>
                    <a:r>
                      <a:rPr lang="zh-CN" altLang="en-US" sz="2000" kern="0" dirty="0">
                        <a:solidFill>
                          <a:srgbClr val="024DA2"/>
                        </a:solidFill>
                        <a:cs typeface="+mn-ea"/>
                        <a:sym typeface="+mn-lt"/>
                      </a:rPr>
                      <a:t>博士、博士后</a:t>
                    </a:r>
                    <a:endParaRPr kumimoji="0" lang="en-US" altLang="zh-CN" sz="2000" b="0" i="0" u="none" strike="noStrike" kern="0" cap="none" spc="0" normalizeH="0" baseline="0" noProof="0" dirty="0">
                      <a:ln>
                        <a:noFill/>
                      </a:ln>
                      <a:solidFill>
                        <a:srgbClr val="024DA2"/>
                      </a:solidFill>
                      <a:effectLst/>
                      <a:uLnTx/>
                      <a:uFillTx/>
                      <a:cs typeface="+mn-ea"/>
                      <a:sym typeface="+mn-lt"/>
                    </a:endParaRPr>
                  </a:p>
                  <a:p>
                    <a:pPr marL="0" marR="0" lvl="0" indent="0" defTabSz="914400" eaLnBrk="1" fontAlgn="auto" latinLnBrk="0" hangingPunct="1">
                      <a:lnSpc>
                        <a:spcPct val="100000"/>
                      </a:lnSpc>
                      <a:spcBef>
                        <a:spcPts val="0"/>
                      </a:spcBef>
                      <a:spcAft>
                        <a:spcPts val="600"/>
                      </a:spcAft>
                      <a:buClrTx/>
                      <a:buSzTx/>
                      <a:buFontTx/>
                      <a:buNone/>
                      <a:tabLst/>
                      <a:defRPr/>
                    </a:pPr>
                    <a:r>
                      <a:rPr lang="zh-CN" altLang="en-US" sz="2000" kern="0" dirty="0">
                        <a:solidFill>
                          <a:srgbClr val="024DA2"/>
                        </a:solidFill>
                        <a:cs typeface="+mn-ea"/>
                        <a:sym typeface="+mn-lt"/>
                      </a:rPr>
                      <a:t>大气与环境科学专业</a:t>
                    </a:r>
                    <a:endParaRPr lang="en-US" altLang="zh-CN" sz="2000" kern="0" dirty="0">
                      <a:solidFill>
                        <a:srgbClr val="024DA2"/>
                      </a:solidFill>
                      <a:cs typeface="+mn-ea"/>
                      <a:sym typeface="+mn-lt"/>
                    </a:endParaRPr>
                  </a:p>
                  <a:p>
                    <a:pPr marL="0" marR="0" lvl="0" indent="0" defTabSz="914400" eaLnBrk="1" fontAlgn="auto" latinLnBrk="0" hangingPunct="1">
                      <a:lnSpc>
                        <a:spcPct val="100000"/>
                      </a:lnSpc>
                      <a:spcBef>
                        <a:spcPts val="0"/>
                      </a:spcBef>
                      <a:spcAft>
                        <a:spcPts val="600"/>
                      </a:spcAft>
                      <a:buClrTx/>
                      <a:buSzTx/>
                      <a:buFontTx/>
                      <a:buNone/>
                      <a:tabLst/>
                      <a:defRPr/>
                    </a:pPr>
                    <a:r>
                      <a:rPr lang="en-US" altLang="zh-CN" sz="2000" kern="0" dirty="0">
                        <a:solidFill>
                          <a:srgbClr val="024DA2"/>
                        </a:solidFill>
                        <a:cs typeface="+mn-ea"/>
                        <a:sym typeface="+mn-lt"/>
                      </a:rPr>
                      <a:t>UK No. </a:t>
                    </a:r>
                    <a:r>
                      <a:rPr lang="en-US" altLang="zh-CN" sz="3600" b="1" dirty="0">
                        <a:solidFill>
                          <a:schemeClr val="accent3"/>
                        </a:solidFill>
                        <a:sym typeface="+mn-lt"/>
                      </a:rPr>
                      <a:t>1</a:t>
                    </a:r>
                    <a:r>
                      <a:rPr lang="en-US" altLang="zh-CN" sz="2000" kern="0" dirty="0">
                        <a:solidFill>
                          <a:srgbClr val="024DA2"/>
                        </a:solidFill>
                        <a:cs typeface="+mn-ea"/>
                        <a:sym typeface="+mn-lt"/>
                      </a:rPr>
                      <a:t> for Research Impact in Geosciences</a:t>
                    </a:r>
                  </a:p>
                </p:txBody>
              </p:sp>
            </p:grpSp>
          </p:grpSp>
          <p:sp>
            <p:nvSpPr>
              <p:cNvPr id="42" name="Oval 41">
                <a:extLst>
                  <a:ext uri="{FF2B5EF4-FFF2-40B4-BE49-F238E27FC236}">
                    <a16:creationId xmlns:a16="http://schemas.microsoft.com/office/drawing/2014/main" id="{84C66CE5-C761-689A-39EA-42F7B25C5D0C}"/>
                  </a:ext>
                </a:extLst>
              </p:cNvPr>
              <p:cNvSpPr/>
              <p:nvPr/>
            </p:nvSpPr>
            <p:spPr>
              <a:xfrm>
                <a:off x="6195403" y="3203905"/>
                <a:ext cx="452304" cy="452304"/>
              </a:xfrm>
              <a:prstGeom prst="ellipse">
                <a:avLst/>
              </a:prstGeom>
              <a:noFill/>
              <a:ln w="76200" cap="flat" cmpd="sng" algn="ctr">
                <a:solidFill>
                  <a:sysClr val="window" lastClr="FFFFFF"/>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grpSp>
      <p:pic>
        <p:nvPicPr>
          <p:cNvPr id="70" name="Picture 69" descr="A logo with text on it&#10;&#10;AI-generated content may be incorrect.">
            <a:extLst>
              <a:ext uri="{FF2B5EF4-FFF2-40B4-BE49-F238E27FC236}">
                <a16:creationId xmlns:a16="http://schemas.microsoft.com/office/drawing/2014/main" id="{6570DD71-056C-F024-3EE2-19F00479440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43809" y="1139953"/>
            <a:ext cx="1016426" cy="1030772"/>
          </a:xfrm>
          <a:prstGeom prst="rect">
            <a:avLst/>
          </a:prstGeom>
        </p:spPr>
      </p:pic>
      <p:pic>
        <p:nvPicPr>
          <p:cNvPr id="71" name="Picture 70" descr="A red chinese characters on a black background&#10;&#10;AI-generated content may be incorrect.">
            <a:extLst>
              <a:ext uri="{FF2B5EF4-FFF2-40B4-BE49-F238E27FC236}">
                <a16:creationId xmlns:a16="http://schemas.microsoft.com/office/drawing/2014/main" id="{9433D72D-B114-1F31-E80D-8EB9DBEBF325}"/>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138728" y="4575064"/>
            <a:ext cx="2348992" cy="655726"/>
          </a:xfrm>
          <a:prstGeom prst="rect">
            <a:avLst/>
          </a:prstGeom>
        </p:spPr>
      </p:pic>
      <p:pic>
        <p:nvPicPr>
          <p:cNvPr id="73" name="Picture 72">
            <a:extLst>
              <a:ext uri="{FF2B5EF4-FFF2-40B4-BE49-F238E27FC236}">
                <a16:creationId xmlns:a16="http://schemas.microsoft.com/office/drawing/2014/main" id="{54BE5DCB-735A-E243-C8F7-89C695CA5801}"/>
              </a:ext>
            </a:extLst>
          </p:cNvPr>
          <p:cNvPicPr>
            <a:picLocks noChangeAspect="1"/>
          </p:cNvPicPr>
          <p:nvPr/>
        </p:nvPicPr>
        <p:blipFill>
          <a:blip r:embed="rId13"/>
          <a:stretch>
            <a:fillRect/>
          </a:stretch>
        </p:blipFill>
        <p:spPr>
          <a:xfrm>
            <a:off x="4154443" y="1139952"/>
            <a:ext cx="1941557" cy="1548392"/>
          </a:xfrm>
          <a:prstGeom prst="rect">
            <a:avLst/>
          </a:prstGeom>
        </p:spPr>
      </p:pic>
      <p:pic>
        <p:nvPicPr>
          <p:cNvPr id="83" name="Picture 82">
            <a:extLst>
              <a:ext uri="{FF2B5EF4-FFF2-40B4-BE49-F238E27FC236}">
                <a16:creationId xmlns:a16="http://schemas.microsoft.com/office/drawing/2014/main" id="{3E232C8C-C5D9-EE99-EDAE-55F8FAD2F6EB}"/>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708533" y="3210216"/>
            <a:ext cx="1045113" cy="3385422"/>
          </a:xfrm>
          <a:prstGeom prst="rect">
            <a:avLst/>
          </a:prstGeom>
        </p:spPr>
      </p:pic>
    </p:spTree>
    <p:extLst>
      <p:ext uri="{BB962C8B-B14F-4D97-AF65-F5344CB8AC3E}">
        <p14:creationId xmlns:p14="http://schemas.microsoft.com/office/powerpoint/2010/main" val="717204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E831E-66C6-3622-F7B1-C97F7CB8C4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FCF14F-6C43-1260-F49B-9649D6CBB6D5}"/>
              </a:ext>
            </a:extLst>
          </p:cNvPr>
          <p:cNvSpPr>
            <a:spLocks noGrp="1"/>
          </p:cNvSpPr>
          <p:nvPr>
            <p:ph type="title"/>
          </p:nvPr>
        </p:nvSpPr>
        <p:spPr/>
        <p:txBody>
          <a:bodyPr/>
          <a:lstStyle/>
          <a:p>
            <a:r>
              <a:rPr lang="en-CN" dirty="0"/>
              <a:t>学术成绩总览</a:t>
            </a:r>
          </a:p>
        </p:txBody>
      </p:sp>
      <p:sp>
        <p:nvSpPr>
          <p:cNvPr id="3" name="Slide Number Placeholder 2">
            <a:extLst>
              <a:ext uri="{FF2B5EF4-FFF2-40B4-BE49-F238E27FC236}">
                <a16:creationId xmlns:a16="http://schemas.microsoft.com/office/drawing/2014/main" id="{33CB9593-195A-4A4D-1174-E35889115F1B}"/>
              </a:ext>
            </a:extLst>
          </p:cNvPr>
          <p:cNvSpPr>
            <a:spLocks noGrp="1"/>
          </p:cNvSpPr>
          <p:nvPr>
            <p:ph type="sldNum" sz="quarter" idx="12"/>
          </p:nvPr>
        </p:nvSpPr>
        <p:spPr/>
        <p:txBody>
          <a:bodyPr/>
          <a:lstStyle/>
          <a:p>
            <a:fld id="{3ACD1EC8-6F57-41A7-99F1-FEDB2874BA2B}" type="slidenum">
              <a:rPr lang="zh-CN" altLang="en-US" smtClean="0"/>
              <a:t>3</a:t>
            </a:fld>
            <a:endParaRPr lang="zh-CN" altLang="en-US"/>
          </a:p>
        </p:txBody>
      </p:sp>
      <p:sp>
        <p:nvSpPr>
          <p:cNvPr id="111" name="文本框 7">
            <a:extLst>
              <a:ext uri="{FF2B5EF4-FFF2-40B4-BE49-F238E27FC236}">
                <a16:creationId xmlns:a16="http://schemas.microsoft.com/office/drawing/2014/main" id="{77462297-A372-3A32-8FD6-14E25C4E9876}"/>
              </a:ext>
            </a:extLst>
          </p:cNvPr>
          <p:cNvSpPr txBox="1"/>
          <p:nvPr/>
        </p:nvSpPr>
        <p:spPr>
          <a:xfrm>
            <a:off x="495299" y="929378"/>
            <a:ext cx="11214100" cy="1569660"/>
          </a:xfrm>
          <a:prstGeom prst="rect">
            <a:avLst/>
          </a:prstGeom>
          <a:noFill/>
        </p:spPr>
        <p:txBody>
          <a:bodyPr wrap="square" rtlCol="0">
            <a:spAutoFit/>
          </a:bodyPr>
          <a:lstStyle/>
          <a:p>
            <a:pPr marL="457200" indent="-457200">
              <a:spcAft>
                <a:spcPts val="1200"/>
              </a:spcAft>
              <a:buFont typeface="Arial" panose="020B0604020202020204" pitchFamily="34" charset="0"/>
              <a:buChar char="•"/>
            </a:pPr>
            <a:r>
              <a:rPr lang="en-US" altLang="zh-CN" sz="2000" dirty="0"/>
              <a:t>24</a:t>
            </a:r>
            <a:r>
              <a:rPr lang="zh-CN" altLang="en-US" sz="2000" dirty="0"/>
              <a:t>篇文章，其中一作</a:t>
            </a:r>
            <a:r>
              <a:rPr lang="en-US" altLang="zh-CN" sz="2000" dirty="0"/>
              <a:t>/</a:t>
            </a:r>
            <a:r>
              <a:rPr lang="zh-CN" altLang="en-US" sz="2000" dirty="0"/>
              <a:t>通讯</a:t>
            </a:r>
            <a:r>
              <a:rPr lang="en-US" altLang="zh-CN" sz="3600" b="1" dirty="0">
                <a:solidFill>
                  <a:schemeClr val="accent3"/>
                </a:solidFill>
              </a:rPr>
              <a:t>12</a:t>
            </a:r>
            <a:r>
              <a:rPr lang="zh-CN" altLang="en-US" sz="2000" dirty="0"/>
              <a:t>篇，</a:t>
            </a:r>
            <a:r>
              <a:rPr lang="en-US" altLang="zh-CN" sz="3600" b="1" dirty="0">
                <a:solidFill>
                  <a:schemeClr val="accent3"/>
                </a:solidFill>
              </a:rPr>
              <a:t>80%</a:t>
            </a:r>
            <a:r>
              <a:rPr lang="zh-CN" altLang="en-US" sz="2000" dirty="0"/>
              <a:t>以上发表在</a:t>
            </a:r>
            <a:r>
              <a:rPr lang="en-US" altLang="zh-CN" sz="2000" dirty="0"/>
              <a:t>TOP</a:t>
            </a:r>
            <a:r>
              <a:rPr lang="zh-CN" altLang="en-US" sz="2000" dirty="0"/>
              <a:t>期刊，含</a:t>
            </a:r>
            <a:r>
              <a:rPr lang="en-US" altLang="zh-CN" sz="3600" b="1" dirty="0">
                <a:solidFill>
                  <a:schemeClr val="accent3"/>
                </a:solidFill>
              </a:rPr>
              <a:t>3</a:t>
            </a:r>
            <a:r>
              <a:rPr lang="zh-CN" altLang="en-US" sz="2000" dirty="0"/>
              <a:t>篇</a:t>
            </a:r>
            <a:r>
              <a:rPr lang="en-US" altLang="zh-CN" sz="2000" dirty="0"/>
              <a:t>Nature</a:t>
            </a:r>
            <a:r>
              <a:rPr lang="zh-CN" altLang="en-US" sz="2000" dirty="0"/>
              <a:t> </a:t>
            </a:r>
            <a:r>
              <a:rPr lang="en-US" altLang="zh-CN" sz="2000" dirty="0"/>
              <a:t>Index</a:t>
            </a:r>
            <a:r>
              <a:rPr lang="zh-CN" altLang="en-US" sz="2000" dirty="0"/>
              <a:t>；</a:t>
            </a:r>
            <a:endParaRPr lang="en-US" altLang="zh-CN" sz="2000" dirty="0"/>
          </a:p>
          <a:p>
            <a:pPr marL="457200" indent="-457200">
              <a:spcAft>
                <a:spcPts val="1200"/>
              </a:spcAft>
              <a:buFont typeface="Arial" panose="020B0604020202020204" pitchFamily="34" charset="0"/>
              <a:buChar char="•"/>
            </a:pPr>
            <a:r>
              <a:rPr lang="en-GB" altLang="zh-CN" sz="2000" dirty="0"/>
              <a:t>Google</a:t>
            </a:r>
            <a:r>
              <a:rPr lang="zh-CN" altLang="en-US" sz="2000" dirty="0"/>
              <a:t> </a:t>
            </a:r>
            <a:r>
              <a:rPr lang="en-US" altLang="zh-CN" sz="2000" dirty="0"/>
              <a:t>Scholar</a:t>
            </a:r>
            <a:r>
              <a:rPr lang="zh-CN" altLang="en-US" sz="2000" dirty="0"/>
              <a:t>总被引</a:t>
            </a:r>
            <a:r>
              <a:rPr lang="en-US" altLang="zh-CN" sz="2000" dirty="0"/>
              <a:t>750+</a:t>
            </a:r>
            <a:r>
              <a:rPr lang="zh-CN" altLang="en-US" sz="2000" dirty="0"/>
              <a:t>，</a:t>
            </a:r>
            <a:r>
              <a:rPr lang="en-US" altLang="zh-CN" sz="2000" dirty="0"/>
              <a:t>H</a:t>
            </a:r>
            <a:r>
              <a:rPr lang="zh-CN" altLang="en-US" sz="2000" dirty="0"/>
              <a:t>指数为</a:t>
            </a:r>
            <a:r>
              <a:rPr lang="en-US" altLang="zh-CN" sz="2000" dirty="0"/>
              <a:t>14</a:t>
            </a:r>
            <a:r>
              <a:rPr lang="zh-CN" altLang="en-US" sz="2000" dirty="0"/>
              <a:t>；</a:t>
            </a:r>
            <a:endParaRPr lang="en-US" altLang="zh-CN" sz="2000" dirty="0"/>
          </a:p>
          <a:p>
            <a:pPr marL="457200" indent="-457200">
              <a:spcAft>
                <a:spcPts val="1200"/>
              </a:spcAft>
              <a:buFont typeface="Arial" panose="020B0604020202020204" pitchFamily="34" charset="0"/>
              <a:buChar char="•"/>
            </a:pPr>
            <a:r>
              <a:rPr lang="zh-CN" altLang="en-US" sz="2000" dirty="0"/>
              <a:t>主持</a:t>
            </a:r>
            <a:r>
              <a:rPr lang="en-US" altLang="zh-CN" sz="2000" dirty="0"/>
              <a:t>Google</a:t>
            </a:r>
            <a:r>
              <a:rPr lang="zh-CN" altLang="en-US" sz="2000" dirty="0"/>
              <a:t>云计算资助项目等</a:t>
            </a:r>
            <a:r>
              <a:rPr lang="en-US" altLang="zh-CN" sz="2000" dirty="0"/>
              <a:t>4</a:t>
            </a:r>
            <a:r>
              <a:rPr lang="zh-CN" altLang="en-US" sz="2000" dirty="0"/>
              <a:t>项，担任</a:t>
            </a:r>
            <a:r>
              <a:rPr lang="en-US" altLang="zh-CN" sz="2000" i="1" dirty="0"/>
              <a:t>Carbon</a:t>
            </a:r>
            <a:r>
              <a:rPr lang="zh-CN" altLang="en-US" sz="2000" i="1" dirty="0"/>
              <a:t> </a:t>
            </a:r>
            <a:r>
              <a:rPr lang="en-US" altLang="zh-CN" sz="2000" i="1" dirty="0"/>
              <a:t>Neutrality</a:t>
            </a:r>
            <a:r>
              <a:rPr lang="zh-CN" altLang="en-US" sz="2000" dirty="0"/>
              <a:t>、</a:t>
            </a:r>
            <a:r>
              <a:rPr lang="en-US" altLang="zh-CN" sz="2000" i="1" dirty="0"/>
              <a:t>Carbon</a:t>
            </a:r>
            <a:r>
              <a:rPr lang="zh-CN" altLang="en-US" sz="2000" i="1" dirty="0"/>
              <a:t> </a:t>
            </a:r>
            <a:r>
              <a:rPr lang="en-US" altLang="zh-CN" sz="2000" i="1" dirty="0"/>
              <a:t>Footprints</a:t>
            </a:r>
            <a:r>
              <a:rPr lang="zh-CN" altLang="en-US" sz="2000" dirty="0"/>
              <a:t>等期刊青编。</a:t>
            </a:r>
            <a:endParaRPr lang="en-GB" altLang="zh-CN" sz="2000" dirty="0"/>
          </a:p>
        </p:txBody>
      </p:sp>
      <p:pic>
        <p:nvPicPr>
          <p:cNvPr id="114" name="Picture 113">
            <a:extLst>
              <a:ext uri="{FF2B5EF4-FFF2-40B4-BE49-F238E27FC236}">
                <a16:creationId xmlns:a16="http://schemas.microsoft.com/office/drawing/2014/main" id="{F2DDCF33-2DF7-A13F-06A9-136303592C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39326" y="4757211"/>
            <a:ext cx="1841500" cy="1003300"/>
          </a:xfrm>
          <a:prstGeom prst="rect">
            <a:avLst/>
          </a:prstGeom>
        </p:spPr>
      </p:pic>
      <p:pic>
        <p:nvPicPr>
          <p:cNvPr id="116" name="Picture 115">
            <a:extLst>
              <a:ext uri="{FF2B5EF4-FFF2-40B4-BE49-F238E27FC236}">
                <a16:creationId xmlns:a16="http://schemas.microsoft.com/office/drawing/2014/main" id="{D8FDFBF9-479A-4B54-1CE5-1E236E6FEB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1667" y="3009753"/>
            <a:ext cx="1155848" cy="1537199"/>
          </a:xfrm>
          <a:prstGeom prst="rect">
            <a:avLst/>
          </a:prstGeom>
        </p:spPr>
      </p:pic>
      <p:pic>
        <p:nvPicPr>
          <p:cNvPr id="118" name="Picture 117">
            <a:extLst>
              <a:ext uri="{FF2B5EF4-FFF2-40B4-BE49-F238E27FC236}">
                <a16:creationId xmlns:a16="http://schemas.microsoft.com/office/drawing/2014/main" id="{62DAA9F7-5C91-FA2A-75D1-7681269524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80339" y="3009753"/>
            <a:ext cx="1155848" cy="1537199"/>
          </a:xfrm>
          <a:prstGeom prst="rect">
            <a:avLst/>
          </a:prstGeom>
        </p:spPr>
      </p:pic>
      <p:pic>
        <p:nvPicPr>
          <p:cNvPr id="120" name="Picture 119">
            <a:extLst>
              <a:ext uri="{FF2B5EF4-FFF2-40B4-BE49-F238E27FC236}">
                <a16:creationId xmlns:a16="http://schemas.microsoft.com/office/drawing/2014/main" id="{4D391E8D-A691-DC61-D7D3-8C8C440B580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09011" y="3009753"/>
            <a:ext cx="1156781" cy="1537199"/>
          </a:xfrm>
          <a:prstGeom prst="rect">
            <a:avLst/>
          </a:prstGeom>
        </p:spPr>
      </p:pic>
      <p:pic>
        <p:nvPicPr>
          <p:cNvPr id="122" name="Picture 121">
            <a:extLst>
              <a:ext uri="{FF2B5EF4-FFF2-40B4-BE49-F238E27FC236}">
                <a16:creationId xmlns:a16="http://schemas.microsoft.com/office/drawing/2014/main" id="{B1AD3E3C-2339-B6CA-A3B0-D582A07EB07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28300" y="3005276"/>
            <a:ext cx="1168400" cy="1536700"/>
          </a:xfrm>
          <a:prstGeom prst="rect">
            <a:avLst/>
          </a:prstGeom>
        </p:spPr>
      </p:pic>
      <p:pic>
        <p:nvPicPr>
          <p:cNvPr id="124" name="Picture 123">
            <a:extLst>
              <a:ext uri="{FF2B5EF4-FFF2-40B4-BE49-F238E27FC236}">
                <a16:creationId xmlns:a16="http://schemas.microsoft.com/office/drawing/2014/main" id="{1B21F3F6-9FE1-1C72-B0E2-3C8D58B744E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854616" y="4757211"/>
            <a:ext cx="1152899" cy="1537199"/>
          </a:xfrm>
          <a:prstGeom prst="rect">
            <a:avLst/>
          </a:prstGeom>
        </p:spPr>
      </p:pic>
      <p:pic>
        <p:nvPicPr>
          <p:cNvPr id="126" name="Picture 125">
            <a:extLst>
              <a:ext uri="{FF2B5EF4-FFF2-40B4-BE49-F238E27FC236}">
                <a16:creationId xmlns:a16="http://schemas.microsoft.com/office/drawing/2014/main" id="{B402CD71-E996-A060-A142-809F66B3C24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12893" y="4720169"/>
            <a:ext cx="1152899" cy="1537199"/>
          </a:xfrm>
          <a:prstGeom prst="rect">
            <a:avLst/>
          </a:prstGeom>
        </p:spPr>
      </p:pic>
      <p:pic>
        <p:nvPicPr>
          <p:cNvPr id="128" name="Picture 127">
            <a:extLst>
              <a:ext uri="{FF2B5EF4-FFF2-40B4-BE49-F238E27FC236}">
                <a16:creationId xmlns:a16="http://schemas.microsoft.com/office/drawing/2014/main" id="{77F1850C-477B-84AB-4E76-3E097FC4B0F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083288" y="4757211"/>
            <a:ext cx="1152899" cy="1537199"/>
          </a:xfrm>
          <a:prstGeom prst="rect">
            <a:avLst/>
          </a:prstGeom>
        </p:spPr>
      </p:pic>
      <p:pic>
        <p:nvPicPr>
          <p:cNvPr id="136" name="Picture 135">
            <a:extLst>
              <a:ext uri="{FF2B5EF4-FFF2-40B4-BE49-F238E27FC236}">
                <a16:creationId xmlns:a16="http://schemas.microsoft.com/office/drawing/2014/main" id="{55398B13-3C7D-B205-6F5C-2B7612EC68CC}"/>
              </a:ext>
            </a:extLst>
          </p:cNvPr>
          <p:cNvPicPr>
            <a:picLocks noChangeAspect="1"/>
          </p:cNvPicPr>
          <p:nvPr/>
        </p:nvPicPr>
        <p:blipFill>
          <a:blip r:embed="rId11"/>
          <a:stretch>
            <a:fillRect/>
          </a:stretch>
        </p:blipFill>
        <p:spPr>
          <a:xfrm>
            <a:off x="88686" y="2898782"/>
            <a:ext cx="6686275" cy="3491720"/>
          </a:xfrm>
          <a:prstGeom prst="rect">
            <a:avLst/>
          </a:prstGeom>
        </p:spPr>
      </p:pic>
    </p:spTree>
    <p:extLst>
      <p:ext uri="{BB962C8B-B14F-4D97-AF65-F5344CB8AC3E}">
        <p14:creationId xmlns:p14="http://schemas.microsoft.com/office/powerpoint/2010/main" val="2468858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E7FB3-0B93-683C-4D89-B54F9BB32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830985-6B74-C312-DA26-47B3EDDA6564}"/>
              </a:ext>
            </a:extLst>
          </p:cNvPr>
          <p:cNvSpPr>
            <a:spLocks noGrp="1"/>
          </p:cNvSpPr>
          <p:nvPr>
            <p:ph type="title"/>
          </p:nvPr>
        </p:nvSpPr>
        <p:spPr/>
        <p:txBody>
          <a:bodyPr/>
          <a:lstStyle/>
          <a:p>
            <a:r>
              <a:rPr lang="en-CN" dirty="0"/>
              <a:t>研究背景与关键科学问题</a:t>
            </a:r>
          </a:p>
        </p:txBody>
      </p:sp>
      <p:sp>
        <p:nvSpPr>
          <p:cNvPr id="3" name="Slide Number Placeholder 2">
            <a:extLst>
              <a:ext uri="{FF2B5EF4-FFF2-40B4-BE49-F238E27FC236}">
                <a16:creationId xmlns:a16="http://schemas.microsoft.com/office/drawing/2014/main" id="{F70BF515-B8F9-7005-3651-3DD3EA0C8125}"/>
              </a:ext>
            </a:extLst>
          </p:cNvPr>
          <p:cNvSpPr>
            <a:spLocks noGrp="1"/>
          </p:cNvSpPr>
          <p:nvPr>
            <p:ph type="sldNum" sz="quarter" idx="12"/>
          </p:nvPr>
        </p:nvSpPr>
        <p:spPr/>
        <p:txBody>
          <a:bodyPr/>
          <a:lstStyle/>
          <a:p>
            <a:fld id="{3ACD1EC8-6F57-41A7-99F1-FEDB2874BA2B}" type="slidenum">
              <a:rPr lang="zh-CN" altLang="en-US" smtClean="0"/>
              <a:t>4</a:t>
            </a:fld>
            <a:endParaRPr lang="zh-CN" altLang="en-US" dirty="0"/>
          </a:p>
        </p:txBody>
      </p:sp>
      <p:sp>
        <p:nvSpPr>
          <p:cNvPr id="61" name="文本框 7">
            <a:extLst>
              <a:ext uri="{FF2B5EF4-FFF2-40B4-BE49-F238E27FC236}">
                <a16:creationId xmlns:a16="http://schemas.microsoft.com/office/drawing/2014/main" id="{0D150202-62E0-3291-D5E4-28706626B9DA}"/>
              </a:ext>
            </a:extLst>
          </p:cNvPr>
          <p:cNvSpPr txBox="1"/>
          <p:nvPr/>
        </p:nvSpPr>
        <p:spPr>
          <a:xfrm>
            <a:off x="482601" y="929378"/>
            <a:ext cx="11214099" cy="1415772"/>
          </a:xfrm>
          <a:prstGeom prst="rect">
            <a:avLst/>
          </a:prstGeom>
          <a:noFill/>
        </p:spPr>
        <p:txBody>
          <a:bodyPr wrap="square" rtlCol="0">
            <a:spAutoFit/>
          </a:bodyPr>
          <a:lstStyle/>
          <a:p>
            <a:pPr marL="457200" indent="-457200">
              <a:spcAft>
                <a:spcPts val="1200"/>
              </a:spcAft>
              <a:buFont typeface="Arial" panose="020B0604020202020204" pitchFamily="34" charset="0"/>
              <a:buChar char="•"/>
            </a:pPr>
            <a:r>
              <a:rPr lang="zh-CN" altLang="en-US" sz="2000" dirty="0"/>
              <a:t>颗粒物</a:t>
            </a:r>
            <a:r>
              <a:rPr lang="zh-CN" altLang="en-CN" sz="2000" dirty="0"/>
              <a:t>是</a:t>
            </a:r>
            <a:r>
              <a:rPr lang="zh-CN" altLang="en-US" sz="2000" dirty="0"/>
              <a:t>悬浮于大气中的固态或液态微粒，可通过危害人体健康、削弱光伏发电等途径，对可持续发展构成重大挑战。</a:t>
            </a:r>
            <a:endParaRPr lang="en-US" altLang="zh-CN" sz="2000" dirty="0"/>
          </a:p>
          <a:p>
            <a:pPr marL="457200" indent="-457200">
              <a:spcAft>
                <a:spcPts val="1200"/>
              </a:spcAft>
              <a:buFont typeface="Arial" panose="020B0604020202020204" pitchFamily="34" charset="0"/>
              <a:buChar char="•"/>
            </a:pPr>
            <a:r>
              <a:rPr lang="zh-CN" altLang="en-US" sz="2000" dirty="0"/>
              <a:t>颗粒物的综合</a:t>
            </a:r>
            <a:r>
              <a:rPr lang="zh-CN" altLang="en-US" sz="3600" b="1" dirty="0">
                <a:solidFill>
                  <a:schemeClr val="accent3"/>
                </a:solidFill>
              </a:rPr>
              <a:t>影响</a:t>
            </a:r>
            <a:r>
              <a:rPr lang="zh-CN" altLang="en-US" sz="2000" dirty="0"/>
              <a:t>有多大？主要</a:t>
            </a:r>
            <a:r>
              <a:rPr lang="zh-CN" altLang="en-US" sz="3600" b="1" dirty="0">
                <a:solidFill>
                  <a:schemeClr val="accent3"/>
                </a:solidFill>
              </a:rPr>
              <a:t>来源</a:t>
            </a:r>
            <a:r>
              <a:rPr lang="zh-CN" altLang="en-US" sz="2000" dirty="0"/>
              <a:t>是什么？如何有效</a:t>
            </a:r>
            <a:r>
              <a:rPr lang="zh-CN" altLang="en-US" sz="3600" b="1" dirty="0">
                <a:solidFill>
                  <a:schemeClr val="accent3"/>
                </a:solidFill>
              </a:rPr>
              <a:t>应对</a:t>
            </a:r>
            <a:r>
              <a:rPr lang="zh-CN" altLang="en-US" sz="2000" dirty="0"/>
              <a:t>？</a:t>
            </a:r>
            <a:endParaRPr lang="en-US" altLang="zh-CN" sz="2000" dirty="0"/>
          </a:p>
        </p:txBody>
      </p:sp>
      <p:pic>
        <p:nvPicPr>
          <p:cNvPr id="62" name="图片 3">
            <a:extLst>
              <a:ext uri="{FF2B5EF4-FFF2-40B4-BE49-F238E27FC236}">
                <a16:creationId xmlns:a16="http://schemas.microsoft.com/office/drawing/2014/main" id="{9DA9BCEE-F7F9-296A-1F68-BC877B2214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71" y="2875970"/>
            <a:ext cx="4229080" cy="3171809"/>
          </a:xfrm>
          <a:prstGeom prst="rect">
            <a:avLst/>
          </a:prstGeom>
        </p:spPr>
      </p:pic>
      <p:pic>
        <p:nvPicPr>
          <p:cNvPr id="63" name="Picture 62">
            <a:extLst>
              <a:ext uri="{FF2B5EF4-FFF2-40B4-BE49-F238E27FC236}">
                <a16:creationId xmlns:a16="http://schemas.microsoft.com/office/drawing/2014/main" id="{58FD252C-578C-EFCD-9201-967DF18EB9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64056" y="2460835"/>
            <a:ext cx="4454291" cy="4002079"/>
          </a:xfrm>
          <a:prstGeom prst="rect">
            <a:avLst/>
          </a:prstGeom>
        </p:spPr>
      </p:pic>
      <p:pic>
        <p:nvPicPr>
          <p:cNvPr id="64" name="图片 2">
            <a:extLst>
              <a:ext uri="{FF2B5EF4-FFF2-40B4-BE49-F238E27FC236}">
                <a16:creationId xmlns:a16="http://schemas.microsoft.com/office/drawing/2014/main" id="{E4C3D879-76D1-3A3D-926E-883B9198772A}"/>
              </a:ext>
            </a:extLst>
          </p:cNvPr>
          <p:cNvPicPr>
            <a:picLocks noChangeAspect="1"/>
          </p:cNvPicPr>
          <p:nvPr/>
        </p:nvPicPr>
        <p:blipFill>
          <a:blip r:embed="rId5">
            <a:extLst>
              <a:ext uri="{28A0092B-C50C-407E-A947-70E740481C1C}">
                <a14:useLocalDpi xmlns:a14="http://schemas.microsoft.com/office/drawing/2010/main" val="0"/>
              </a:ext>
            </a:extLst>
          </a:blip>
          <a:srcRect r="50025"/>
          <a:stretch>
            <a:fillRect/>
          </a:stretch>
        </p:blipFill>
        <p:spPr>
          <a:xfrm>
            <a:off x="4285456" y="2936451"/>
            <a:ext cx="3378600" cy="3050847"/>
          </a:xfrm>
          <a:prstGeom prst="rect">
            <a:avLst/>
          </a:prstGeom>
        </p:spPr>
      </p:pic>
      <p:sp>
        <p:nvSpPr>
          <p:cNvPr id="65" name="文本框 60">
            <a:extLst>
              <a:ext uri="{FF2B5EF4-FFF2-40B4-BE49-F238E27FC236}">
                <a16:creationId xmlns:a16="http://schemas.microsoft.com/office/drawing/2014/main" id="{35D4D56C-2450-A667-C409-0A135E8B1A6C}"/>
              </a:ext>
            </a:extLst>
          </p:cNvPr>
          <p:cNvSpPr txBox="1"/>
          <p:nvPr/>
        </p:nvSpPr>
        <p:spPr>
          <a:xfrm>
            <a:off x="1471121" y="6155137"/>
            <a:ext cx="5617660" cy="307777"/>
          </a:xfrm>
          <a:prstGeom prst="rect">
            <a:avLst/>
          </a:prstGeom>
          <a:noFill/>
        </p:spPr>
        <p:txBody>
          <a:bodyPr wrap="square">
            <a:spAutoFit/>
          </a:bodyPr>
          <a:lstStyle/>
          <a:p>
            <a:pPr algn="r">
              <a:spcAft>
                <a:spcPts val="1200"/>
              </a:spcAft>
            </a:pPr>
            <a:r>
              <a:rPr lang="en-GB" altLang="zh-CN" sz="1400" dirty="0">
                <a:solidFill>
                  <a:srgbClr val="20314B"/>
                </a:solidFill>
                <a:ea typeface="汉仪君黑-45简" panose="020B0604020202020204" charset="-122"/>
                <a:cs typeface="+mn-ea"/>
                <a:sym typeface="+mn-lt"/>
              </a:rPr>
              <a:t>c/o CARB; DANEL, 2019; Bergin et al., </a:t>
            </a:r>
            <a:r>
              <a:rPr lang="en-GB" altLang="zh-CN" sz="1400" i="1" dirty="0">
                <a:solidFill>
                  <a:srgbClr val="20314B"/>
                </a:solidFill>
                <a:ea typeface="汉仪君黑-45简" panose="020B0604020202020204" charset="-122"/>
                <a:cs typeface="+mn-ea"/>
                <a:sym typeface="+mn-lt"/>
              </a:rPr>
              <a:t>ES&amp;T,</a:t>
            </a:r>
            <a:r>
              <a:rPr lang="en-GB" altLang="zh-CN" sz="1400" dirty="0">
                <a:solidFill>
                  <a:srgbClr val="20314B"/>
                </a:solidFill>
                <a:ea typeface="汉仪君黑-45简" panose="020B0604020202020204" charset="-122"/>
                <a:cs typeface="+mn-ea"/>
                <a:sym typeface="+mn-lt"/>
              </a:rPr>
              <a:t> 2017</a:t>
            </a:r>
          </a:p>
        </p:txBody>
      </p:sp>
    </p:spTree>
    <p:extLst>
      <p:ext uri="{BB962C8B-B14F-4D97-AF65-F5344CB8AC3E}">
        <p14:creationId xmlns:p14="http://schemas.microsoft.com/office/powerpoint/2010/main" val="3071582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1111A-522D-B145-8A4B-4517AB04D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05D03-2E41-903B-77D2-C26F9CB9F35F}"/>
              </a:ext>
            </a:extLst>
          </p:cNvPr>
          <p:cNvSpPr>
            <a:spLocks noGrp="1"/>
          </p:cNvSpPr>
          <p:nvPr>
            <p:ph type="title"/>
          </p:nvPr>
        </p:nvSpPr>
        <p:spPr/>
        <p:txBody>
          <a:bodyPr/>
          <a:lstStyle/>
          <a:p>
            <a:r>
              <a:rPr lang="en-CN" dirty="0"/>
              <a:t>成果一</a:t>
            </a:r>
            <a:r>
              <a:rPr lang="zh-CN" altLang="en-US" dirty="0"/>
              <a:t>：定量评估</a:t>
            </a:r>
            <a:endParaRPr lang="en-CN" dirty="0"/>
          </a:p>
        </p:txBody>
      </p:sp>
      <p:sp>
        <p:nvSpPr>
          <p:cNvPr id="3" name="Slide Number Placeholder 2">
            <a:extLst>
              <a:ext uri="{FF2B5EF4-FFF2-40B4-BE49-F238E27FC236}">
                <a16:creationId xmlns:a16="http://schemas.microsoft.com/office/drawing/2014/main" id="{1F60A3A3-8D1B-85F5-7F58-061315C05A90}"/>
              </a:ext>
            </a:extLst>
          </p:cNvPr>
          <p:cNvSpPr>
            <a:spLocks noGrp="1"/>
          </p:cNvSpPr>
          <p:nvPr>
            <p:ph type="sldNum" sz="quarter" idx="12"/>
          </p:nvPr>
        </p:nvSpPr>
        <p:spPr/>
        <p:txBody>
          <a:bodyPr/>
          <a:lstStyle/>
          <a:p>
            <a:fld id="{3ACD1EC8-6F57-41A7-99F1-FEDB2874BA2B}" type="slidenum">
              <a:rPr lang="zh-CN" altLang="en-US" smtClean="0"/>
              <a:t>5</a:t>
            </a:fld>
            <a:endParaRPr lang="zh-CN" altLang="en-US" dirty="0"/>
          </a:p>
        </p:txBody>
      </p:sp>
      <p:grpSp>
        <p:nvGrpSpPr>
          <p:cNvPr id="59" name="Group 58">
            <a:extLst>
              <a:ext uri="{FF2B5EF4-FFF2-40B4-BE49-F238E27FC236}">
                <a16:creationId xmlns:a16="http://schemas.microsoft.com/office/drawing/2014/main" id="{177D032E-6BDA-91D3-A17A-883D38DB9EBD}"/>
              </a:ext>
            </a:extLst>
          </p:cNvPr>
          <p:cNvGrpSpPr/>
          <p:nvPr/>
        </p:nvGrpSpPr>
        <p:grpSpPr>
          <a:xfrm>
            <a:off x="935139" y="2130275"/>
            <a:ext cx="10321722" cy="4448325"/>
            <a:chOff x="488154" y="1104484"/>
            <a:chExt cx="10321722" cy="4448325"/>
          </a:xfrm>
        </p:grpSpPr>
        <p:pic>
          <p:nvPicPr>
            <p:cNvPr id="4" name="Picture 3" descr="A diagram of a planet&#10;&#10;AI-generated content may be incorrect.">
              <a:extLst>
                <a:ext uri="{FF2B5EF4-FFF2-40B4-BE49-F238E27FC236}">
                  <a16:creationId xmlns:a16="http://schemas.microsoft.com/office/drawing/2014/main" id="{45D672B3-E457-4A7F-E0C7-B423D096ADF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8154" y="1104484"/>
              <a:ext cx="5854406" cy="4387087"/>
            </a:xfrm>
            <a:prstGeom prst="rect">
              <a:avLst/>
            </a:prstGeom>
          </p:spPr>
        </p:pic>
        <p:grpSp>
          <p:nvGrpSpPr>
            <p:cNvPr id="58" name="Group 57">
              <a:extLst>
                <a:ext uri="{FF2B5EF4-FFF2-40B4-BE49-F238E27FC236}">
                  <a16:creationId xmlns:a16="http://schemas.microsoft.com/office/drawing/2014/main" id="{3D0C5211-9BA4-A39C-297B-36C5132A547D}"/>
                </a:ext>
              </a:extLst>
            </p:cNvPr>
            <p:cNvGrpSpPr/>
            <p:nvPr/>
          </p:nvGrpSpPr>
          <p:grpSpPr>
            <a:xfrm>
              <a:off x="6096000" y="1233708"/>
              <a:ext cx="3810563" cy="4319101"/>
              <a:chOff x="6417694" y="1233708"/>
              <a:chExt cx="3810563" cy="4319101"/>
            </a:xfrm>
          </p:grpSpPr>
          <p:sp>
            <p:nvSpPr>
              <p:cNvPr id="7" name="Rectangle 6">
                <a:extLst>
                  <a:ext uri="{FF2B5EF4-FFF2-40B4-BE49-F238E27FC236}">
                    <a16:creationId xmlns:a16="http://schemas.microsoft.com/office/drawing/2014/main" id="{C728D127-1207-8A2F-330E-860B11CCC54E}"/>
                  </a:ext>
                </a:extLst>
              </p:cNvPr>
              <p:cNvSpPr/>
              <p:nvPr/>
            </p:nvSpPr>
            <p:spPr>
              <a:xfrm rot="675632" flipH="1">
                <a:off x="7934178" y="1700353"/>
                <a:ext cx="120192" cy="3835199"/>
              </a:xfrm>
              <a:prstGeom prst="rect">
                <a:avLst/>
              </a:prstGeom>
              <a:gradFill flip="none" rotWithShape="1">
                <a:gsLst>
                  <a:gs pos="0">
                    <a:srgbClr val="FFC000">
                      <a:lumMod val="5000"/>
                      <a:lumOff val="95000"/>
                    </a:srgbClr>
                  </a:gs>
                  <a:gs pos="74000">
                    <a:srgbClr val="FFC000">
                      <a:lumMod val="45000"/>
                      <a:lumOff val="55000"/>
                    </a:srgbClr>
                  </a:gs>
                  <a:gs pos="83000">
                    <a:srgbClr val="FFC000">
                      <a:lumMod val="45000"/>
                      <a:lumOff val="55000"/>
                    </a:srgbClr>
                  </a:gs>
                  <a:gs pos="100000">
                    <a:srgbClr val="FFC000">
                      <a:lumMod val="30000"/>
                      <a:lumOff val="70000"/>
                    </a:srgbClr>
                  </a:gs>
                </a:gsLst>
                <a:lin ang="54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3FC5EEA3-1BA7-8A9D-6AB9-AE6921E42143}"/>
                  </a:ext>
                </a:extLst>
              </p:cNvPr>
              <p:cNvSpPr/>
              <p:nvPr/>
            </p:nvSpPr>
            <p:spPr>
              <a:xfrm rot="10102254">
                <a:off x="7326504" y="1990724"/>
                <a:ext cx="127395" cy="3524177"/>
              </a:xfrm>
              <a:prstGeom prst="rect">
                <a:avLst/>
              </a:prstGeom>
              <a:gradFill flip="none" rotWithShape="1">
                <a:gsLst>
                  <a:gs pos="0">
                    <a:srgbClr val="FFC000">
                      <a:lumMod val="5000"/>
                      <a:lumOff val="95000"/>
                    </a:srgbClr>
                  </a:gs>
                  <a:gs pos="74000">
                    <a:srgbClr val="FFC000">
                      <a:lumMod val="45000"/>
                      <a:lumOff val="55000"/>
                    </a:srgbClr>
                  </a:gs>
                  <a:gs pos="83000">
                    <a:srgbClr val="FFC000">
                      <a:lumMod val="45000"/>
                      <a:lumOff val="55000"/>
                    </a:srgbClr>
                  </a:gs>
                  <a:gs pos="100000">
                    <a:srgbClr val="FFC000">
                      <a:lumMod val="30000"/>
                      <a:lumOff val="70000"/>
                    </a:srgbClr>
                  </a:gs>
                </a:gsLst>
                <a:lin ang="54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pic>
            <p:nvPicPr>
              <p:cNvPr id="14" name="Picture 13">
                <a:extLst>
                  <a:ext uri="{FF2B5EF4-FFF2-40B4-BE49-F238E27FC236}">
                    <a16:creationId xmlns:a16="http://schemas.microsoft.com/office/drawing/2014/main" id="{CE2DDF0E-2335-8187-6517-3A1B4FBC2DB2}"/>
                  </a:ext>
                </a:extLst>
              </p:cNvPr>
              <p:cNvPicPr>
                <a:picLocks noChangeAspect="1"/>
              </p:cNvPicPr>
              <p:nvPr/>
            </p:nvPicPr>
            <p:blipFill>
              <a:blip r:embed="rId7"/>
              <a:srcRect l="9671" t="28749" r="9671" b="28749"/>
              <a:stretch/>
            </p:blipFill>
            <p:spPr>
              <a:xfrm>
                <a:off x="6961845" y="4742665"/>
                <a:ext cx="1537438" cy="810144"/>
              </a:xfrm>
              <a:prstGeom prst="rect">
                <a:avLst/>
              </a:prstGeom>
            </p:spPr>
          </p:pic>
          <p:pic>
            <p:nvPicPr>
              <p:cNvPr id="9" name="Picture 2" descr="Orbiting Carbon Observatory 2 - Earth Missions - NASA Jet Propulsion  Laboratory">
                <a:extLst>
                  <a:ext uri="{FF2B5EF4-FFF2-40B4-BE49-F238E27FC236}">
                    <a16:creationId xmlns:a16="http://schemas.microsoft.com/office/drawing/2014/main" id="{F7C7A5A2-A851-285F-CCAF-F99135C63E3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7578999" y="1233708"/>
                <a:ext cx="2649258" cy="110109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yellow sun with rays of light&#10;&#10;AI-generated content may be incorrect.">
                <a:extLst>
                  <a:ext uri="{FF2B5EF4-FFF2-40B4-BE49-F238E27FC236}">
                    <a16:creationId xmlns:a16="http://schemas.microsoft.com/office/drawing/2014/main" id="{C2A818A3-10F4-B529-1541-41F44746DD5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17694" y="1408333"/>
                <a:ext cx="1161305" cy="1161305"/>
              </a:xfrm>
              <a:prstGeom prst="rect">
                <a:avLst/>
              </a:prstGeom>
            </p:spPr>
          </p:pic>
          <p:sp>
            <p:nvSpPr>
              <p:cNvPr id="13" name="Rectangle 12">
                <a:extLst>
                  <a:ext uri="{FF2B5EF4-FFF2-40B4-BE49-F238E27FC236}">
                    <a16:creationId xmlns:a16="http://schemas.microsoft.com/office/drawing/2014/main" id="{DE212C2A-C864-AE97-73A6-A6B5D3F803BF}"/>
                  </a:ext>
                </a:extLst>
              </p:cNvPr>
              <p:cNvSpPr/>
              <p:nvPr/>
            </p:nvSpPr>
            <p:spPr>
              <a:xfrm>
                <a:off x="7023437" y="2724972"/>
                <a:ext cx="1414254" cy="2774128"/>
              </a:xfrm>
              <a:prstGeom prst="rect">
                <a:avLst/>
              </a:prstGeom>
              <a:noFill/>
              <a:ln w="12700" cap="flat" cmpd="sng" algn="ctr">
                <a:solidFill>
                  <a:srgbClr val="024DA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8" name="Oval 17">
                <a:extLst>
                  <a:ext uri="{FF2B5EF4-FFF2-40B4-BE49-F238E27FC236}">
                    <a16:creationId xmlns:a16="http://schemas.microsoft.com/office/drawing/2014/main" id="{B81DED16-4499-50FF-9F25-FFD662D80213}"/>
                  </a:ext>
                </a:extLst>
              </p:cNvPr>
              <p:cNvSpPr/>
              <p:nvPr/>
            </p:nvSpPr>
            <p:spPr>
              <a:xfrm>
                <a:off x="7376200" y="3438294"/>
                <a:ext cx="138764" cy="138764"/>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9" name="Oval 18">
                <a:extLst>
                  <a:ext uri="{FF2B5EF4-FFF2-40B4-BE49-F238E27FC236}">
                    <a16:creationId xmlns:a16="http://schemas.microsoft.com/office/drawing/2014/main" id="{76927FEF-C550-8657-877E-FB2BDEA3AA69}"/>
                  </a:ext>
                </a:extLst>
              </p:cNvPr>
              <p:cNvSpPr/>
              <p:nvPr/>
            </p:nvSpPr>
            <p:spPr>
              <a:xfrm>
                <a:off x="7142418" y="3461077"/>
                <a:ext cx="93198" cy="93198"/>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0" name="Oval 19">
                <a:extLst>
                  <a:ext uri="{FF2B5EF4-FFF2-40B4-BE49-F238E27FC236}">
                    <a16:creationId xmlns:a16="http://schemas.microsoft.com/office/drawing/2014/main" id="{E09E8D09-9D62-C896-F186-53DB21BB10CD}"/>
                  </a:ext>
                </a:extLst>
              </p:cNvPr>
              <p:cNvSpPr/>
              <p:nvPr/>
            </p:nvSpPr>
            <p:spPr>
              <a:xfrm>
                <a:off x="8015967" y="3846250"/>
                <a:ext cx="104174" cy="104174"/>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1" name="Oval 20">
                <a:extLst>
                  <a:ext uri="{FF2B5EF4-FFF2-40B4-BE49-F238E27FC236}">
                    <a16:creationId xmlns:a16="http://schemas.microsoft.com/office/drawing/2014/main" id="{98FE7921-2104-977C-AA93-A252BE2C612B}"/>
                  </a:ext>
                </a:extLst>
              </p:cNvPr>
              <p:cNvSpPr/>
              <p:nvPr/>
            </p:nvSpPr>
            <p:spPr>
              <a:xfrm flipH="1">
                <a:off x="8037666" y="3633074"/>
                <a:ext cx="60776" cy="60776"/>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2" name="Oval 21">
                <a:extLst>
                  <a:ext uri="{FF2B5EF4-FFF2-40B4-BE49-F238E27FC236}">
                    <a16:creationId xmlns:a16="http://schemas.microsoft.com/office/drawing/2014/main" id="{6CA88352-59D0-28CB-900F-0440E571A4EA}"/>
                  </a:ext>
                </a:extLst>
              </p:cNvPr>
              <p:cNvSpPr/>
              <p:nvPr/>
            </p:nvSpPr>
            <p:spPr>
              <a:xfrm flipH="1">
                <a:off x="8190066" y="3785474"/>
                <a:ext cx="60776" cy="60776"/>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3" name="Oval 22">
                <a:extLst>
                  <a:ext uri="{FF2B5EF4-FFF2-40B4-BE49-F238E27FC236}">
                    <a16:creationId xmlns:a16="http://schemas.microsoft.com/office/drawing/2014/main" id="{E755B4A1-C76F-35BA-FA4A-35EA983B354C}"/>
                  </a:ext>
                </a:extLst>
              </p:cNvPr>
              <p:cNvSpPr/>
              <p:nvPr/>
            </p:nvSpPr>
            <p:spPr>
              <a:xfrm flipH="1">
                <a:off x="8190066" y="3339525"/>
                <a:ext cx="60776" cy="60776"/>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4" name="Oval 23">
                <a:extLst>
                  <a:ext uri="{FF2B5EF4-FFF2-40B4-BE49-F238E27FC236}">
                    <a16:creationId xmlns:a16="http://schemas.microsoft.com/office/drawing/2014/main" id="{6E70EA56-79ED-B96F-012B-5E5BDCE47002}"/>
                  </a:ext>
                </a:extLst>
              </p:cNvPr>
              <p:cNvSpPr/>
              <p:nvPr/>
            </p:nvSpPr>
            <p:spPr>
              <a:xfrm flipH="1">
                <a:off x="8190066" y="3021810"/>
                <a:ext cx="60776" cy="60776"/>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5" name="Oval 24">
                <a:extLst>
                  <a:ext uri="{FF2B5EF4-FFF2-40B4-BE49-F238E27FC236}">
                    <a16:creationId xmlns:a16="http://schemas.microsoft.com/office/drawing/2014/main" id="{C1A8ADE3-BA34-C7F5-D594-D75419F38B65}"/>
                  </a:ext>
                </a:extLst>
              </p:cNvPr>
              <p:cNvSpPr/>
              <p:nvPr/>
            </p:nvSpPr>
            <p:spPr>
              <a:xfrm flipH="1">
                <a:off x="7998361" y="3021810"/>
                <a:ext cx="60776" cy="60776"/>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6" name="Oval 25">
                <a:extLst>
                  <a:ext uri="{FF2B5EF4-FFF2-40B4-BE49-F238E27FC236}">
                    <a16:creationId xmlns:a16="http://schemas.microsoft.com/office/drawing/2014/main" id="{789929FA-4A6C-EE47-1156-061BA5E1B7AB}"/>
                  </a:ext>
                </a:extLst>
              </p:cNvPr>
              <p:cNvSpPr/>
              <p:nvPr/>
            </p:nvSpPr>
            <p:spPr>
              <a:xfrm flipH="1">
                <a:off x="7630533" y="3021810"/>
                <a:ext cx="60776" cy="60776"/>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7" name="Oval 26">
                <a:extLst>
                  <a:ext uri="{FF2B5EF4-FFF2-40B4-BE49-F238E27FC236}">
                    <a16:creationId xmlns:a16="http://schemas.microsoft.com/office/drawing/2014/main" id="{75B69FD8-4FF0-1999-6244-17BAECDFA16B}"/>
                  </a:ext>
                </a:extLst>
              </p:cNvPr>
              <p:cNvSpPr/>
              <p:nvPr/>
            </p:nvSpPr>
            <p:spPr>
              <a:xfrm flipH="1">
                <a:off x="7489873" y="3021810"/>
                <a:ext cx="60776" cy="60776"/>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8" name="Oval 27">
                <a:extLst>
                  <a:ext uri="{FF2B5EF4-FFF2-40B4-BE49-F238E27FC236}">
                    <a16:creationId xmlns:a16="http://schemas.microsoft.com/office/drawing/2014/main" id="{F176B3C6-0AFE-C502-7B71-978579462AAE}"/>
                  </a:ext>
                </a:extLst>
              </p:cNvPr>
              <p:cNvSpPr/>
              <p:nvPr/>
            </p:nvSpPr>
            <p:spPr>
              <a:xfrm flipH="1">
                <a:off x="7489873" y="2871711"/>
                <a:ext cx="60776" cy="60776"/>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9" name="Oval 28">
                <a:extLst>
                  <a:ext uri="{FF2B5EF4-FFF2-40B4-BE49-F238E27FC236}">
                    <a16:creationId xmlns:a16="http://schemas.microsoft.com/office/drawing/2014/main" id="{7B9FA11A-023E-8CC8-1107-51FF8F478B94}"/>
                  </a:ext>
                </a:extLst>
              </p:cNvPr>
              <p:cNvSpPr/>
              <p:nvPr/>
            </p:nvSpPr>
            <p:spPr>
              <a:xfrm flipH="1">
                <a:off x="7489873" y="3755086"/>
                <a:ext cx="60776" cy="60776"/>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0" name="Oval 29">
                <a:extLst>
                  <a:ext uri="{FF2B5EF4-FFF2-40B4-BE49-F238E27FC236}">
                    <a16:creationId xmlns:a16="http://schemas.microsoft.com/office/drawing/2014/main" id="{5D081E27-8662-6B99-CFA3-7D0D6901B723}"/>
                  </a:ext>
                </a:extLst>
              </p:cNvPr>
              <p:cNvSpPr/>
              <p:nvPr/>
            </p:nvSpPr>
            <p:spPr>
              <a:xfrm flipH="1">
                <a:off x="7702333" y="3755086"/>
                <a:ext cx="60776" cy="60776"/>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31" name="Oval 30">
                <a:extLst>
                  <a:ext uri="{FF2B5EF4-FFF2-40B4-BE49-F238E27FC236}">
                    <a16:creationId xmlns:a16="http://schemas.microsoft.com/office/drawing/2014/main" id="{B4B99A51-A67B-CE6E-7A69-CE47B87110C0}"/>
                  </a:ext>
                </a:extLst>
              </p:cNvPr>
              <p:cNvSpPr/>
              <p:nvPr/>
            </p:nvSpPr>
            <p:spPr>
              <a:xfrm flipH="1">
                <a:off x="7702333" y="3433181"/>
                <a:ext cx="60776" cy="60776"/>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1" name="Oval 40">
                <a:extLst>
                  <a:ext uri="{FF2B5EF4-FFF2-40B4-BE49-F238E27FC236}">
                    <a16:creationId xmlns:a16="http://schemas.microsoft.com/office/drawing/2014/main" id="{43D7804F-3991-D0C5-6C7B-E1B291DBDD10}"/>
                  </a:ext>
                </a:extLst>
              </p:cNvPr>
              <p:cNvSpPr/>
              <p:nvPr/>
            </p:nvSpPr>
            <p:spPr>
              <a:xfrm flipH="1">
                <a:off x="8283602" y="3400301"/>
                <a:ext cx="60776" cy="60776"/>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2" name="Oval 41">
                <a:extLst>
                  <a:ext uri="{FF2B5EF4-FFF2-40B4-BE49-F238E27FC236}">
                    <a16:creationId xmlns:a16="http://schemas.microsoft.com/office/drawing/2014/main" id="{60054029-8BC4-E914-05DA-C577182CF6EE}"/>
                  </a:ext>
                </a:extLst>
              </p:cNvPr>
              <p:cNvSpPr/>
              <p:nvPr/>
            </p:nvSpPr>
            <p:spPr>
              <a:xfrm flipH="1">
                <a:off x="7369932" y="4295651"/>
                <a:ext cx="60776" cy="60776"/>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3" name="Oval 42">
                <a:extLst>
                  <a:ext uri="{FF2B5EF4-FFF2-40B4-BE49-F238E27FC236}">
                    <a16:creationId xmlns:a16="http://schemas.microsoft.com/office/drawing/2014/main" id="{9410E176-3C79-8FF8-01DC-706322EBD716}"/>
                  </a:ext>
                </a:extLst>
              </p:cNvPr>
              <p:cNvSpPr/>
              <p:nvPr/>
            </p:nvSpPr>
            <p:spPr>
              <a:xfrm flipH="1">
                <a:off x="8186444" y="4295651"/>
                <a:ext cx="55502" cy="64570"/>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44" name="Oval 43">
                <a:extLst>
                  <a:ext uri="{FF2B5EF4-FFF2-40B4-BE49-F238E27FC236}">
                    <a16:creationId xmlns:a16="http://schemas.microsoft.com/office/drawing/2014/main" id="{70A5C9FC-27B6-2A4B-E857-52F8DA6AF88E}"/>
                  </a:ext>
                </a:extLst>
              </p:cNvPr>
              <p:cNvSpPr/>
              <p:nvPr/>
            </p:nvSpPr>
            <p:spPr>
              <a:xfrm flipH="1">
                <a:off x="7961979" y="4295651"/>
                <a:ext cx="55502" cy="64570"/>
              </a:xfrm>
              <a:prstGeom prst="ellipse">
                <a:avLst/>
              </a:prstGeom>
              <a:solidFill>
                <a:sysClr val="window" lastClr="FFFFFF">
                  <a:lumMod val="6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pic>
            <p:nvPicPr>
              <p:cNvPr id="45" name="Picture 44" descr="A solar panel on a stand&#10;&#10;AI-generated content may be incorrect.">
                <a:extLst>
                  <a:ext uri="{FF2B5EF4-FFF2-40B4-BE49-F238E27FC236}">
                    <a16:creationId xmlns:a16="http://schemas.microsoft.com/office/drawing/2014/main" id="{2C978DFB-EE7F-91A3-D8BE-EA2E36A03E8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853031" y="4906915"/>
                <a:ext cx="584659" cy="584659"/>
              </a:xfrm>
              <a:prstGeom prst="rect">
                <a:avLst/>
              </a:prstGeom>
            </p:spPr>
          </p:pic>
          <p:sp>
            <p:nvSpPr>
              <p:cNvPr id="12" name="矩形 44">
                <a:extLst>
                  <a:ext uri="{FF2B5EF4-FFF2-40B4-BE49-F238E27FC236}">
                    <a16:creationId xmlns:a16="http://schemas.microsoft.com/office/drawing/2014/main" id="{CBADD72C-C58F-2D35-8D93-3F979469CDC3}"/>
                  </a:ext>
                </a:extLst>
              </p:cNvPr>
              <p:cNvSpPr/>
              <p:nvPr/>
            </p:nvSpPr>
            <p:spPr>
              <a:xfrm>
                <a:off x="6854246" y="2338438"/>
                <a:ext cx="1735949" cy="369332"/>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GB" b="0"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rPr>
                  <a:t>大气</a:t>
                </a:r>
                <a:r>
                  <a:rPr kumimoji="0" lang="zh-CN" altLang="en-US" b="0" i="0" u="none" strike="noStrike" kern="0" cap="none" spc="0" normalizeH="0" baseline="0" noProof="0" dirty="0">
                    <a:ln>
                      <a:noFill/>
                    </a:ln>
                    <a:solidFill>
                      <a:prstClr val="black">
                        <a:lumMod val="65000"/>
                        <a:lumOff val="35000"/>
                      </a:prstClr>
                    </a:solidFill>
                    <a:effectLst/>
                    <a:uLnTx/>
                    <a:uFillTx/>
                    <a:latin typeface="微软雅黑" panose="020B0503020204020204" pitchFamily="34" charset="-122"/>
                  </a:rPr>
                  <a:t>柱</a:t>
                </a:r>
              </a:p>
            </p:txBody>
          </p:sp>
        </p:grpSp>
        <p:grpSp>
          <p:nvGrpSpPr>
            <p:cNvPr id="46" name="Group 45">
              <a:extLst>
                <a:ext uri="{FF2B5EF4-FFF2-40B4-BE49-F238E27FC236}">
                  <a16:creationId xmlns:a16="http://schemas.microsoft.com/office/drawing/2014/main" id="{7148C369-1BB5-5B95-98C0-CE9162641AF7}"/>
                </a:ext>
              </a:extLst>
            </p:cNvPr>
            <p:cNvGrpSpPr/>
            <p:nvPr/>
          </p:nvGrpSpPr>
          <p:grpSpPr>
            <a:xfrm>
              <a:off x="8524084" y="2509931"/>
              <a:ext cx="1084016" cy="1084016"/>
              <a:chOff x="10057683" y="2093603"/>
              <a:chExt cx="1084016" cy="1084016"/>
            </a:xfrm>
          </p:grpSpPr>
          <p:sp>
            <p:nvSpPr>
              <p:cNvPr id="47" name="矩形 22">
                <a:extLst>
                  <a:ext uri="{FF2B5EF4-FFF2-40B4-BE49-F238E27FC236}">
                    <a16:creationId xmlns:a16="http://schemas.microsoft.com/office/drawing/2014/main" id="{4AD5012A-A372-3CB4-1C0D-308E12E35A7E}"/>
                  </a:ext>
                </a:extLst>
              </p:cNvPr>
              <p:cNvSpPr/>
              <p:nvPr>
                <p:custDataLst>
                  <p:tags r:id="rId4"/>
                </p:custDataLst>
              </p:nvPr>
            </p:nvSpPr>
            <p:spPr>
              <a:xfrm>
                <a:off x="10175443" y="2220113"/>
                <a:ext cx="848496" cy="830997"/>
              </a:xfrm>
              <a:prstGeom prst="rect">
                <a:avLst/>
              </a:prstGeom>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24DA2"/>
                    </a:solidFill>
                    <a:effectLst/>
                    <a:uLnTx/>
                    <a:uFillTx/>
                    <a:latin typeface="+mn-ea"/>
                    <a:cs typeface="+mn-ea"/>
                    <a:sym typeface="+mn-lt"/>
                  </a:rPr>
                  <a:t>对地观测</a:t>
                </a:r>
              </a:p>
            </p:txBody>
          </p:sp>
          <p:sp>
            <p:nvSpPr>
              <p:cNvPr id="48" name="椭圆 1">
                <a:extLst>
                  <a:ext uri="{FF2B5EF4-FFF2-40B4-BE49-F238E27FC236}">
                    <a16:creationId xmlns:a16="http://schemas.microsoft.com/office/drawing/2014/main" id="{AB935365-378A-F0A4-6705-9A5E9F28F7D3}"/>
                  </a:ext>
                </a:extLst>
              </p:cNvPr>
              <p:cNvSpPr/>
              <p:nvPr/>
            </p:nvSpPr>
            <p:spPr>
              <a:xfrm>
                <a:off x="10057683" y="2093603"/>
                <a:ext cx="1084016" cy="1084016"/>
              </a:xfrm>
              <a:prstGeom prst="ellipse">
                <a:avLst/>
              </a:prstGeom>
              <a:noFill/>
              <a:ln w="19050" cap="flat" cmpd="sng" algn="ctr">
                <a:solidFill>
                  <a:srgbClr val="024DA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n-ea"/>
                  <a:cs typeface="+mn-cs"/>
                </a:endParaRPr>
              </a:p>
            </p:txBody>
          </p:sp>
        </p:grpSp>
        <p:grpSp>
          <p:nvGrpSpPr>
            <p:cNvPr id="49" name="Group 48">
              <a:extLst>
                <a:ext uri="{FF2B5EF4-FFF2-40B4-BE49-F238E27FC236}">
                  <a16:creationId xmlns:a16="http://schemas.microsoft.com/office/drawing/2014/main" id="{EADF1895-50B6-DCC8-7B68-B531B168BB43}"/>
                </a:ext>
              </a:extLst>
            </p:cNvPr>
            <p:cNvGrpSpPr/>
            <p:nvPr/>
          </p:nvGrpSpPr>
          <p:grpSpPr>
            <a:xfrm>
              <a:off x="9725860" y="2495120"/>
              <a:ext cx="1084016" cy="1084016"/>
              <a:chOff x="10057683" y="2093603"/>
              <a:chExt cx="1084016" cy="1084016"/>
            </a:xfrm>
          </p:grpSpPr>
          <p:sp>
            <p:nvSpPr>
              <p:cNvPr id="50" name="矩形 22">
                <a:extLst>
                  <a:ext uri="{FF2B5EF4-FFF2-40B4-BE49-F238E27FC236}">
                    <a16:creationId xmlns:a16="http://schemas.microsoft.com/office/drawing/2014/main" id="{D8852D0A-0CC1-947D-067C-0010E71D829C}"/>
                  </a:ext>
                </a:extLst>
              </p:cNvPr>
              <p:cNvSpPr/>
              <p:nvPr>
                <p:custDataLst>
                  <p:tags r:id="rId3"/>
                </p:custDataLst>
              </p:nvPr>
            </p:nvSpPr>
            <p:spPr>
              <a:xfrm>
                <a:off x="10175443" y="2220113"/>
                <a:ext cx="848496" cy="830997"/>
              </a:xfrm>
              <a:prstGeom prst="rect">
                <a:avLst/>
              </a:prstGeom>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24DA2"/>
                    </a:solidFill>
                    <a:effectLst/>
                    <a:uLnTx/>
                    <a:uFillTx/>
                    <a:latin typeface="+mn-ea"/>
                    <a:cs typeface="+mn-ea"/>
                    <a:sym typeface="+mn-lt"/>
                  </a:rPr>
                  <a:t>过程模型</a:t>
                </a:r>
              </a:p>
            </p:txBody>
          </p:sp>
          <p:sp>
            <p:nvSpPr>
              <p:cNvPr id="51" name="椭圆 1">
                <a:extLst>
                  <a:ext uri="{FF2B5EF4-FFF2-40B4-BE49-F238E27FC236}">
                    <a16:creationId xmlns:a16="http://schemas.microsoft.com/office/drawing/2014/main" id="{77B67643-DAB6-2893-7F18-711EDAE21896}"/>
                  </a:ext>
                </a:extLst>
              </p:cNvPr>
              <p:cNvSpPr/>
              <p:nvPr/>
            </p:nvSpPr>
            <p:spPr>
              <a:xfrm>
                <a:off x="10057683" y="2093603"/>
                <a:ext cx="1084016" cy="1084016"/>
              </a:xfrm>
              <a:prstGeom prst="ellipse">
                <a:avLst/>
              </a:prstGeom>
              <a:noFill/>
              <a:ln w="19050" cap="flat" cmpd="sng" algn="ctr">
                <a:solidFill>
                  <a:srgbClr val="024DA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n-ea"/>
                  <a:cs typeface="+mn-cs"/>
                </a:endParaRPr>
              </a:p>
            </p:txBody>
          </p:sp>
        </p:grpSp>
        <p:grpSp>
          <p:nvGrpSpPr>
            <p:cNvPr id="52" name="Group 51">
              <a:extLst>
                <a:ext uri="{FF2B5EF4-FFF2-40B4-BE49-F238E27FC236}">
                  <a16:creationId xmlns:a16="http://schemas.microsoft.com/office/drawing/2014/main" id="{D628CC63-2C01-5BF8-E07D-D23870AF8097}"/>
                </a:ext>
              </a:extLst>
            </p:cNvPr>
            <p:cNvGrpSpPr/>
            <p:nvPr/>
          </p:nvGrpSpPr>
          <p:grpSpPr>
            <a:xfrm>
              <a:off x="8524084" y="3741176"/>
              <a:ext cx="1084016" cy="1084016"/>
              <a:chOff x="10057683" y="2093603"/>
              <a:chExt cx="1084016" cy="1084016"/>
            </a:xfrm>
          </p:grpSpPr>
          <p:sp>
            <p:nvSpPr>
              <p:cNvPr id="53" name="矩形 22">
                <a:extLst>
                  <a:ext uri="{FF2B5EF4-FFF2-40B4-BE49-F238E27FC236}">
                    <a16:creationId xmlns:a16="http://schemas.microsoft.com/office/drawing/2014/main" id="{B6169F8E-D7EA-43A4-B480-92C4E1F6BF55}"/>
                  </a:ext>
                </a:extLst>
              </p:cNvPr>
              <p:cNvSpPr/>
              <p:nvPr>
                <p:custDataLst>
                  <p:tags r:id="rId2"/>
                </p:custDataLst>
              </p:nvPr>
            </p:nvSpPr>
            <p:spPr>
              <a:xfrm>
                <a:off x="10175443" y="2220113"/>
                <a:ext cx="848496" cy="830997"/>
              </a:xfrm>
              <a:prstGeom prst="rect">
                <a:avLst/>
              </a:prstGeom>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24DA2"/>
                    </a:solidFill>
                    <a:effectLst/>
                    <a:uLnTx/>
                    <a:uFillTx/>
                    <a:latin typeface="+mn-ea"/>
                    <a:cs typeface="+mn-ea"/>
                    <a:sym typeface="+mn-lt"/>
                  </a:rPr>
                  <a:t>资料同化</a:t>
                </a:r>
              </a:p>
            </p:txBody>
          </p:sp>
          <p:sp>
            <p:nvSpPr>
              <p:cNvPr id="54" name="椭圆 1">
                <a:extLst>
                  <a:ext uri="{FF2B5EF4-FFF2-40B4-BE49-F238E27FC236}">
                    <a16:creationId xmlns:a16="http://schemas.microsoft.com/office/drawing/2014/main" id="{2BAD94D3-96DF-C6E1-0068-F28F40C54360}"/>
                  </a:ext>
                </a:extLst>
              </p:cNvPr>
              <p:cNvSpPr/>
              <p:nvPr/>
            </p:nvSpPr>
            <p:spPr>
              <a:xfrm>
                <a:off x="10057683" y="2093603"/>
                <a:ext cx="1084016" cy="1084016"/>
              </a:xfrm>
              <a:prstGeom prst="ellipse">
                <a:avLst/>
              </a:prstGeom>
              <a:noFill/>
              <a:ln w="19050" cap="flat" cmpd="sng" algn="ctr">
                <a:solidFill>
                  <a:srgbClr val="024DA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n-ea"/>
                  <a:cs typeface="+mn-cs"/>
                </a:endParaRPr>
              </a:p>
            </p:txBody>
          </p:sp>
        </p:grpSp>
        <p:grpSp>
          <p:nvGrpSpPr>
            <p:cNvPr id="55" name="Group 54">
              <a:extLst>
                <a:ext uri="{FF2B5EF4-FFF2-40B4-BE49-F238E27FC236}">
                  <a16:creationId xmlns:a16="http://schemas.microsoft.com/office/drawing/2014/main" id="{793504C8-A637-4083-02B2-5C3BF9A1503B}"/>
                </a:ext>
              </a:extLst>
            </p:cNvPr>
            <p:cNvGrpSpPr/>
            <p:nvPr/>
          </p:nvGrpSpPr>
          <p:grpSpPr>
            <a:xfrm>
              <a:off x="9725860" y="3727970"/>
              <a:ext cx="1084016" cy="1084016"/>
              <a:chOff x="10057683" y="2093603"/>
              <a:chExt cx="1084016" cy="1084016"/>
            </a:xfrm>
          </p:grpSpPr>
          <p:sp>
            <p:nvSpPr>
              <p:cNvPr id="56" name="矩形 22">
                <a:extLst>
                  <a:ext uri="{FF2B5EF4-FFF2-40B4-BE49-F238E27FC236}">
                    <a16:creationId xmlns:a16="http://schemas.microsoft.com/office/drawing/2014/main" id="{3A744B3B-7AB1-CCCB-7612-79564C87678C}"/>
                  </a:ext>
                </a:extLst>
              </p:cNvPr>
              <p:cNvSpPr/>
              <p:nvPr>
                <p:custDataLst>
                  <p:tags r:id="rId1"/>
                </p:custDataLst>
              </p:nvPr>
            </p:nvSpPr>
            <p:spPr>
              <a:xfrm>
                <a:off x="10175443" y="2220113"/>
                <a:ext cx="848496" cy="830997"/>
              </a:xfrm>
              <a:prstGeom prst="rect">
                <a:avLst/>
              </a:prstGeom>
            </p:spPr>
            <p:txBody>
              <a:bodyPr wrap="squar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024DA2"/>
                    </a:solidFill>
                    <a:effectLst/>
                    <a:uLnTx/>
                    <a:uFillTx/>
                    <a:latin typeface="+mn-ea"/>
                    <a:cs typeface="+mn-ea"/>
                    <a:sym typeface="+mn-lt"/>
                  </a:rPr>
                  <a:t>人工智能</a:t>
                </a:r>
              </a:p>
            </p:txBody>
          </p:sp>
          <p:sp>
            <p:nvSpPr>
              <p:cNvPr id="57" name="椭圆 1">
                <a:extLst>
                  <a:ext uri="{FF2B5EF4-FFF2-40B4-BE49-F238E27FC236}">
                    <a16:creationId xmlns:a16="http://schemas.microsoft.com/office/drawing/2014/main" id="{57790F70-6D75-F090-83ED-D91C0CA22AC6}"/>
                  </a:ext>
                </a:extLst>
              </p:cNvPr>
              <p:cNvSpPr/>
              <p:nvPr/>
            </p:nvSpPr>
            <p:spPr>
              <a:xfrm>
                <a:off x="10057683" y="2093603"/>
                <a:ext cx="1084016" cy="1084016"/>
              </a:xfrm>
              <a:prstGeom prst="ellipse">
                <a:avLst/>
              </a:prstGeom>
              <a:noFill/>
              <a:ln w="19050" cap="flat" cmpd="sng" algn="ctr">
                <a:solidFill>
                  <a:srgbClr val="024DA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n-ea"/>
                  <a:cs typeface="+mn-cs"/>
                </a:endParaRPr>
              </a:p>
            </p:txBody>
          </p:sp>
        </p:grpSp>
      </p:grpSp>
      <p:sp>
        <p:nvSpPr>
          <p:cNvPr id="63" name="文本框 7">
            <a:extLst>
              <a:ext uri="{FF2B5EF4-FFF2-40B4-BE49-F238E27FC236}">
                <a16:creationId xmlns:a16="http://schemas.microsoft.com/office/drawing/2014/main" id="{207993D2-36CE-DFE5-BC99-27EDCF0AE845}"/>
              </a:ext>
            </a:extLst>
          </p:cNvPr>
          <p:cNvSpPr txBox="1"/>
          <p:nvPr/>
        </p:nvSpPr>
        <p:spPr>
          <a:xfrm>
            <a:off x="482601" y="929378"/>
            <a:ext cx="11214099" cy="1261884"/>
          </a:xfrm>
          <a:prstGeom prst="rect">
            <a:avLst/>
          </a:prstGeom>
          <a:noFill/>
        </p:spPr>
        <p:txBody>
          <a:bodyPr wrap="square" rtlCol="0">
            <a:spAutoFit/>
          </a:bodyPr>
          <a:lstStyle/>
          <a:p>
            <a:pPr>
              <a:spcAft>
                <a:spcPts val="1200"/>
              </a:spcAft>
            </a:pPr>
            <a:r>
              <a:rPr lang="en-CN" sz="2000" dirty="0"/>
              <a:t>构建了贯通</a:t>
            </a:r>
            <a:r>
              <a:rPr lang="zh-CN" altLang="en-US" sz="2000" dirty="0"/>
              <a:t>“</a:t>
            </a:r>
            <a:r>
              <a:rPr lang="en-CN" sz="2000" dirty="0"/>
              <a:t>排放源驱动—颗粒物迁移转化—健康与能源效应</a:t>
            </a:r>
            <a:r>
              <a:rPr lang="zh-CN" altLang="en-US" sz="2000" dirty="0"/>
              <a:t>”</a:t>
            </a:r>
            <a:r>
              <a:rPr lang="en-CN" sz="2000" dirty="0"/>
              <a:t>的跨学科综合分析框架 </a:t>
            </a:r>
            <a:r>
              <a:rPr lang="en-US" sz="2000" dirty="0"/>
              <a:t>(Yao et al., </a:t>
            </a:r>
            <a:r>
              <a:rPr lang="en-US" sz="2000" i="1" dirty="0"/>
              <a:t>ES&amp;T</a:t>
            </a:r>
            <a:r>
              <a:rPr lang="en-US" sz="2000" dirty="0"/>
              <a:t>, 202</a:t>
            </a:r>
            <a:r>
              <a:rPr lang="en-US" altLang="zh-CN" sz="2000" dirty="0"/>
              <a:t>2</a:t>
            </a:r>
            <a:r>
              <a:rPr lang="en-US" sz="2000" dirty="0"/>
              <a:t>, 202</a:t>
            </a:r>
            <a:r>
              <a:rPr lang="en-US" altLang="zh-CN" sz="2000" dirty="0"/>
              <a:t>5, etc.</a:t>
            </a:r>
            <a:r>
              <a:rPr lang="en-US" sz="2000" dirty="0"/>
              <a:t>)</a:t>
            </a:r>
            <a:r>
              <a:rPr lang="en-CN" sz="2000" dirty="0"/>
              <a:t>，实现了从排放源到终端影响的全链条过程追踪，获南大</a:t>
            </a:r>
            <a:r>
              <a:rPr lang="zh-CN" altLang="en-US" sz="2000" dirty="0"/>
              <a:t>、山大</a:t>
            </a:r>
            <a:r>
              <a:rPr lang="en-CN" sz="2000" dirty="0"/>
              <a:t>等团队</a:t>
            </a:r>
            <a:r>
              <a:rPr lang="en-CN" sz="3600" b="1" dirty="0">
                <a:solidFill>
                  <a:schemeClr val="accent3"/>
                </a:solidFill>
              </a:rPr>
              <a:t>采用</a:t>
            </a:r>
            <a:r>
              <a:rPr lang="en-CN" sz="2000" dirty="0"/>
              <a:t>(e.g., Ji et al., </a:t>
            </a:r>
            <a:r>
              <a:rPr lang="en-CN" sz="2000" i="1" dirty="0"/>
              <a:t>ERL</a:t>
            </a:r>
            <a:r>
              <a:rPr lang="en-CN" sz="2000" dirty="0"/>
              <a:t>, 2026; Wang et al., </a:t>
            </a:r>
            <a:r>
              <a:rPr lang="en-CN" sz="2000" i="1" dirty="0"/>
              <a:t>Atmos. Environ.</a:t>
            </a:r>
            <a:r>
              <a:rPr lang="en-CN" sz="2000" dirty="0"/>
              <a:t>, 2026)。</a:t>
            </a:r>
          </a:p>
        </p:txBody>
      </p:sp>
    </p:spTree>
    <p:extLst>
      <p:ext uri="{BB962C8B-B14F-4D97-AF65-F5344CB8AC3E}">
        <p14:creationId xmlns:p14="http://schemas.microsoft.com/office/powerpoint/2010/main" val="2838705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29978-6F24-EEDA-470D-D0827190A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34781-35FD-516C-A29A-2F599BBAB984}"/>
              </a:ext>
            </a:extLst>
          </p:cNvPr>
          <p:cNvSpPr>
            <a:spLocks noGrp="1"/>
          </p:cNvSpPr>
          <p:nvPr>
            <p:ph type="title"/>
          </p:nvPr>
        </p:nvSpPr>
        <p:spPr/>
        <p:txBody>
          <a:bodyPr/>
          <a:lstStyle/>
          <a:p>
            <a:r>
              <a:rPr lang="en-CN" dirty="0"/>
              <a:t>成果二</a:t>
            </a:r>
            <a:r>
              <a:rPr lang="zh-CN" altLang="en-US" dirty="0"/>
              <a:t>：来源解析</a:t>
            </a:r>
            <a:endParaRPr lang="en-CN" dirty="0"/>
          </a:p>
        </p:txBody>
      </p:sp>
      <p:sp>
        <p:nvSpPr>
          <p:cNvPr id="3" name="Slide Number Placeholder 2">
            <a:extLst>
              <a:ext uri="{FF2B5EF4-FFF2-40B4-BE49-F238E27FC236}">
                <a16:creationId xmlns:a16="http://schemas.microsoft.com/office/drawing/2014/main" id="{256C575D-7203-3F41-13B1-D5D12087C75E}"/>
              </a:ext>
            </a:extLst>
          </p:cNvPr>
          <p:cNvSpPr>
            <a:spLocks noGrp="1"/>
          </p:cNvSpPr>
          <p:nvPr>
            <p:ph type="sldNum" sz="quarter" idx="12"/>
          </p:nvPr>
        </p:nvSpPr>
        <p:spPr/>
        <p:txBody>
          <a:bodyPr/>
          <a:lstStyle/>
          <a:p>
            <a:fld id="{3ACD1EC8-6F57-41A7-99F1-FEDB2874BA2B}" type="slidenum">
              <a:rPr lang="zh-CN" altLang="en-US" smtClean="0"/>
              <a:t>6</a:t>
            </a:fld>
            <a:endParaRPr lang="zh-CN" altLang="en-US" dirty="0"/>
          </a:p>
        </p:txBody>
      </p:sp>
      <p:sp>
        <p:nvSpPr>
          <p:cNvPr id="113" name="文本框 7">
            <a:extLst>
              <a:ext uri="{FF2B5EF4-FFF2-40B4-BE49-F238E27FC236}">
                <a16:creationId xmlns:a16="http://schemas.microsoft.com/office/drawing/2014/main" id="{6DD1D950-AEA5-2A5D-4E9C-876E6349FF0E}"/>
              </a:ext>
            </a:extLst>
          </p:cNvPr>
          <p:cNvSpPr txBox="1"/>
          <p:nvPr/>
        </p:nvSpPr>
        <p:spPr>
          <a:xfrm>
            <a:off x="482601" y="929378"/>
            <a:ext cx="11214099" cy="1569660"/>
          </a:xfrm>
          <a:prstGeom prst="rect">
            <a:avLst/>
          </a:prstGeom>
          <a:noFill/>
        </p:spPr>
        <p:txBody>
          <a:bodyPr wrap="square" rtlCol="0">
            <a:spAutoFit/>
          </a:bodyPr>
          <a:lstStyle/>
          <a:p>
            <a:pPr>
              <a:spcAft>
                <a:spcPts val="1200"/>
              </a:spcAft>
            </a:pPr>
            <a:r>
              <a:rPr lang="en-CN" sz="2000" dirty="0"/>
              <a:t>揭示了贸易驱动的人为源排放</a:t>
            </a:r>
            <a:r>
              <a:rPr lang="zh-CN" altLang="en-US" sz="2000" dirty="0"/>
              <a:t>、自然源排放及其交互作用对能源与健康的综合影响，阐明了“减排</a:t>
            </a:r>
            <a:r>
              <a:rPr lang="en-US" altLang="zh-CN" sz="2000" dirty="0"/>
              <a:t>—</a:t>
            </a:r>
            <a:r>
              <a:rPr lang="zh-CN" altLang="en-US" sz="2000" dirty="0"/>
              <a:t>空气质量改善</a:t>
            </a:r>
            <a:r>
              <a:rPr lang="en-US" altLang="zh-CN" sz="2000" dirty="0"/>
              <a:t>—</a:t>
            </a:r>
            <a:r>
              <a:rPr lang="zh-CN" altLang="en-US" sz="2000" dirty="0"/>
              <a:t>新能源增益”的正反馈机制</a:t>
            </a:r>
            <a:r>
              <a:rPr lang="en-US" altLang="zh-CN" sz="2000" dirty="0"/>
              <a:t> (Yao et al., </a:t>
            </a:r>
            <a:r>
              <a:rPr lang="en-US" altLang="zh-CN" sz="2000" i="1" dirty="0"/>
              <a:t>ES&amp;T</a:t>
            </a:r>
            <a:r>
              <a:rPr lang="en-US" altLang="zh-CN" sz="2000" dirty="0"/>
              <a:t>, 2022, 2025; Yao</a:t>
            </a:r>
            <a:r>
              <a:rPr lang="en-US" altLang="zh-CN" sz="2000" baseline="30000" dirty="0"/>
              <a:t>#</a:t>
            </a:r>
            <a:r>
              <a:rPr lang="en-US" altLang="zh-CN" sz="2000" dirty="0"/>
              <a:t> et al., </a:t>
            </a:r>
            <a:r>
              <a:rPr lang="en-US" altLang="zh-CN" sz="2000" i="1" dirty="0"/>
              <a:t>EHP</a:t>
            </a:r>
            <a:r>
              <a:rPr lang="en-US" altLang="zh-CN" sz="2000" dirty="0"/>
              <a:t>, 2025; Yao</a:t>
            </a:r>
            <a:r>
              <a:rPr lang="en-US" altLang="zh-CN" sz="2000" baseline="30000" dirty="0"/>
              <a:t>#</a:t>
            </a:r>
            <a:r>
              <a:rPr lang="en-US" altLang="zh-CN" sz="2000" dirty="0"/>
              <a:t> et al., </a:t>
            </a:r>
            <a:r>
              <a:rPr lang="en-US" altLang="zh-CN" sz="2000" i="1" dirty="0"/>
              <a:t>CEE</a:t>
            </a:r>
            <a:r>
              <a:rPr lang="en-US" altLang="zh-CN" sz="2000" dirty="0"/>
              <a:t>, 2026)</a:t>
            </a:r>
            <a:r>
              <a:rPr lang="zh-CN" altLang="en-US" sz="2000" dirty="0"/>
              <a:t>，相关认识随后得到清北等团队研究的进一步</a:t>
            </a:r>
            <a:r>
              <a:rPr lang="zh-CN" altLang="en-US" sz="3600" b="1" dirty="0">
                <a:solidFill>
                  <a:schemeClr val="accent3"/>
                </a:solidFill>
              </a:rPr>
              <a:t>支持</a:t>
            </a:r>
            <a:r>
              <a:rPr lang="en-US" altLang="zh-CN" sz="2000" dirty="0"/>
              <a:t> (e.g., Chen et al., </a:t>
            </a:r>
            <a:r>
              <a:rPr lang="en-US" altLang="zh-CN" sz="2000" i="1" dirty="0"/>
              <a:t>One Earth</a:t>
            </a:r>
            <a:r>
              <a:rPr lang="en-US" altLang="zh-CN" sz="2000" dirty="0"/>
              <a:t>, 2022; Qin et al., </a:t>
            </a:r>
            <a:r>
              <a:rPr lang="en-US" altLang="zh-CN" sz="2000" i="1" dirty="0"/>
              <a:t>Nat. </a:t>
            </a:r>
            <a:r>
              <a:rPr lang="en-US" altLang="zh-CN" sz="2000" i="1" dirty="0" err="1"/>
              <a:t>Geosci</a:t>
            </a:r>
            <a:r>
              <a:rPr lang="en-US" altLang="zh-CN" sz="2000" i="1" dirty="0"/>
              <a:t>.</a:t>
            </a:r>
            <a:r>
              <a:rPr lang="en-US" altLang="zh-CN" sz="2000" dirty="0"/>
              <a:t>, 2024)</a:t>
            </a:r>
            <a:r>
              <a:rPr lang="zh-CN" altLang="en-US" sz="2000" dirty="0"/>
              <a:t>。</a:t>
            </a:r>
            <a:endParaRPr lang="en-CN" sz="2000" dirty="0"/>
          </a:p>
        </p:txBody>
      </p:sp>
      <p:pic>
        <p:nvPicPr>
          <p:cNvPr id="123" name="Picture 122">
            <a:extLst>
              <a:ext uri="{FF2B5EF4-FFF2-40B4-BE49-F238E27FC236}">
                <a16:creationId xmlns:a16="http://schemas.microsoft.com/office/drawing/2014/main" id="{340BE897-248E-4BDE-0B21-9047A5EE4A22}"/>
              </a:ext>
            </a:extLst>
          </p:cNvPr>
          <p:cNvPicPr>
            <a:picLocks noChangeAspect="1"/>
          </p:cNvPicPr>
          <p:nvPr/>
        </p:nvPicPr>
        <p:blipFill>
          <a:blip r:embed="rId3"/>
          <a:stretch>
            <a:fillRect/>
          </a:stretch>
        </p:blipFill>
        <p:spPr>
          <a:xfrm>
            <a:off x="7493959" y="2625881"/>
            <a:ext cx="3762753" cy="3826259"/>
          </a:xfrm>
          <a:prstGeom prst="rect">
            <a:avLst/>
          </a:prstGeom>
        </p:spPr>
      </p:pic>
      <p:pic>
        <p:nvPicPr>
          <p:cNvPr id="132" name="Picture 131">
            <a:extLst>
              <a:ext uri="{FF2B5EF4-FFF2-40B4-BE49-F238E27FC236}">
                <a16:creationId xmlns:a16="http://schemas.microsoft.com/office/drawing/2014/main" id="{2B66D993-A413-513B-9E84-F034CD7DA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299" y="2964435"/>
            <a:ext cx="6536871" cy="3826259"/>
          </a:xfrm>
          <a:prstGeom prst="rect">
            <a:avLst/>
          </a:prstGeom>
        </p:spPr>
      </p:pic>
      <p:sp>
        <p:nvSpPr>
          <p:cNvPr id="133" name="文本框 60">
            <a:extLst>
              <a:ext uri="{FF2B5EF4-FFF2-40B4-BE49-F238E27FC236}">
                <a16:creationId xmlns:a16="http://schemas.microsoft.com/office/drawing/2014/main" id="{AEA0464B-D7CF-A32C-CC9E-71D352A94116}"/>
              </a:ext>
            </a:extLst>
          </p:cNvPr>
          <p:cNvSpPr txBox="1"/>
          <p:nvPr/>
        </p:nvSpPr>
        <p:spPr>
          <a:xfrm>
            <a:off x="495299" y="2625881"/>
            <a:ext cx="6536871" cy="338554"/>
          </a:xfrm>
          <a:prstGeom prst="rect">
            <a:avLst/>
          </a:prstGeom>
          <a:noFill/>
        </p:spPr>
        <p:txBody>
          <a:bodyPr wrap="square">
            <a:spAutoFit/>
          </a:bodyPr>
          <a:lstStyle/>
          <a:p>
            <a:pPr algn="ctr">
              <a:spcAft>
                <a:spcPts val="1200"/>
              </a:spcAft>
            </a:pPr>
            <a:r>
              <a:rPr lang="zh-CN" altLang="en-GB" sz="1600" dirty="0">
                <a:solidFill>
                  <a:srgbClr val="20314B"/>
                </a:solidFill>
                <a:latin typeface="+mn-ea"/>
                <a:cs typeface="+mn-ea"/>
                <a:sym typeface="+mn-lt"/>
              </a:rPr>
              <a:t>光伏</a:t>
            </a:r>
            <a:r>
              <a:rPr lang="zh-CN" altLang="en-US" sz="1600" dirty="0">
                <a:solidFill>
                  <a:srgbClr val="20314B"/>
                </a:solidFill>
                <a:latin typeface="+mn-ea"/>
                <a:cs typeface="+mn-ea"/>
                <a:sym typeface="+mn-lt"/>
              </a:rPr>
              <a:t>发电损失“源</a:t>
            </a:r>
            <a:r>
              <a:rPr lang="en-US" altLang="zh-CN" sz="1600" dirty="0">
                <a:solidFill>
                  <a:srgbClr val="20314B"/>
                </a:solidFill>
                <a:latin typeface="+mn-ea"/>
                <a:cs typeface="+mn-ea"/>
                <a:sym typeface="+mn-lt"/>
              </a:rPr>
              <a:t>-</a:t>
            </a:r>
            <a:r>
              <a:rPr lang="zh-CN" altLang="en-US" sz="1600" dirty="0">
                <a:solidFill>
                  <a:srgbClr val="20314B"/>
                </a:solidFill>
                <a:latin typeface="+mn-ea"/>
                <a:cs typeface="+mn-ea"/>
                <a:sym typeface="+mn-lt"/>
              </a:rPr>
              <a:t>受体”关系</a:t>
            </a:r>
            <a:endParaRPr lang="en-GB" altLang="zh-CN" sz="1600" dirty="0">
              <a:solidFill>
                <a:srgbClr val="20314B"/>
              </a:solidFill>
              <a:latin typeface="+mn-ea"/>
              <a:cs typeface="+mn-ea"/>
              <a:sym typeface="+mn-lt"/>
            </a:endParaRPr>
          </a:p>
        </p:txBody>
      </p:sp>
    </p:spTree>
    <p:extLst>
      <p:ext uri="{BB962C8B-B14F-4D97-AF65-F5344CB8AC3E}">
        <p14:creationId xmlns:p14="http://schemas.microsoft.com/office/powerpoint/2010/main" val="2805087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3C1C3-0F4A-9EDA-EDB2-79609FDCA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FAC2D2-8D4C-0DA6-0466-20A4651790EE}"/>
              </a:ext>
            </a:extLst>
          </p:cNvPr>
          <p:cNvSpPr>
            <a:spLocks noGrp="1"/>
          </p:cNvSpPr>
          <p:nvPr>
            <p:ph type="title"/>
          </p:nvPr>
        </p:nvSpPr>
        <p:spPr/>
        <p:txBody>
          <a:bodyPr/>
          <a:lstStyle/>
          <a:p>
            <a:r>
              <a:rPr lang="en-CN" dirty="0"/>
              <a:t>成果三</a:t>
            </a:r>
            <a:r>
              <a:rPr lang="zh-CN" altLang="en-US" dirty="0"/>
              <a:t>：应对策略</a:t>
            </a:r>
            <a:endParaRPr lang="en-CN" dirty="0"/>
          </a:p>
        </p:txBody>
      </p:sp>
      <p:sp>
        <p:nvSpPr>
          <p:cNvPr id="3" name="Slide Number Placeholder 2">
            <a:extLst>
              <a:ext uri="{FF2B5EF4-FFF2-40B4-BE49-F238E27FC236}">
                <a16:creationId xmlns:a16="http://schemas.microsoft.com/office/drawing/2014/main" id="{6FD50681-18C6-8E11-E63A-471E0C4F7A3F}"/>
              </a:ext>
            </a:extLst>
          </p:cNvPr>
          <p:cNvSpPr>
            <a:spLocks noGrp="1"/>
          </p:cNvSpPr>
          <p:nvPr>
            <p:ph type="sldNum" sz="quarter" idx="12"/>
          </p:nvPr>
        </p:nvSpPr>
        <p:spPr/>
        <p:txBody>
          <a:bodyPr/>
          <a:lstStyle/>
          <a:p>
            <a:fld id="{3ACD1EC8-6F57-41A7-99F1-FEDB2874BA2B}" type="slidenum">
              <a:rPr lang="zh-CN" altLang="en-US" smtClean="0"/>
              <a:t>7</a:t>
            </a:fld>
            <a:endParaRPr lang="zh-CN" altLang="en-US" dirty="0"/>
          </a:p>
        </p:txBody>
      </p:sp>
      <p:sp>
        <p:nvSpPr>
          <p:cNvPr id="113" name="文本框 7">
            <a:extLst>
              <a:ext uri="{FF2B5EF4-FFF2-40B4-BE49-F238E27FC236}">
                <a16:creationId xmlns:a16="http://schemas.microsoft.com/office/drawing/2014/main" id="{2ECE0478-19F4-D838-BEB9-82C275546CC7}"/>
              </a:ext>
            </a:extLst>
          </p:cNvPr>
          <p:cNvSpPr txBox="1"/>
          <p:nvPr/>
        </p:nvSpPr>
        <p:spPr>
          <a:xfrm>
            <a:off x="482601" y="929378"/>
            <a:ext cx="11214099" cy="2123658"/>
          </a:xfrm>
          <a:prstGeom prst="rect">
            <a:avLst/>
          </a:prstGeom>
          <a:noFill/>
        </p:spPr>
        <p:txBody>
          <a:bodyPr wrap="square" rtlCol="0">
            <a:spAutoFit/>
          </a:bodyPr>
          <a:lstStyle/>
          <a:p>
            <a:pPr>
              <a:spcAft>
                <a:spcPts val="1200"/>
              </a:spcAft>
            </a:pPr>
            <a:r>
              <a:rPr lang="en-CN" sz="2000" dirty="0"/>
              <a:t>从生产与消费双重视角提出了颗粒物综合影响的减缓策略</a:t>
            </a:r>
            <a:r>
              <a:rPr lang="zh-CN" altLang="en-US" sz="2000" dirty="0"/>
              <a:t>，发展了支撑风险规避的数据产品与移动端应用</a:t>
            </a:r>
            <a:r>
              <a:rPr lang="en-US" altLang="zh-CN" sz="2000" dirty="0"/>
              <a:t> (Yao et al., </a:t>
            </a:r>
            <a:r>
              <a:rPr lang="en-US" altLang="zh-CN" sz="2000" i="1" dirty="0"/>
              <a:t>P&amp;RS</a:t>
            </a:r>
            <a:r>
              <a:rPr lang="en-US" altLang="zh-CN" sz="2000" dirty="0"/>
              <a:t>, 2019; Yao et al., </a:t>
            </a:r>
            <a:r>
              <a:rPr lang="en-US" altLang="zh-CN" sz="2000" i="1" dirty="0"/>
              <a:t>Atmos. Environ.</a:t>
            </a:r>
            <a:r>
              <a:rPr lang="en-US" altLang="zh-CN" sz="2000" dirty="0"/>
              <a:t>, 2021; Yao* et al., </a:t>
            </a:r>
            <a:r>
              <a:rPr lang="en-US" altLang="zh-CN" sz="2000" i="1" dirty="0"/>
              <a:t>J. Hazard. Mater.</a:t>
            </a:r>
            <a:r>
              <a:rPr lang="en-US" altLang="zh-CN" sz="2000" dirty="0"/>
              <a:t>, 2026; etc.)</a:t>
            </a:r>
            <a:r>
              <a:rPr lang="zh-CN" altLang="en-US" sz="2000" dirty="0"/>
              <a:t>。</a:t>
            </a:r>
            <a:r>
              <a:rPr lang="en-CN" sz="2000" dirty="0"/>
              <a:t>其中</a:t>
            </a:r>
            <a:r>
              <a:rPr lang="zh-CN" altLang="en-US" sz="2000" dirty="0"/>
              <a:t>，</a:t>
            </a:r>
            <a:r>
              <a:rPr lang="en-CN" sz="2000" dirty="0"/>
              <a:t>生产视角策略</a:t>
            </a:r>
            <a:r>
              <a:rPr lang="zh-CN" altLang="en-US" sz="3600" b="1" dirty="0">
                <a:solidFill>
                  <a:schemeClr val="accent3"/>
                </a:solidFill>
              </a:rPr>
              <a:t>强化</a:t>
            </a:r>
            <a:r>
              <a:rPr lang="zh-CN" altLang="en-US" sz="2000" dirty="0"/>
              <a:t>了北大等团队此前提出的分区推进居民能源清洁化政策的实施动因</a:t>
            </a:r>
            <a:r>
              <a:rPr lang="en-US" altLang="zh-CN" sz="2000" dirty="0"/>
              <a:t> (e.g., Yun et al., </a:t>
            </a:r>
            <a:r>
              <a:rPr lang="en-US" altLang="zh-CN" sz="2000" i="1" dirty="0"/>
              <a:t>Sci. Adv.</a:t>
            </a:r>
            <a:r>
              <a:rPr lang="en-US" altLang="zh-CN" sz="2000" dirty="0"/>
              <a:t> 2020)</a:t>
            </a:r>
            <a:r>
              <a:rPr lang="zh-CN" altLang="en-US" sz="2000" dirty="0"/>
              <a:t>，消费视角策略则响应并</a:t>
            </a:r>
            <a:r>
              <a:rPr lang="zh-CN" altLang="en-US" sz="3600" b="1" dirty="0">
                <a:solidFill>
                  <a:schemeClr val="accent3"/>
                </a:solidFill>
              </a:rPr>
              <a:t>拓展</a:t>
            </a:r>
            <a:r>
              <a:rPr lang="zh-CN" altLang="en-US" sz="2000" dirty="0"/>
              <a:t>了国内外多个研究团队关于供应链减排的倡议</a:t>
            </a:r>
            <a:r>
              <a:rPr lang="en-US" altLang="zh-CN" sz="2000" dirty="0"/>
              <a:t> (e.g., Zhang et al., </a:t>
            </a:r>
            <a:r>
              <a:rPr lang="en-US" altLang="zh-CN" sz="2000" i="1" dirty="0"/>
              <a:t>Nature</a:t>
            </a:r>
            <a:r>
              <a:rPr lang="en-US" altLang="zh-CN" sz="2000" dirty="0"/>
              <a:t>, 2017)</a:t>
            </a:r>
            <a:r>
              <a:rPr lang="zh-CN" altLang="en-US" sz="2000" dirty="0"/>
              <a:t>。</a:t>
            </a:r>
            <a:endParaRPr lang="en-CN" sz="2000" dirty="0"/>
          </a:p>
        </p:txBody>
      </p:sp>
      <p:pic>
        <p:nvPicPr>
          <p:cNvPr id="39" name="Picture 38">
            <a:extLst>
              <a:ext uri="{FF2B5EF4-FFF2-40B4-BE49-F238E27FC236}">
                <a16:creationId xmlns:a16="http://schemas.microsoft.com/office/drawing/2014/main" id="{E0C7EAD3-F6BB-1BDD-4188-B7A1C322B2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0395" y="3128453"/>
            <a:ext cx="5827952" cy="3450147"/>
          </a:xfrm>
          <a:prstGeom prst="rect">
            <a:avLst/>
          </a:prstGeom>
        </p:spPr>
      </p:pic>
      <p:pic>
        <p:nvPicPr>
          <p:cNvPr id="57" name="Picture 56">
            <a:extLst>
              <a:ext uri="{FF2B5EF4-FFF2-40B4-BE49-F238E27FC236}">
                <a16:creationId xmlns:a16="http://schemas.microsoft.com/office/drawing/2014/main" id="{890292F3-3699-2640-429F-FA100F6CAF75}"/>
              </a:ext>
            </a:extLst>
          </p:cNvPr>
          <p:cNvPicPr>
            <a:picLocks noChangeAspect="1"/>
          </p:cNvPicPr>
          <p:nvPr/>
        </p:nvPicPr>
        <p:blipFill>
          <a:blip r:embed="rId3"/>
          <a:stretch>
            <a:fillRect/>
          </a:stretch>
        </p:blipFill>
        <p:spPr>
          <a:xfrm>
            <a:off x="345686" y="3361845"/>
            <a:ext cx="5944709" cy="2983363"/>
          </a:xfrm>
          <a:prstGeom prst="rect">
            <a:avLst/>
          </a:prstGeom>
        </p:spPr>
      </p:pic>
    </p:spTree>
    <p:extLst>
      <p:ext uri="{BB962C8B-B14F-4D97-AF65-F5344CB8AC3E}">
        <p14:creationId xmlns:p14="http://schemas.microsoft.com/office/powerpoint/2010/main" val="609731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BF101-1883-90AB-B053-4C1E0A736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5D1F03-07BF-A905-F70A-7330DB8738DC}"/>
              </a:ext>
            </a:extLst>
          </p:cNvPr>
          <p:cNvSpPr>
            <a:spLocks noGrp="1"/>
          </p:cNvSpPr>
          <p:nvPr>
            <p:ph type="title"/>
          </p:nvPr>
        </p:nvSpPr>
        <p:spPr/>
        <p:txBody>
          <a:bodyPr/>
          <a:lstStyle/>
          <a:p>
            <a:r>
              <a:rPr lang="en-CN" dirty="0"/>
              <a:t>拟开展工作研究背景与关键科学问题</a:t>
            </a:r>
          </a:p>
        </p:txBody>
      </p:sp>
      <p:sp>
        <p:nvSpPr>
          <p:cNvPr id="3" name="Slide Number Placeholder 2">
            <a:extLst>
              <a:ext uri="{FF2B5EF4-FFF2-40B4-BE49-F238E27FC236}">
                <a16:creationId xmlns:a16="http://schemas.microsoft.com/office/drawing/2014/main" id="{A878129A-5E12-92AE-BBEA-DCD50A1A24FE}"/>
              </a:ext>
            </a:extLst>
          </p:cNvPr>
          <p:cNvSpPr>
            <a:spLocks noGrp="1"/>
          </p:cNvSpPr>
          <p:nvPr>
            <p:ph type="sldNum" sz="quarter" idx="12"/>
          </p:nvPr>
        </p:nvSpPr>
        <p:spPr/>
        <p:txBody>
          <a:bodyPr/>
          <a:lstStyle/>
          <a:p>
            <a:fld id="{3ACD1EC8-6F57-41A7-99F1-FEDB2874BA2B}" type="slidenum">
              <a:rPr lang="zh-CN" altLang="en-US" smtClean="0"/>
              <a:t>8</a:t>
            </a:fld>
            <a:endParaRPr lang="zh-CN" altLang="en-US" dirty="0"/>
          </a:p>
        </p:txBody>
      </p:sp>
      <p:sp>
        <p:nvSpPr>
          <p:cNvPr id="4" name="文本框 7">
            <a:extLst>
              <a:ext uri="{FF2B5EF4-FFF2-40B4-BE49-F238E27FC236}">
                <a16:creationId xmlns:a16="http://schemas.microsoft.com/office/drawing/2014/main" id="{A6969DDF-08F8-4681-CE2B-531805B797AD}"/>
              </a:ext>
            </a:extLst>
          </p:cNvPr>
          <p:cNvSpPr txBox="1"/>
          <p:nvPr/>
        </p:nvSpPr>
        <p:spPr>
          <a:xfrm>
            <a:off x="482601" y="929378"/>
            <a:ext cx="11214099" cy="1723549"/>
          </a:xfrm>
          <a:prstGeom prst="rect">
            <a:avLst/>
          </a:prstGeom>
          <a:noFill/>
        </p:spPr>
        <p:txBody>
          <a:bodyPr wrap="square" rtlCol="0">
            <a:spAutoFit/>
          </a:bodyPr>
          <a:lstStyle/>
          <a:p>
            <a:pPr marL="457200" indent="-457200">
              <a:spcAft>
                <a:spcPts val="1200"/>
              </a:spcAft>
              <a:buFont typeface="Arial" panose="020B0604020202020204" pitchFamily="34" charset="0"/>
              <a:buChar char="•"/>
            </a:pPr>
            <a:r>
              <a:rPr lang="zh-CN" altLang="en-US" sz="2000" dirty="0"/>
              <a:t>双碳目标下，我国太阳能光伏发电规模预计将持续扩大。但现有关于颗粒物致光伏发电损失的研究多侧重于分析特定时段内的平均影响，对其长期演变规律及形成机制的认识仍不充分。</a:t>
            </a:r>
            <a:endParaRPr lang="en-US" altLang="zh-CN" sz="2000" dirty="0"/>
          </a:p>
          <a:p>
            <a:pPr marL="457200" indent="-457200">
              <a:spcAft>
                <a:spcPts val="1200"/>
              </a:spcAft>
              <a:buFont typeface="Arial" panose="020B0604020202020204" pitchFamily="34" charset="0"/>
              <a:buChar char="•"/>
            </a:pPr>
            <a:r>
              <a:rPr lang="zh-CN" altLang="en-US" sz="2000" dirty="0"/>
              <a:t>颗粒物致光伏发电损失呈现怎样的时空</a:t>
            </a:r>
            <a:r>
              <a:rPr lang="zh-CN" altLang="en-US" sz="3600" b="1" dirty="0">
                <a:solidFill>
                  <a:schemeClr val="accent3"/>
                </a:solidFill>
              </a:rPr>
              <a:t>演变</a:t>
            </a:r>
            <a:r>
              <a:rPr lang="zh-CN" altLang="en-US" sz="2000" dirty="0"/>
              <a:t>特征？其背后的关键</a:t>
            </a:r>
            <a:r>
              <a:rPr lang="zh-CN" altLang="en-US" sz="3600" b="1" dirty="0">
                <a:solidFill>
                  <a:schemeClr val="accent3"/>
                </a:solidFill>
              </a:rPr>
              <a:t>驱动</a:t>
            </a:r>
            <a:r>
              <a:rPr lang="zh-CN" altLang="en-US" sz="2000" dirty="0"/>
              <a:t>因素又是什么？ 回答这些关键科学问题，将为太阳能光伏发电的可持续发展与优化布局提供重要科学依据。</a:t>
            </a:r>
            <a:endParaRPr lang="en-US" altLang="zh-CN" sz="2000" dirty="0"/>
          </a:p>
        </p:txBody>
      </p:sp>
      <p:grpSp>
        <p:nvGrpSpPr>
          <p:cNvPr id="35" name="Group 34">
            <a:extLst>
              <a:ext uri="{FF2B5EF4-FFF2-40B4-BE49-F238E27FC236}">
                <a16:creationId xmlns:a16="http://schemas.microsoft.com/office/drawing/2014/main" id="{AF80BEEB-0960-8165-AF28-7348388C1DA7}"/>
              </a:ext>
            </a:extLst>
          </p:cNvPr>
          <p:cNvGrpSpPr/>
          <p:nvPr/>
        </p:nvGrpSpPr>
        <p:grpSpPr>
          <a:xfrm>
            <a:off x="221663" y="3036674"/>
            <a:ext cx="3959350" cy="1342628"/>
            <a:chOff x="441778" y="3036674"/>
            <a:chExt cx="3959350" cy="1342628"/>
          </a:xfrm>
        </p:grpSpPr>
        <p:pic>
          <p:nvPicPr>
            <p:cNvPr id="12" name="Graphic 11">
              <a:extLst>
                <a:ext uri="{FF2B5EF4-FFF2-40B4-BE49-F238E27FC236}">
                  <a16:creationId xmlns:a16="http://schemas.microsoft.com/office/drawing/2014/main" id="{C8CBFE88-CC0A-7463-7709-EAF969843B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5928" y="3036674"/>
              <a:ext cx="3505200" cy="1168400"/>
            </a:xfrm>
            <a:prstGeom prst="rect">
              <a:avLst/>
            </a:prstGeom>
          </p:spPr>
        </p:pic>
        <p:pic>
          <p:nvPicPr>
            <p:cNvPr id="28" name="Graphic 27">
              <a:extLst>
                <a:ext uri="{FF2B5EF4-FFF2-40B4-BE49-F238E27FC236}">
                  <a16:creationId xmlns:a16="http://schemas.microsoft.com/office/drawing/2014/main" id="{D5C9F92E-01FA-3E36-2825-C008D51C17BE}"/>
                </a:ext>
              </a:extLst>
            </p:cNvPr>
            <p:cNvPicPr>
              <a:picLocks noChangeAspect="1"/>
            </p:cNvPicPr>
            <p:nvPr/>
          </p:nvPicPr>
          <p:blipFill>
            <a:blip>
              <a:extLst>
                <a:ext uri="{96DAC541-7B7A-43D3-8B79-37D633B846F1}">
                  <asvg:svgBlip xmlns:asvg="http://schemas.microsoft.com/office/drawing/2016/SVG/main" r:embed="rId4"/>
                </a:ext>
              </a:extLst>
            </a:blip>
            <a:srcRect l="42412" t="84345" r="42412"/>
            <a:stretch>
              <a:fillRect/>
            </a:stretch>
          </p:blipFill>
          <p:spPr>
            <a:xfrm>
              <a:off x="2149810" y="4091219"/>
              <a:ext cx="997436" cy="288083"/>
            </a:xfrm>
            <a:prstGeom prst="rect">
              <a:avLst/>
            </a:prstGeom>
          </p:spPr>
        </p:pic>
        <p:sp>
          <p:nvSpPr>
            <p:cNvPr id="30" name="文本框 60">
              <a:extLst>
                <a:ext uri="{FF2B5EF4-FFF2-40B4-BE49-F238E27FC236}">
                  <a16:creationId xmlns:a16="http://schemas.microsoft.com/office/drawing/2014/main" id="{3245B955-6761-091F-1097-20A3F6D2BE3D}"/>
                </a:ext>
              </a:extLst>
            </p:cNvPr>
            <p:cNvSpPr txBox="1"/>
            <p:nvPr/>
          </p:nvSpPr>
          <p:spPr>
            <a:xfrm>
              <a:off x="441778" y="3451597"/>
              <a:ext cx="689861" cy="338554"/>
            </a:xfrm>
            <a:prstGeom prst="rect">
              <a:avLst/>
            </a:prstGeom>
            <a:noFill/>
          </p:spPr>
          <p:txBody>
            <a:bodyPr wrap="square">
              <a:spAutoFit/>
            </a:bodyPr>
            <a:lstStyle/>
            <a:p>
              <a:pPr algn="ctr">
                <a:spcAft>
                  <a:spcPts val="1200"/>
                </a:spcAft>
              </a:pPr>
              <a:r>
                <a:rPr lang="zh-CN" altLang="en-CN" sz="1600" dirty="0">
                  <a:solidFill>
                    <a:srgbClr val="4A4A4A"/>
                  </a:solidFill>
                  <a:latin typeface="+mn-ea"/>
                  <a:cs typeface="+mn-ea"/>
                  <a:sym typeface="+mn-lt"/>
                </a:rPr>
                <a:t>排放</a:t>
              </a:r>
              <a:endParaRPr lang="en-GB" altLang="zh-CN" sz="1600" dirty="0">
                <a:solidFill>
                  <a:srgbClr val="4A4A4A"/>
                </a:solidFill>
                <a:latin typeface="+mn-ea"/>
                <a:cs typeface="+mn-ea"/>
                <a:sym typeface="+mn-lt"/>
              </a:endParaRPr>
            </a:p>
          </p:txBody>
        </p:sp>
      </p:grpSp>
      <p:grpSp>
        <p:nvGrpSpPr>
          <p:cNvPr id="36" name="Group 35">
            <a:extLst>
              <a:ext uri="{FF2B5EF4-FFF2-40B4-BE49-F238E27FC236}">
                <a16:creationId xmlns:a16="http://schemas.microsoft.com/office/drawing/2014/main" id="{B9FF4C27-94E7-EC3C-03DA-3EAFAE5B1DA1}"/>
              </a:ext>
            </a:extLst>
          </p:cNvPr>
          <p:cNvGrpSpPr/>
          <p:nvPr/>
        </p:nvGrpSpPr>
        <p:grpSpPr>
          <a:xfrm>
            <a:off x="4138531" y="3036674"/>
            <a:ext cx="3952865" cy="1342629"/>
            <a:chOff x="4096049" y="3036674"/>
            <a:chExt cx="3952865" cy="1342629"/>
          </a:xfrm>
        </p:grpSpPr>
        <p:pic>
          <p:nvPicPr>
            <p:cNvPr id="13" name="Graphic 12">
              <a:extLst>
                <a:ext uri="{FF2B5EF4-FFF2-40B4-BE49-F238E27FC236}">
                  <a16:creationId xmlns:a16="http://schemas.microsoft.com/office/drawing/2014/main" id="{A20EA08C-380A-0368-3456-F75795D44E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43714" y="3036674"/>
              <a:ext cx="3505200" cy="1168400"/>
            </a:xfrm>
            <a:prstGeom prst="rect">
              <a:avLst/>
            </a:prstGeom>
          </p:spPr>
        </p:pic>
        <p:pic>
          <p:nvPicPr>
            <p:cNvPr id="27" name="Graphic 26">
              <a:extLst>
                <a:ext uri="{FF2B5EF4-FFF2-40B4-BE49-F238E27FC236}">
                  <a16:creationId xmlns:a16="http://schemas.microsoft.com/office/drawing/2014/main" id="{98250EBB-3E32-834F-5A9E-8FEECFF46874}"/>
                </a:ext>
              </a:extLst>
            </p:cNvPr>
            <p:cNvPicPr>
              <a:picLocks noChangeAspect="1"/>
            </p:cNvPicPr>
            <p:nvPr/>
          </p:nvPicPr>
          <p:blipFill>
            <a:blip>
              <a:extLst>
                <a:ext uri="{96DAC541-7B7A-43D3-8B79-37D633B846F1}">
                  <asvg:svgBlip xmlns:asvg="http://schemas.microsoft.com/office/drawing/2016/SVG/main" r:embed="rId4"/>
                </a:ext>
              </a:extLst>
            </a:blip>
            <a:srcRect l="42412" t="84345" r="42412"/>
            <a:stretch>
              <a:fillRect/>
            </a:stretch>
          </p:blipFill>
          <p:spPr>
            <a:xfrm>
              <a:off x="5797596" y="4091220"/>
              <a:ext cx="997436" cy="288083"/>
            </a:xfrm>
            <a:prstGeom prst="rect">
              <a:avLst/>
            </a:prstGeom>
          </p:spPr>
        </p:pic>
        <p:sp>
          <p:nvSpPr>
            <p:cNvPr id="31" name="文本框 60">
              <a:extLst>
                <a:ext uri="{FF2B5EF4-FFF2-40B4-BE49-F238E27FC236}">
                  <a16:creationId xmlns:a16="http://schemas.microsoft.com/office/drawing/2014/main" id="{7226CD53-BB8E-2846-B860-FEA2D0D7E214}"/>
                </a:ext>
              </a:extLst>
            </p:cNvPr>
            <p:cNvSpPr txBox="1"/>
            <p:nvPr/>
          </p:nvSpPr>
          <p:spPr>
            <a:xfrm>
              <a:off x="4096049" y="3451597"/>
              <a:ext cx="689861" cy="338554"/>
            </a:xfrm>
            <a:prstGeom prst="rect">
              <a:avLst/>
            </a:prstGeom>
            <a:noFill/>
          </p:spPr>
          <p:txBody>
            <a:bodyPr wrap="square">
              <a:spAutoFit/>
            </a:bodyPr>
            <a:lstStyle/>
            <a:p>
              <a:pPr algn="ctr">
                <a:spcAft>
                  <a:spcPts val="1200"/>
                </a:spcAft>
              </a:pPr>
              <a:r>
                <a:rPr lang="zh-CN" altLang="en-US" sz="1600" dirty="0">
                  <a:solidFill>
                    <a:srgbClr val="4A4A4A"/>
                  </a:solidFill>
                  <a:latin typeface="+mn-ea"/>
                  <a:cs typeface="+mn-ea"/>
                  <a:sym typeface="+mn-lt"/>
                </a:rPr>
                <a:t>气象</a:t>
              </a:r>
              <a:endParaRPr lang="en-GB" altLang="zh-CN" sz="1600" dirty="0">
                <a:solidFill>
                  <a:srgbClr val="4A4A4A"/>
                </a:solidFill>
                <a:latin typeface="+mn-ea"/>
                <a:cs typeface="+mn-ea"/>
                <a:sym typeface="+mn-lt"/>
              </a:endParaRPr>
            </a:p>
          </p:txBody>
        </p:sp>
      </p:grpSp>
      <p:grpSp>
        <p:nvGrpSpPr>
          <p:cNvPr id="37" name="Group 36">
            <a:extLst>
              <a:ext uri="{FF2B5EF4-FFF2-40B4-BE49-F238E27FC236}">
                <a16:creationId xmlns:a16="http://schemas.microsoft.com/office/drawing/2014/main" id="{502607A6-799F-D4C9-E15D-9DAB7C38FFD6}"/>
              </a:ext>
            </a:extLst>
          </p:cNvPr>
          <p:cNvGrpSpPr/>
          <p:nvPr/>
        </p:nvGrpSpPr>
        <p:grpSpPr>
          <a:xfrm>
            <a:off x="8048914" y="3036674"/>
            <a:ext cx="3921423" cy="1342629"/>
            <a:chOff x="7775277" y="3036674"/>
            <a:chExt cx="3921423" cy="1342629"/>
          </a:xfrm>
        </p:grpSpPr>
        <p:pic>
          <p:nvPicPr>
            <p:cNvPr id="14" name="Graphic 13">
              <a:extLst>
                <a:ext uri="{FF2B5EF4-FFF2-40B4-BE49-F238E27FC236}">
                  <a16:creationId xmlns:a16="http://schemas.microsoft.com/office/drawing/2014/main" id="{E72A2EC2-94BE-260D-5E83-7419E60F66F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91500" y="3036674"/>
              <a:ext cx="3505200" cy="1168400"/>
            </a:xfrm>
            <a:prstGeom prst="rect">
              <a:avLst/>
            </a:prstGeom>
          </p:spPr>
        </p:pic>
        <p:pic>
          <p:nvPicPr>
            <p:cNvPr id="29" name="Graphic 28">
              <a:extLst>
                <a:ext uri="{FF2B5EF4-FFF2-40B4-BE49-F238E27FC236}">
                  <a16:creationId xmlns:a16="http://schemas.microsoft.com/office/drawing/2014/main" id="{BAFD916A-7DAA-E547-CFE5-ACFC50FDE418}"/>
                </a:ext>
              </a:extLst>
            </p:cNvPr>
            <p:cNvPicPr>
              <a:picLocks noChangeAspect="1"/>
            </p:cNvPicPr>
            <p:nvPr/>
          </p:nvPicPr>
          <p:blipFill>
            <a:blip>
              <a:extLst>
                <a:ext uri="{96DAC541-7B7A-43D3-8B79-37D633B846F1}">
                  <asvg:svgBlip xmlns:asvg="http://schemas.microsoft.com/office/drawing/2016/SVG/main" r:embed="rId4"/>
                </a:ext>
              </a:extLst>
            </a:blip>
            <a:srcRect l="42412" t="84345" r="42412"/>
            <a:stretch>
              <a:fillRect/>
            </a:stretch>
          </p:blipFill>
          <p:spPr>
            <a:xfrm>
              <a:off x="9445382" y="4091220"/>
              <a:ext cx="997436" cy="288083"/>
            </a:xfrm>
            <a:prstGeom prst="rect">
              <a:avLst/>
            </a:prstGeom>
          </p:spPr>
        </p:pic>
        <p:sp>
          <p:nvSpPr>
            <p:cNvPr id="32" name="文本框 60">
              <a:extLst>
                <a:ext uri="{FF2B5EF4-FFF2-40B4-BE49-F238E27FC236}">
                  <a16:creationId xmlns:a16="http://schemas.microsoft.com/office/drawing/2014/main" id="{15EEDEF3-9DEB-4E11-3C9A-6BC3142AA9B2}"/>
                </a:ext>
              </a:extLst>
            </p:cNvPr>
            <p:cNvSpPr txBox="1"/>
            <p:nvPr/>
          </p:nvSpPr>
          <p:spPr>
            <a:xfrm>
              <a:off x="7775277" y="3328486"/>
              <a:ext cx="689861" cy="584775"/>
            </a:xfrm>
            <a:prstGeom prst="rect">
              <a:avLst/>
            </a:prstGeom>
            <a:noFill/>
          </p:spPr>
          <p:txBody>
            <a:bodyPr wrap="square">
              <a:spAutoFit/>
            </a:bodyPr>
            <a:lstStyle/>
            <a:p>
              <a:pPr algn="ctr">
                <a:spcAft>
                  <a:spcPts val="1200"/>
                </a:spcAft>
              </a:pPr>
              <a:r>
                <a:rPr lang="zh-CN" altLang="en-US" sz="1600" dirty="0">
                  <a:solidFill>
                    <a:srgbClr val="4A4A4A"/>
                  </a:solidFill>
                  <a:latin typeface="+mn-ea"/>
                  <a:cs typeface="+mn-ea"/>
                  <a:sym typeface="+mn-lt"/>
                </a:rPr>
                <a:t>区域传输</a:t>
              </a:r>
              <a:endParaRPr lang="en-GB" altLang="zh-CN" sz="1600" dirty="0">
                <a:solidFill>
                  <a:srgbClr val="4A4A4A"/>
                </a:solidFill>
                <a:latin typeface="+mn-ea"/>
                <a:cs typeface="+mn-ea"/>
                <a:sym typeface="+mn-lt"/>
              </a:endParaRPr>
            </a:p>
          </p:txBody>
        </p:sp>
      </p:grpSp>
      <p:grpSp>
        <p:nvGrpSpPr>
          <p:cNvPr id="38" name="Group 37">
            <a:extLst>
              <a:ext uri="{FF2B5EF4-FFF2-40B4-BE49-F238E27FC236}">
                <a16:creationId xmlns:a16="http://schemas.microsoft.com/office/drawing/2014/main" id="{7DC00697-45C8-47D3-6C43-BEBC22F07268}"/>
              </a:ext>
            </a:extLst>
          </p:cNvPr>
          <p:cNvGrpSpPr/>
          <p:nvPr/>
        </p:nvGrpSpPr>
        <p:grpSpPr>
          <a:xfrm>
            <a:off x="221663" y="4646970"/>
            <a:ext cx="3959350" cy="1339800"/>
            <a:chOff x="441778" y="4588821"/>
            <a:chExt cx="3959350" cy="1339800"/>
          </a:xfrm>
        </p:grpSpPr>
        <p:pic>
          <p:nvPicPr>
            <p:cNvPr id="15" name="Graphic 14">
              <a:extLst>
                <a:ext uri="{FF2B5EF4-FFF2-40B4-BE49-F238E27FC236}">
                  <a16:creationId xmlns:a16="http://schemas.microsoft.com/office/drawing/2014/main" id="{A162C2A1-F4DB-12CE-8A33-DD7E778B57A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5928" y="4588821"/>
              <a:ext cx="3505200" cy="1168400"/>
            </a:xfrm>
            <a:prstGeom prst="rect">
              <a:avLst/>
            </a:prstGeom>
          </p:spPr>
        </p:pic>
        <p:pic>
          <p:nvPicPr>
            <p:cNvPr id="26" name="Graphic 25">
              <a:extLst>
                <a:ext uri="{FF2B5EF4-FFF2-40B4-BE49-F238E27FC236}">
                  <a16:creationId xmlns:a16="http://schemas.microsoft.com/office/drawing/2014/main" id="{BC5F65D5-82F4-803F-CB2E-BA7B2F142242}"/>
                </a:ext>
              </a:extLst>
            </p:cNvPr>
            <p:cNvPicPr>
              <a:picLocks noChangeAspect="1"/>
            </p:cNvPicPr>
            <p:nvPr/>
          </p:nvPicPr>
          <p:blipFill>
            <a:blip>
              <a:extLst>
                <a:ext uri="{96DAC541-7B7A-43D3-8B79-37D633B846F1}">
                  <asvg:svgBlip xmlns:asvg="http://schemas.microsoft.com/office/drawing/2016/SVG/main" r:embed="rId4"/>
                </a:ext>
              </a:extLst>
            </a:blip>
            <a:srcRect l="42412" t="84345" r="42412"/>
            <a:stretch>
              <a:fillRect/>
            </a:stretch>
          </p:blipFill>
          <p:spPr>
            <a:xfrm>
              <a:off x="2149810" y="5640538"/>
              <a:ext cx="997436" cy="288083"/>
            </a:xfrm>
            <a:prstGeom prst="rect">
              <a:avLst/>
            </a:prstGeom>
          </p:spPr>
        </p:pic>
        <p:sp>
          <p:nvSpPr>
            <p:cNvPr id="33" name="文本框 60">
              <a:extLst>
                <a:ext uri="{FF2B5EF4-FFF2-40B4-BE49-F238E27FC236}">
                  <a16:creationId xmlns:a16="http://schemas.microsoft.com/office/drawing/2014/main" id="{9D0EFFB1-61B9-CB61-9D57-4787C5B4AD83}"/>
                </a:ext>
              </a:extLst>
            </p:cNvPr>
            <p:cNvSpPr txBox="1"/>
            <p:nvPr/>
          </p:nvSpPr>
          <p:spPr>
            <a:xfrm>
              <a:off x="441778" y="4768065"/>
              <a:ext cx="689861" cy="584775"/>
            </a:xfrm>
            <a:prstGeom prst="rect">
              <a:avLst/>
            </a:prstGeom>
            <a:noFill/>
          </p:spPr>
          <p:txBody>
            <a:bodyPr wrap="square">
              <a:spAutoFit/>
            </a:bodyPr>
            <a:lstStyle/>
            <a:p>
              <a:pPr algn="ctr">
                <a:spcAft>
                  <a:spcPts val="1200"/>
                </a:spcAft>
              </a:pPr>
              <a:r>
                <a:rPr lang="zh-CN" altLang="en-US" sz="1600" dirty="0">
                  <a:solidFill>
                    <a:srgbClr val="4A4A4A"/>
                  </a:solidFill>
                  <a:latin typeface="+mn-ea"/>
                  <a:cs typeface="+mn-ea"/>
                  <a:sym typeface="+mn-lt"/>
                </a:rPr>
                <a:t>光伏装机</a:t>
              </a:r>
              <a:endParaRPr lang="en-GB" altLang="zh-CN" sz="1600" dirty="0">
                <a:solidFill>
                  <a:srgbClr val="4A4A4A"/>
                </a:solidFill>
                <a:latin typeface="+mn-ea"/>
                <a:cs typeface="+mn-ea"/>
                <a:sym typeface="+mn-lt"/>
              </a:endParaRPr>
            </a:p>
          </p:txBody>
        </p:sp>
      </p:grpSp>
      <p:grpSp>
        <p:nvGrpSpPr>
          <p:cNvPr id="5" name="Group 4">
            <a:extLst>
              <a:ext uri="{FF2B5EF4-FFF2-40B4-BE49-F238E27FC236}">
                <a16:creationId xmlns:a16="http://schemas.microsoft.com/office/drawing/2014/main" id="{B19A3EC7-B9F3-07D4-0104-C84469B8B297}"/>
              </a:ext>
            </a:extLst>
          </p:cNvPr>
          <p:cNvGrpSpPr/>
          <p:nvPr/>
        </p:nvGrpSpPr>
        <p:grpSpPr>
          <a:xfrm>
            <a:off x="8017472" y="4646969"/>
            <a:ext cx="3952865" cy="1339801"/>
            <a:chOff x="4096049" y="4588821"/>
            <a:chExt cx="3952865" cy="1339801"/>
          </a:xfrm>
        </p:grpSpPr>
        <p:grpSp>
          <p:nvGrpSpPr>
            <p:cNvPr id="6" name="Group 5">
              <a:extLst>
                <a:ext uri="{FF2B5EF4-FFF2-40B4-BE49-F238E27FC236}">
                  <a16:creationId xmlns:a16="http://schemas.microsoft.com/office/drawing/2014/main" id="{37C300A8-442D-D319-F3D5-8E821424B381}"/>
                </a:ext>
              </a:extLst>
            </p:cNvPr>
            <p:cNvGrpSpPr/>
            <p:nvPr/>
          </p:nvGrpSpPr>
          <p:grpSpPr>
            <a:xfrm>
              <a:off x="4543714" y="4588821"/>
              <a:ext cx="3505200" cy="1168400"/>
              <a:chOff x="4543714" y="4588821"/>
              <a:chExt cx="3505200" cy="1168400"/>
            </a:xfrm>
          </p:grpSpPr>
          <p:pic>
            <p:nvPicPr>
              <p:cNvPr id="9" name="Graphic 8">
                <a:extLst>
                  <a:ext uri="{FF2B5EF4-FFF2-40B4-BE49-F238E27FC236}">
                    <a16:creationId xmlns:a16="http://schemas.microsoft.com/office/drawing/2014/main" id="{6857A507-D775-0301-FC72-C3D746D450E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43714" y="4588821"/>
                <a:ext cx="3505200" cy="1168400"/>
              </a:xfrm>
              <a:prstGeom prst="rect">
                <a:avLst/>
              </a:prstGeom>
            </p:spPr>
          </p:pic>
          <p:sp>
            <p:nvSpPr>
              <p:cNvPr id="10" name="Rectangle 9">
                <a:extLst>
                  <a:ext uri="{FF2B5EF4-FFF2-40B4-BE49-F238E27FC236}">
                    <a16:creationId xmlns:a16="http://schemas.microsoft.com/office/drawing/2014/main" id="{31270EFD-33F7-4442-32E9-A9FBC2087BA6}"/>
                  </a:ext>
                </a:extLst>
              </p:cNvPr>
              <p:cNvSpPr/>
              <p:nvPr/>
            </p:nvSpPr>
            <p:spPr>
              <a:xfrm>
                <a:off x="4732149" y="4711485"/>
                <a:ext cx="3151322" cy="5527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grpSp>
        <p:pic>
          <p:nvPicPr>
            <p:cNvPr id="7" name="Graphic 6">
              <a:extLst>
                <a:ext uri="{FF2B5EF4-FFF2-40B4-BE49-F238E27FC236}">
                  <a16:creationId xmlns:a16="http://schemas.microsoft.com/office/drawing/2014/main" id="{C4D93362-583A-7415-ED34-EA84C2299F1D}"/>
                </a:ext>
              </a:extLst>
            </p:cNvPr>
            <p:cNvPicPr>
              <a:picLocks noChangeAspect="1"/>
            </p:cNvPicPr>
            <p:nvPr/>
          </p:nvPicPr>
          <p:blipFill>
            <a:blip>
              <a:extLst>
                <a:ext uri="{96DAC541-7B7A-43D3-8B79-37D633B846F1}">
                  <asvg:svgBlip xmlns:asvg="http://schemas.microsoft.com/office/drawing/2016/SVG/main" r:embed="rId4"/>
                </a:ext>
              </a:extLst>
            </a:blip>
            <a:srcRect l="42412" t="84345" r="42412"/>
            <a:stretch>
              <a:fillRect/>
            </a:stretch>
          </p:blipFill>
          <p:spPr>
            <a:xfrm>
              <a:off x="5797596" y="5640539"/>
              <a:ext cx="997436" cy="288083"/>
            </a:xfrm>
            <a:prstGeom prst="rect">
              <a:avLst/>
            </a:prstGeom>
          </p:spPr>
        </p:pic>
        <p:sp>
          <p:nvSpPr>
            <p:cNvPr id="8" name="文本框 60">
              <a:extLst>
                <a:ext uri="{FF2B5EF4-FFF2-40B4-BE49-F238E27FC236}">
                  <a16:creationId xmlns:a16="http://schemas.microsoft.com/office/drawing/2014/main" id="{D16B0DBE-097E-563F-B503-D46CF11071D1}"/>
                </a:ext>
              </a:extLst>
            </p:cNvPr>
            <p:cNvSpPr txBox="1"/>
            <p:nvPr/>
          </p:nvSpPr>
          <p:spPr>
            <a:xfrm>
              <a:off x="4096049" y="4711485"/>
              <a:ext cx="689861" cy="830997"/>
            </a:xfrm>
            <a:prstGeom prst="rect">
              <a:avLst/>
            </a:prstGeom>
            <a:noFill/>
          </p:spPr>
          <p:txBody>
            <a:bodyPr wrap="square">
              <a:spAutoFit/>
            </a:bodyPr>
            <a:lstStyle/>
            <a:p>
              <a:pPr algn="ctr">
                <a:spcAft>
                  <a:spcPts val="1200"/>
                </a:spcAft>
              </a:pPr>
              <a:r>
                <a:rPr lang="zh-CN" altLang="en-US" sz="1600" dirty="0">
                  <a:solidFill>
                    <a:srgbClr val="4A4A4A"/>
                  </a:solidFill>
                  <a:latin typeface="+mn-ea"/>
                  <a:cs typeface="+mn-ea"/>
                  <a:sym typeface="+mn-lt"/>
                </a:rPr>
                <a:t>光伏发电损失</a:t>
              </a:r>
              <a:endParaRPr lang="en-GB" altLang="zh-CN" sz="1600" dirty="0">
                <a:solidFill>
                  <a:srgbClr val="4A4A4A"/>
                </a:solidFill>
                <a:latin typeface="+mn-ea"/>
                <a:cs typeface="+mn-ea"/>
                <a:sym typeface="+mn-lt"/>
              </a:endParaRPr>
            </a:p>
          </p:txBody>
        </p:sp>
      </p:grpSp>
      <p:sp>
        <p:nvSpPr>
          <p:cNvPr id="16" name="Rectangle 15">
            <a:extLst>
              <a:ext uri="{FF2B5EF4-FFF2-40B4-BE49-F238E27FC236}">
                <a16:creationId xmlns:a16="http://schemas.microsoft.com/office/drawing/2014/main" id="{E9307C1E-1437-CA1F-54F2-2A235A25E344}"/>
              </a:ext>
            </a:extLst>
          </p:cNvPr>
          <p:cNvSpPr/>
          <p:nvPr/>
        </p:nvSpPr>
        <p:spPr>
          <a:xfrm>
            <a:off x="8891354" y="5135971"/>
            <a:ext cx="197803" cy="4646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0" name="Rectangle 19">
            <a:extLst>
              <a:ext uri="{FF2B5EF4-FFF2-40B4-BE49-F238E27FC236}">
                <a16:creationId xmlns:a16="http://schemas.microsoft.com/office/drawing/2014/main" id="{7C8E2221-0F8C-30D5-4204-40E4B9904019}"/>
              </a:ext>
            </a:extLst>
          </p:cNvPr>
          <p:cNvSpPr/>
          <p:nvPr/>
        </p:nvSpPr>
        <p:spPr>
          <a:xfrm>
            <a:off x="10153016" y="4769633"/>
            <a:ext cx="197803" cy="83099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1" name="Rectangle 20">
            <a:extLst>
              <a:ext uri="{FF2B5EF4-FFF2-40B4-BE49-F238E27FC236}">
                <a16:creationId xmlns:a16="http://schemas.microsoft.com/office/drawing/2014/main" id="{06DCC637-F5BA-758E-B674-A9B5AFAB2DE5}"/>
              </a:ext>
            </a:extLst>
          </p:cNvPr>
          <p:cNvSpPr/>
          <p:nvPr/>
        </p:nvSpPr>
        <p:spPr>
          <a:xfrm>
            <a:off x="11414678" y="4937917"/>
            <a:ext cx="197803" cy="66015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2" name="Rectangle 21">
            <a:extLst>
              <a:ext uri="{FF2B5EF4-FFF2-40B4-BE49-F238E27FC236}">
                <a16:creationId xmlns:a16="http://schemas.microsoft.com/office/drawing/2014/main" id="{7CC9CE1A-70C3-80E2-B2C9-70DDA07F12D2}"/>
              </a:ext>
            </a:extLst>
          </p:cNvPr>
          <p:cNvSpPr/>
          <p:nvPr/>
        </p:nvSpPr>
        <p:spPr>
          <a:xfrm flipV="1">
            <a:off x="9143686" y="5132470"/>
            <a:ext cx="197803" cy="196305"/>
          </a:xfrm>
          <a:prstGeom prst="rect">
            <a:avLst/>
          </a:prstGeom>
          <a:solidFill>
            <a:srgbClr val="D97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0" name="Rectangle 39">
            <a:extLst>
              <a:ext uri="{FF2B5EF4-FFF2-40B4-BE49-F238E27FC236}">
                <a16:creationId xmlns:a16="http://schemas.microsoft.com/office/drawing/2014/main" id="{419AC5F2-4C45-C1EF-CDCC-3E350C9F6E55}"/>
              </a:ext>
            </a:extLst>
          </p:cNvPr>
          <p:cNvSpPr/>
          <p:nvPr/>
        </p:nvSpPr>
        <p:spPr>
          <a:xfrm>
            <a:off x="9396018" y="5249008"/>
            <a:ext cx="197803" cy="80803"/>
          </a:xfrm>
          <a:prstGeom prst="rect">
            <a:avLst/>
          </a:prstGeom>
          <a:solidFill>
            <a:srgbClr val="439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1" name="Rectangle 40">
            <a:extLst>
              <a:ext uri="{FF2B5EF4-FFF2-40B4-BE49-F238E27FC236}">
                <a16:creationId xmlns:a16="http://schemas.microsoft.com/office/drawing/2014/main" id="{D0C90CB7-490F-2872-E143-954912BC7D3B}"/>
              </a:ext>
            </a:extLst>
          </p:cNvPr>
          <p:cNvSpPr/>
          <p:nvPr/>
        </p:nvSpPr>
        <p:spPr>
          <a:xfrm>
            <a:off x="9648350" y="5049105"/>
            <a:ext cx="197803" cy="196305"/>
          </a:xfrm>
          <a:prstGeom prst="rect">
            <a:avLst/>
          </a:prstGeom>
          <a:solidFill>
            <a:srgbClr val="9A80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2" name="Rectangle 41">
            <a:extLst>
              <a:ext uri="{FF2B5EF4-FFF2-40B4-BE49-F238E27FC236}">
                <a16:creationId xmlns:a16="http://schemas.microsoft.com/office/drawing/2014/main" id="{2E93610F-9735-C444-AA33-2D3D3E8F2DD2}"/>
              </a:ext>
            </a:extLst>
          </p:cNvPr>
          <p:cNvSpPr/>
          <p:nvPr/>
        </p:nvSpPr>
        <p:spPr>
          <a:xfrm>
            <a:off x="9900682" y="4769633"/>
            <a:ext cx="197803" cy="279472"/>
          </a:xfrm>
          <a:prstGeom prst="rect">
            <a:avLst/>
          </a:prstGeom>
          <a:solidFill>
            <a:srgbClr val="369B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3" name="Rectangle 42">
            <a:extLst>
              <a:ext uri="{FF2B5EF4-FFF2-40B4-BE49-F238E27FC236}">
                <a16:creationId xmlns:a16="http://schemas.microsoft.com/office/drawing/2014/main" id="{47156FA0-21F7-F115-6192-3F1431CFD6E7}"/>
              </a:ext>
            </a:extLst>
          </p:cNvPr>
          <p:cNvSpPr/>
          <p:nvPr/>
        </p:nvSpPr>
        <p:spPr>
          <a:xfrm flipV="1">
            <a:off x="10405348" y="4776001"/>
            <a:ext cx="197803" cy="356469"/>
          </a:xfrm>
          <a:prstGeom prst="rect">
            <a:avLst/>
          </a:prstGeom>
          <a:solidFill>
            <a:srgbClr val="D97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4" name="Rectangle 43">
            <a:extLst>
              <a:ext uri="{FF2B5EF4-FFF2-40B4-BE49-F238E27FC236}">
                <a16:creationId xmlns:a16="http://schemas.microsoft.com/office/drawing/2014/main" id="{A30FB3F5-5ED9-F709-0716-B48D1D0D193E}"/>
              </a:ext>
            </a:extLst>
          </p:cNvPr>
          <p:cNvSpPr/>
          <p:nvPr/>
        </p:nvSpPr>
        <p:spPr>
          <a:xfrm>
            <a:off x="10657680" y="5132471"/>
            <a:ext cx="197803" cy="78412"/>
          </a:xfrm>
          <a:prstGeom prst="rect">
            <a:avLst/>
          </a:prstGeom>
          <a:solidFill>
            <a:srgbClr val="439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5" name="Rectangle 44">
            <a:extLst>
              <a:ext uri="{FF2B5EF4-FFF2-40B4-BE49-F238E27FC236}">
                <a16:creationId xmlns:a16="http://schemas.microsoft.com/office/drawing/2014/main" id="{C8224E19-4A88-CE05-4512-B7396D74D15D}"/>
              </a:ext>
            </a:extLst>
          </p:cNvPr>
          <p:cNvSpPr/>
          <p:nvPr/>
        </p:nvSpPr>
        <p:spPr>
          <a:xfrm>
            <a:off x="10910012" y="5210884"/>
            <a:ext cx="197803" cy="78412"/>
          </a:xfrm>
          <a:prstGeom prst="rect">
            <a:avLst/>
          </a:prstGeom>
          <a:solidFill>
            <a:srgbClr val="9A80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6" name="Rectangle 45">
            <a:extLst>
              <a:ext uri="{FF2B5EF4-FFF2-40B4-BE49-F238E27FC236}">
                <a16:creationId xmlns:a16="http://schemas.microsoft.com/office/drawing/2014/main" id="{D2C7C807-9EF4-CE32-9020-BD865CBA9E24}"/>
              </a:ext>
            </a:extLst>
          </p:cNvPr>
          <p:cNvSpPr/>
          <p:nvPr/>
        </p:nvSpPr>
        <p:spPr>
          <a:xfrm>
            <a:off x="11162344" y="4932826"/>
            <a:ext cx="197803" cy="356469"/>
          </a:xfrm>
          <a:prstGeom prst="rect">
            <a:avLst/>
          </a:prstGeom>
          <a:solidFill>
            <a:srgbClr val="369B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grpSp>
        <p:nvGrpSpPr>
          <p:cNvPr id="49" name="Group 48">
            <a:extLst>
              <a:ext uri="{FF2B5EF4-FFF2-40B4-BE49-F238E27FC236}">
                <a16:creationId xmlns:a16="http://schemas.microsoft.com/office/drawing/2014/main" id="{0917C43D-9D55-94C2-9A1E-12875803AFFB}"/>
              </a:ext>
            </a:extLst>
          </p:cNvPr>
          <p:cNvGrpSpPr/>
          <p:nvPr/>
        </p:nvGrpSpPr>
        <p:grpSpPr>
          <a:xfrm>
            <a:off x="4138531" y="4646970"/>
            <a:ext cx="3952865" cy="1339801"/>
            <a:chOff x="4138531" y="4646970"/>
            <a:chExt cx="3952865" cy="1339801"/>
          </a:xfrm>
        </p:grpSpPr>
        <p:pic>
          <p:nvPicPr>
            <p:cNvPr id="17" name="Graphic 16">
              <a:extLst>
                <a:ext uri="{FF2B5EF4-FFF2-40B4-BE49-F238E27FC236}">
                  <a16:creationId xmlns:a16="http://schemas.microsoft.com/office/drawing/2014/main" id="{1B466B9D-99A0-FAC4-21D8-DC62539D8B3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86196" y="4646970"/>
              <a:ext cx="3505200" cy="1168400"/>
            </a:xfrm>
            <a:prstGeom prst="rect">
              <a:avLst/>
            </a:prstGeom>
          </p:spPr>
        </p:pic>
        <p:sp>
          <p:nvSpPr>
            <p:cNvPr id="18" name="Rectangle 17">
              <a:extLst>
                <a:ext uri="{FF2B5EF4-FFF2-40B4-BE49-F238E27FC236}">
                  <a16:creationId xmlns:a16="http://schemas.microsoft.com/office/drawing/2014/main" id="{85D382E8-6147-9216-2804-2245574D53B9}"/>
                </a:ext>
              </a:extLst>
            </p:cNvPr>
            <p:cNvSpPr/>
            <p:nvPr/>
          </p:nvSpPr>
          <p:spPr>
            <a:xfrm>
              <a:off x="4774631" y="4769634"/>
              <a:ext cx="3151322" cy="5527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25" name="Graphic 24">
              <a:extLst>
                <a:ext uri="{FF2B5EF4-FFF2-40B4-BE49-F238E27FC236}">
                  <a16:creationId xmlns:a16="http://schemas.microsoft.com/office/drawing/2014/main" id="{212F5CB2-C6C9-927C-61FC-6EA47651FB30}"/>
                </a:ext>
              </a:extLst>
            </p:cNvPr>
            <p:cNvPicPr>
              <a:picLocks noChangeAspect="1"/>
            </p:cNvPicPr>
            <p:nvPr/>
          </p:nvPicPr>
          <p:blipFill>
            <a:blip>
              <a:extLst>
                <a:ext uri="{96DAC541-7B7A-43D3-8B79-37D633B846F1}">
                  <asvg:svgBlip xmlns:asvg="http://schemas.microsoft.com/office/drawing/2016/SVG/main" r:embed="rId4"/>
                </a:ext>
              </a:extLst>
            </a:blip>
            <a:srcRect l="42412" t="84345" r="42412"/>
            <a:stretch>
              <a:fillRect/>
            </a:stretch>
          </p:blipFill>
          <p:spPr>
            <a:xfrm>
              <a:off x="5840078" y="5698688"/>
              <a:ext cx="997436" cy="288083"/>
            </a:xfrm>
            <a:prstGeom prst="rect">
              <a:avLst/>
            </a:prstGeom>
          </p:spPr>
        </p:pic>
        <p:sp>
          <p:nvSpPr>
            <p:cNvPr id="34" name="文本框 60">
              <a:extLst>
                <a:ext uri="{FF2B5EF4-FFF2-40B4-BE49-F238E27FC236}">
                  <a16:creationId xmlns:a16="http://schemas.microsoft.com/office/drawing/2014/main" id="{2B414797-F5E1-93B6-B680-4D5CFDAB1E11}"/>
                </a:ext>
              </a:extLst>
            </p:cNvPr>
            <p:cNvSpPr txBox="1"/>
            <p:nvPr/>
          </p:nvSpPr>
          <p:spPr>
            <a:xfrm>
              <a:off x="4138531" y="4769634"/>
              <a:ext cx="689861" cy="830997"/>
            </a:xfrm>
            <a:prstGeom prst="rect">
              <a:avLst/>
            </a:prstGeom>
            <a:noFill/>
          </p:spPr>
          <p:txBody>
            <a:bodyPr wrap="square">
              <a:spAutoFit/>
            </a:bodyPr>
            <a:lstStyle/>
            <a:p>
              <a:pPr algn="ctr">
                <a:spcAft>
                  <a:spcPts val="1200"/>
                </a:spcAft>
              </a:pPr>
              <a:r>
                <a:rPr lang="zh-CN" altLang="en-US" sz="1600" dirty="0">
                  <a:solidFill>
                    <a:srgbClr val="4A4A4A"/>
                  </a:solidFill>
                  <a:latin typeface="+mn-ea"/>
                  <a:cs typeface="+mn-ea"/>
                  <a:sym typeface="+mn-lt"/>
                </a:rPr>
                <a:t>光伏发电损失</a:t>
              </a:r>
              <a:endParaRPr lang="en-GB" altLang="zh-CN" sz="1600" dirty="0">
                <a:solidFill>
                  <a:srgbClr val="4A4A4A"/>
                </a:solidFill>
                <a:latin typeface="+mn-ea"/>
                <a:cs typeface="+mn-ea"/>
                <a:sym typeface="+mn-lt"/>
              </a:endParaRPr>
            </a:p>
          </p:txBody>
        </p:sp>
        <p:sp>
          <p:nvSpPr>
            <p:cNvPr id="48" name="Freeform 47">
              <a:extLst>
                <a:ext uri="{FF2B5EF4-FFF2-40B4-BE49-F238E27FC236}">
                  <a16:creationId xmlns:a16="http://schemas.microsoft.com/office/drawing/2014/main" id="{5BF9A907-2246-CB11-DEA8-43EC80F672EB}"/>
                </a:ext>
              </a:extLst>
            </p:cNvPr>
            <p:cNvSpPr/>
            <p:nvPr/>
          </p:nvSpPr>
          <p:spPr>
            <a:xfrm>
              <a:off x="4785750" y="4919772"/>
              <a:ext cx="3083858" cy="374006"/>
            </a:xfrm>
            <a:custGeom>
              <a:avLst/>
              <a:gdLst>
                <a:gd name="csX0" fmla="*/ 0 w 3083858"/>
                <a:gd name="csY0" fmla="*/ 349624 h 374006"/>
                <a:gd name="csX1" fmla="*/ 1030941 w 3083858"/>
                <a:gd name="csY1" fmla="*/ 358589 h 374006"/>
                <a:gd name="csX2" fmla="*/ 1649506 w 3083858"/>
                <a:gd name="csY2" fmla="*/ 170330 h 374006"/>
                <a:gd name="csX3" fmla="*/ 2483223 w 3083858"/>
                <a:gd name="csY3" fmla="*/ 161365 h 374006"/>
                <a:gd name="csX4" fmla="*/ 3083858 w 3083858"/>
                <a:gd name="csY4" fmla="*/ 0 h 374006"/>
              </a:gdLst>
              <a:ahLst/>
              <a:cxnLst>
                <a:cxn ang="0">
                  <a:pos x="csX0" y="csY0"/>
                </a:cxn>
                <a:cxn ang="0">
                  <a:pos x="csX1" y="csY1"/>
                </a:cxn>
                <a:cxn ang="0">
                  <a:pos x="csX2" y="csY2"/>
                </a:cxn>
                <a:cxn ang="0">
                  <a:pos x="csX3" y="csY3"/>
                </a:cxn>
                <a:cxn ang="0">
                  <a:pos x="csX4" y="csY4"/>
                </a:cxn>
              </a:cxnLst>
              <a:rect l="l" t="t" r="r" b="b"/>
              <a:pathLst>
                <a:path w="3083858" h="374006">
                  <a:moveTo>
                    <a:pt x="0" y="349624"/>
                  </a:moveTo>
                  <a:cubicBezTo>
                    <a:pt x="378011" y="369047"/>
                    <a:pt x="756023" y="388471"/>
                    <a:pt x="1030941" y="358589"/>
                  </a:cubicBezTo>
                  <a:cubicBezTo>
                    <a:pt x="1305859" y="328707"/>
                    <a:pt x="1407459" y="203201"/>
                    <a:pt x="1649506" y="170330"/>
                  </a:cubicBezTo>
                  <a:cubicBezTo>
                    <a:pt x="1891553" y="137459"/>
                    <a:pt x="2244164" y="189753"/>
                    <a:pt x="2483223" y="161365"/>
                  </a:cubicBezTo>
                  <a:cubicBezTo>
                    <a:pt x="2722282" y="132977"/>
                    <a:pt x="2903070" y="66488"/>
                    <a:pt x="3083858" y="0"/>
                  </a:cubicBez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grpSp>
      <p:pic>
        <p:nvPicPr>
          <p:cNvPr id="50" name="Graphic 49" descr="Question mark with solid fill">
            <a:extLst>
              <a:ext uri="{FF2B5EF4-FFF2-40B4-BE49-F238E27FC236}">
                <a16:creationId xmlns:a16="http://schemas.microsoft.com/office/drawing/2014/main" id="{16746C54-ACC8-EADD-4155-6EEE69EE690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07271" y="4384506"/>
            <a:ext cx="599886" cy="599886"/>
          </a:xfrm>
          <a:prstGeom prst="rect">
            <a:avLst/>
          </a:prstGeom>
        </p:spPr>
      </p:pic>
      <p:pic>
        <p:nvPicPr>
          <p:cNvPr id="51" name="Graphic 50" descr="Question mark with solid fill">
            <a:extLst>
              <a:ext uri="{FF2B5EF4-FFF2-40B4-BE49-F238E27FC236}">
                <a16:creationId xmlns:a16="http://schemas.microsoft.com/office/drawing/2014/main" id="{87117861-055D-5580-C9B9-2CDD9E486FE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622379" y="4339565"/>
            <a:ext cx="599886" cy="599886"/>
          </a:xfrm>
          <a:prstGeom prst="rect">
            <a:avLst/>
          </a:prstGeom>
        </p:spPr>
      </p:pic>
      <p:pic>
        <p:nvPicPr>
          <p:cNvPr id="52" name="Graphic 51" descr="Question mark with solid fill">
            <a:extLst>
              <a:ext uri="{FF2B5EF4-FFF2-40B4-BE49-F238E27FC236}">
                <a16:creationId xmlns:a16="http://schemas.microsoft.com/office/drawing/2014/main" id="{8D874DBD-08DA-8155-BD64-B66325C12ED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87585" y="4603106"/>
            <a:ext cx="599886" cy="599886"/>
          </a:xfrm>
          <a:prstGeom prst="rect">
            <a:avLst/>
          </a:prstGeom>
        </p:spPr>
      </p:pic>
    </p:spTree>
    <p:extLst>
      <p:ext uri="{BB962C8B-B14F-4D97-AF65-F5344CB8AC3E}">
        <p14:creationId xmlns:p14="http://schemas.microsoft.com/office/powerpoint/2010/main" val="1125536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AAB59-5422-054E-62E4-D31558979F11}"/>
              </a:ext>
            </a:extLst>
          </p:cNvPr>
          <p:cNvSpPr>
            <a:spLocks noGrp="1"/>
          </p:cNvSpPr>
          <p:nvPr>
            <p:ph type="title"/>
          </p:nvPr>
        </p:nvSpPr>
        <p:spPr/>
        <p:txBody>
          <a:bodyPr/>
          <a:lstStyle/>
          <a:p>
            <a:r>
              <a:rPr lang="en-CN" dirty="0"/>
              <a:t>研究工作思路</a:t>
            </a:r>
          </a:p>
        </p:txBody>
      </p:sp>
      <p:sp>
        <p:nvSpPr>
          <p:cNvPr id="3" name="Slide Number Placeholder 2">
            <a:extLst>
              <a:ext uri="{FF2B5EF4-FFF2-40B4-BE49-F238E27FC236}">
                <a16:creationId xmlns:a16="http://schemas.microsoft.com/office/drawing/2014/main" id="{8E79FFE1-241B-B05E-E6DC-3358B5445DF1}"/>
              </a:ext>
            </a:extLst>
          </p:cNvPr>
          <p:cNvSpPr>
            <a:spLocks noGrp="1"/>
          </p:cNvSpPr>
          <p:nvPr>
            <p:ph type="sldNum" sz="quarter" idx="12"/>
          </p:nvPr>
        </p:nvSpPr>
        <p:spPr/>
        <p:txBody>
          <a:bodyPr/>
          <a:lstStyle/>
          <a:p>
            <a:fld id="{3ACD1EC8-6F57-41A7-99F1-FEDB2874BA2B}" type="slidenum">
              <a:rPr lang="zh-CN" altLang="en-US" smtClean="0"/>
              <a:t>9</a:t>
            </a:fld>
            <a:endParaRPr lang="zh-CN" altLang="en-US"/>
          </a:p>
        </p:txBody>
      </p:sp>
      <p:pic>
        <p:nvPicPr>
          <p:cNvPr id="7" name="Picture 6">
            <a:extLst>
              <a:ext uri="{FF2B5EF4-FFF2-40B4-BE49-F238E27FC236}">
                <a16:creationId xmlns:a16="http://schemas.microsoft.com/office/drawing/2014/main" id="{6384183D-BEB7-AE3E-1924-3C7BB9D75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599" y="961234"/>
            <a:ext cx="11512737" cy="5407816"/>
          </a:xfrm>
          <a:prstGeom prst="rect">
            <a:avLst/>
          </a:prstGeom>
        </p:spPr>
      </p:pic>
    </p:spTree>
    <p:extLst>
      <p:ext uri="{BB962C8B-B14F-4D97-AF65-F5344CB8AC3E}">
        <p14:creationId xmlns:p14="http://schemas.microsoft.com/office/powerpoint/2010/main" val="1608521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41273-9E3F-A306-CC9B-12DC5C1612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A8AB6B-95B9-424F-FBB0-0057D8773989}"/>
              </a:ext>
            </a:extLst>
          </p:cNvPr>
          <p:cNvSpPr>
            <a:spLocks noGrp="1"/>
          </p:cNvSpPr>
          <p:nvPr>
            <p:ph type="title"/>
          </p:nvPr>
        </p:nvSpPr>
        <p:spPr/>
        <p:txBody>
          <a:bodyPr/>
          <a:lstStyle/>
          <a:p>
            <a:r>
              <a:rPr lang="en-CN" dirty="0"/>
              <a:t>特色</a:t>
            </a:r>
            <a:r>
              <a:rPr lang="zh-CN" altLang="en-US" dirty="0"/>
              <a:t>、创新点与进度安排</a:t>
            </a:r>
            <a:endParaRPr lang="en-CN" dirty="0"/>
          </a:p>
        </p:txBody>
      </p:sp>
      <p:sp>
        <p:nvSpPr>
          <p:cNvPr id="3" name="Slide Number Placeholder 2">
            <a:extLst>
              <a:ext uri="{FF2B5EF4-FFF2-40B4-BE49-F238E27FC236}">
                <a16:creationId xmlns:a16="http://schemas.microsoft.com/office/drawing/2014/main" id="{0D740CDC-C595-30FB-DDF0-1F0E913BA688}"/>
              </a:ext>
            </a:extLst>
          </p:cNvPr>
          <p:cNvSpPr>
            <a:spLocks noGrp="1"/>
          </p:cNvSpPr>
          <p:nvPr>
            <p:ph type="sldNum" sz="quarter" idx="12"/>
          </p:nvPr>
        </p:nvSpPr>
        <p:spPr/>
        <p:txBody>
          <a:bodyPr/>
          <a:lstStyle/>
          <a:p>
            <a:fld id="{3ACD1EC8-6F57-41A7-99F1-FEDB2874BA2B}" type="slidenum">
              <a:rPr lang="zh-CN" altLang="en-US" smtClean="0"/>
              <a:t>10</a:t>
            </a:fld>
            <a:endParaRPr lang="zh-CN" altLang="en-US"/>
          </a:p>
        </p:txBody>
      </p:sp>
      <p:grpSp>
        <p:nvGrpSpPr>
          <p:cNvPr id="21" name="Group 20">
            <a:extLst>
              <a:ext uri="{FF2B5EF4-FFF2-40B4-BE49-F238E27FC236}">
                <a16:creationId xmlns:a16="http://schemas.microsoft.com/office/drawing/2014/main" id="{6A8AB055-3E19-271E-D1C8-0C30FE70826C}"/>
              </a:ext>
            </a:extLst>
          </p:cNvPr>
          <p:cNvGrpSpPr/>
          <p:nvPr/>
        </p:nvGrpSpPr>
        <p:grpSpPr>
          <a:xfrm>
            <a:off x="694997" y="1181656"/>
            <a:ext cx="10802007" cy="4494689"/>
            <a:chOff x="907393" y="929378"/>
            <a:chExt cx="10802007" cy="4494689"/>
          </a:xfrm>
        </p:grpSpPr>
        <p:pic>
          <p:nvPicPr>
            <p:cNvPr id="5" name="Picture 4">
              <a:extLst>
                <a:ext uri="{FF2B5EF4-FFF2-40B4-BE49-F238E27FC236}">
                  <a16:creationId xmlns:a16="http://schemas.microsoft.com/office/drawing/2014/main" id="{BF5E28F8-8C3B-6908-EB74-201E9DE2EE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5710" y="929379"/>
              <a:ext cx="7013690" cy="4494688"/>
            </a:xfrm>
            <a:prstGeom prst="rect">
              <a:avLst/>
            </a:prstGeom>
          </p:spPr>
        </p:pic>
        <p:sp>
          <p:nvSpPr>
            <p:cNvPr id="16" name="文本框 8">
              <a:extLst>
                <a:ext uri="{FF2B5EF4-FFF2-40B4-BE49-F238E27FC236}">
                  <a16:creationId xmlns:a16="http://schemas.microsoft.com/office/drawing/2014/main" id="{73B2CE0F-EA2F-AFB2-7207-16905FE9D0A4}"/>
                </a:ext>
              </a:extLst>
            </p:cNvPr>
            <p:cNvSpPr txBox="1"/>
            <p:nvPr/>
          </p:nvSpPr>
          <p:spPr>
            <a:xfrm>
              <a:off x="907393" y="929378"/>
              <a:ext cx="3560067" cy="1330044"/>
            </a:xfrm>
            <a:prstGeom prst="rect">
              <a:avLst/>
            </a:prstGeom>
            <a:noFill/>
          </p:spPr>
          <p:txBody>
            <a:bodyPr wrap="square" rtlCol="0">
              <a:spAutoFit/>
            </a:bodyPr>
            <a:lstStyle/>
            <a:p>
              <a:pPr>
                <a:lnSpc>
                  <a:spcPct val="150000"/>
                </a:lnSpc>
              </a:pPr>
              <a:r>
                <a:rPr lang="zh-CN" altLang="en-US" sz="3600" b="1" dirty="0">
                  <a:solidFill>
                    <a:schemeClr val="accent3"/>
                  </a:solidFill>
                </a:rPr>
                <a:t>真实场景</a:t>
              </a:r>
              <a:endParaRPr lang="en-US" altLang="zh-CN" sz="2800" b="1" dirty="0">
                <a:solidFill>
                  <a:schemeClr val="accent3"/>
                </a:solidFill>
              </a:endParaRPr>
            </a:p>
            <a:p>
              <a:pPr>
                <a:lnSpc>
                  <a:spcPct val="150000"/>
                </a:lnSpc>
              </a:pPr>
              <a:r>
                <a:rPr lang="zh-CN" altLang="en-US" sz="2000" dirty="0"/>
                <a:t>发电量及其损失归因</a:t>
              </a:r>
            </a:p>
          </p:txBody>
        </p:sp>
        <p:sp>
          <p:nvSpPr>
            <p:cNvPr id="17" name="文本框 8">
              <a:extLst>
                <a:ext uri="{FF2B5EF4-FFF2-40B4-BE49-F238E27FC236}">
                  <a16:creationId xmlns:a16="http://schemas.microsoft.com/office/drawing/2014/main" id="{BEE93A28-0ACC-43E6-9E2F-538C25D78894}"/>
                </a:ext>
              </a:extLst>
            </p:cNvPr>
            <p:cNvSpPr txBox="1"/>
            <p:nvPr/>
          </p:nvSpPr>
          <p:spPr>
            <a:xfrm>
              <a:off x="907393" y="2511700"/>
              <a:ext cx="3560067" cy="1330044"/>
            </a:xfrm>
            <a:prstGeom prst="rect">
              <a:avLst/>
            </a:prstGeom>
            <a:noFill/>
          </p:spPr>
          <p:txBody>
            <a:bodyPr wrap="square" rtlCol="0">
              <a:spAutoFit/>
            </a:bodyPr>
            <a:lstStyle/>
            <a:p>
              <a:pPr>
                <a:lnSpc>
                  <a:spcPct val="150000"/>
                </a:lnSpc>
              </a:pPr>
              <a:r>
                <a:rPr lang="zh-CN" altLang="en-US" sz="3600" b="1" dirty="0">
                  <a:solidFill>
                    <a:schemeClr val="accent3"/>
                  </a:solidFill>
                </a:rPr>
                <a:t>跨学科、大交叉</a:t>
              </a:r>
              <a:endParaRPr lang="en-US" altLang="zh-CN" sz="3600" b="1" dirty="0">
                <a:solidFill>
                  <a:schemeClr val="accent3"/>
                </a:solidFill>
              </a:endParaRPr>
            </a:p>
            <a:p>
              <a:pPr>
                <a:lnSpc>
                  <a:spcPct val="150000"/>
                </a:lnSpc>
              </a:pPr>
              <a:r>
                <a:rPr lang="zh-CN" altLang="en-US" sz="2000" dirty="0"/>
                <a:t>研究范式</a:t>
              </a:r>
            </a:p>
          </p:txBody>
        </p:sp>
        <p:sp>
          <p:nvSpPr>
            <p:cNvPr id="19" name="文本框 8">
              <a:extLst>
                <a:ext uri="{FF2B5EF4-FFF2-40B4-BE49-F238E27FC236}">
                  <a16:creationId xmlns:a16="http://schemas.microsoft.com/office/drawing/2014/main" id="{58C3C188-275B-8A03-A668-94DD8C0CCB7C}"/>
                </a:ext>
              </a:extLst>
            </p:cNvPr>
            <p:cNvSpPr txBox="1"/>
            <p:nvPr/>
          </p:nvSpPr>
          <p:spPr>
            <a:xfrm>
              <a:off x="907393" y="4094022"/>
              <a:ext cx="3788317" cy="1330044"/>
            </a:xfrm>
            <a:prstGeom prst="rect">
              <a:avLst/>
            </a:prstGeom>
            <a:noFill/>
          </p:spPr>
          <p:txBody>
            <a:bodyPr wrap="square" rtlCol="0">
              <a:spAutoFit/>
            </a:bodyPr>
            <a:lstStyle/>
            <a:p>
              <a:pPr>
                <a:lnSpc>
                  <a:spcPct val="150000"/>
                </a:lnSpc>
              </a:pPr>
              <a:r>
                <a:rPr lang="zh-CN" altLang="en-CN" sz="3600" b="1" dirty="0">
                  <a:solidFill>
                    <a:schemeClr val="accent3"/>
                  </a:solidFill>
                </a:rPr>
                <a:t>成果</a:t>
              </a:r>
              <a:r>
                <a:rPr lang="zh-CN" altLang="en-US" sz="3600" b="1" dirty="0">
                  <a:solidFill>
                    <a:schemeClr val="accent3"/>
                  </a:solidFill>
                </a:rPr>
                <a:t>多样</a:t>
              </a:r>
              <a:endParaRPr lang="en-US" altLang="zh-CN" sz="3600" b="1" dirty="0">
                <a:solidFill>
                  <a:schemeClr val="accent3"/>
                </a:solidFill>
              </a:endParaRPr>
            </a:p>
            <a:p>
              <a:pPr>
                <a:lnSpc>
                  <a:spcPct val="150000"/>
                </a:lnSpc>
              </a:pPr>
              <a:r>
                <a:rPr lang="zh-CN" altLang="en-US" sz="2000" dirty="0"/>
                <a:t>数据集、模型工具、科学发现</a:t>
              </a:r>
            </a:p>
          </p:txBody>
        </p:sp>
      </p:grpSp>
    </p:spTree>
    <p:extLst>
      <p:ext uri="{BB962C8B-B14F-4D97-AF65-F5344CB8AC3E}">
        <p14:creationId xmlns:p14="http://schemas.microsoft.com/office/powerpoint/2010/main" val="983374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图片包含 建筑物&#10;&#10;自动生成的说明">
            <a:extLst>
              <a:ext uri="{FF2B5EF4-FFF2-40B4-BE49-F238E27FC236}">
                <a16:creationId xmlns:a16="http://schemas.microsoft.com/office/drawing/2014/main" id="{7C203E5F-10CC-4C39-9C3B-08322486F55C}"/>
              </a:ext>
            </a:extLst>
          </p:cNvPr>
          <p:cNvPicPr>
            <a:picLocks noChangeAspect="1"/>
          </p:cNvPicPr>
          <p:nvPr/>
        </p:nvPicPr>
        <p:blipFill rotWithShape="1">
          <a:blip r:embed="rId2" cstate="print">
            <a:alphaModFix amt="20000"/>
            <a:grayscl/>
            <a:extLst>
              <a:ext uri="{BEBA8EAE-BF5A-486C-A8C5-ECC9F3942E4B}">
                <a14:imgProps xmlns:a14="http://schemas.microsoft.com/office/drawing/2010/main">
                  <a14:imgLayer r:embed="rId3">
                    <a14:imgEffect>
                      <a14:brightnessContrast bright="80000"/>
                    </a14:imgEffect>
                  </a14:imgLayer>
                </a14:imgProps>
              </a:ext>
              <a:ext uri="{28A0092B-C50C-407E-A947-70E740481C1C}">
                <a14:useLocalDpi xmlns:a14="http://schemas.microsoft.com/office/drawing/2010/main" val="0"/>
              </a:ext>
            </a:extLst>
          </a:blip>
          <a:srcRect b="21958"/>
          <a:stretch/>
        </p:blipFill>
        <p:spPr>
          <a:xfrm>
            <a:off x="0" y="3260891"/>
            <a:ext cx="12282150" cy="4114800"/>
          </a:xfrm>
          <a:prstGeom prst="rect">
            <a:avLst/>
          </a:prstGeom>
        </p:spPr>
      </p:pic>
      <p:sp>
        <p:nvSpPr>
          <p:cNvPr id="6" name="矩形 5">
            <a:extLst>
              <a:ext uri="{FF2B5EF4-FFF2-40B4-BE49-F238E27FC236}">
                <a16:creationId xmlns:a16="http://schemas.microsoft.com/office/drawing/2014/main" id="{0F5F7A16-4E2B-4F11-A46F-2F0ADA0A8C50}"/>
              </a:ext>
            </a:extLst>
          </p:cNvPr>
          <p:cNvSpPr/>
          <p:nvPr/>
        </p:nvSpPr>
        <p:spPr>
          <a:xfrm>
            <a:off x="0" y="6296878"/>
            <a:ext cx="12191999" cy="56112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a:extLst>
              <a:ext uri="{FF2B5EF4-FFF2-40B4-BE49-F238E27FC236}">
                <a16:creationId xmlns:a16="http://schemas.microsoft.com/office/drawing/2014/main" id="{BD98B8C6-F215-45FF-AAC2-618BECF6E5E9}"/>
              </a:ext>
            </a:extLst>
          </p:cNvPr>
          <p:cNvSpPr/>
          <p:nvPr/>
        </p:nvSpPr>
        <p:spPr>
          <a:xfrm>
            <a:off x="0" y="941947"/>
            <a:ext cx="12192002" cy="17771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dirty="0">
              <a:latin typeface="微软雅黑" panose="020B0503020204020204" pitchFamily="34" charset="-122"/>
              <a:ea typeface="微软雅黑" panose="020B0503020204020204" pitchFamily="34" charset="-122"/>
            </a:endParaRPr>
          </a:p>
        </p:txBody>
      </p:sp>
      <p:grpSp>
        <p:nvGrpSpPr>
          <p:cNvPr id="7" name="Group 4">
            <a:extLst>
              <a:ext uri="{FF2B5EF4-FFF2-40B4-BE49-F238E27FC236}">
                <a16:creationId xmlns:a16="http://schemas.microsoft.com/office/drawing/2014/main" id="{4314C7FB-2670-4060-B623-A52586BEB42F}"/>
              </a:ext>
            </a:extLst>
          </p:cNvPr>
          <p:cNvGrpSpPr>
            <a:grpSpLocks noChangeAspect="1"/>
          </p:cNvGrpSpPr>
          <p:nvPr/>
        </p:nvGrpSpPr>
        <p:grpSpPr bwMode="auto">
          <a:xfrm>
            <a:off x="4672799" y="414700"/>
            <a:ext cx="2846403" cy="450233"/>
            <a:chOff x="768" y="1292"/>
            <a:chExt cx="5241" cy="829"/>
          </a:xfrm>
          <a:solidFill>
            <a:schemeClr val="accent1"/>
          </a:solidFill>
        </p:grpSpPr>
        <p:sp>
          <p:nvSpPr>
            <p:cNvPr id="8" name="Freeform 5">
              <a:extLst>
                <a:ext uri="{FF2B5EF4-FFF2-40B4-BE49-F238E27FC236}">
                  <a16:creationId xmlns:a16="http://schemas.microsoft.com/office/drawing/2014/main" id="{28988226-D010-41FE-980E-62BDF13DB461}"/>
                </a:ext>
              </a:extLst>
            </p:cNvPr>
            <p:cNvSpPr>
              <a:spLocks/>
            </p:cNvSpPr>
            <p:nvPr/>
          </p:nvSpPr>
          <p:spPr bwMode="auto">
            <a:xfrm>
              <a:off x="4267" y="1292"/>
              <a:ext cx="1742" cy="829"/>
            </a:xfrm>
            <a:custGeom>
              <a:avLst/>
              <a:gdLst>
                <a:gd name="T0" fmla="*/ 1742 w 1742"/>
                <a:gd name="T1" fmla="*/ 829 h 829"/>
                <a:gd name="T2" fmla="*/ 851 w 1742"/>
                <a:gd name="T3" fmla="*/ 829 h 829"/>
                <a:gd name="T4" fmla="*/ 851 w 1742"/>
                <a:gd name="T5" fmla="*/ 9 h 829"/>
                <a:gd name="T6" fmla="*/ 751 w 1742"/>
                <a:gd name="T7" fmla="*/ 9 h 829"/>
                <a:gd name="T8" fmla="*/ 751 w 1742"/>
                <a:gd name="T9" fmla="*/ 24 h 829"/>
                <a:gd name="T10" fmla="*/ 724 w 1742"/>
                <a:gd name="T11" fmla="*/ 24 h 829"/>
                <a:gd name="T12" fmla="*/ 724 w 1742"/>
                <a:gd name="T13" fmla="*/ 9 h 829"/>
                <a:gd name="T14" fmla="*/ 258 w 1742"/>
                <a:gd name="T15" fmla="*/ 9 h 829"/>
                <a:gd name="T16" fmla="*/ 258 w 1742"/>
                <a:gd name="T17" fmla="*/ 24 h 829"/>
                <a:gd name="T18" fmla="*/ 231 w 1742"/>
                <a:gd name="T19" fmla="*/ 24 h 829"/>
                <a:gd name="T20" fmla="*/ 231 w 1742"/>
                <a:gd name="T21" fmla="*/ 9 h 829"/>
                <a:gd name="T22" fmla="*/ 132 w 1742"/>
                <a:gd name="T23" fmla="*/ 9 h 829"/>
                <a:gd name="T24" fmla="*/ 132 w 1742"/>
                <a:gd name="T25" fmla="*/ 829 h 829"/>
                <a:gd name="T26" fmla="*/ 0 w 1742"/>
                <a:gd name="T27" fmla="*/ 829 h 829"/>
                <a:gd name="T28" fmla="*/ 0 w 1742"/>
                <a:gd name="T29" fmla="*/ 820 h 829"/>
                <a:gd name="T30" fmla="*/ 123 w 1742"/>
                <a:gd name="T31" fmla="*/ 820 h 829"/>
                <a:gd name="T32" fmla="*/ 123 w 1742"/>
                <a:gd name="T33" fmla="*/ 0 h 829"/>
                <a:gd name="T34" fmla="*/ 239 w 1742"/>
                <a:gd name="T35" fmla="*/ 0 h 829"/>
                <a:gd name="T36" fmla="*/ 239 w 1742"/>
                <a:gd name="T37" fmla="*/ 14 h 829"/>
                <a:gd name="T38" fmla="*/ 250 w 1742"/>
                <a:gd name="T39" fmla="*/ 14 h 829"/>
                <a:gd name="T40" fmla="*/ 250 w 1742"/>
                <a:gd name="T41" fmla="*/ 0 h 829"/>
                <a:gd name="T42" fmla="*/ 732 w 1742"/>
                <a:gd name="T43" fmla="*/ 0 h 829"/>
                <a:gd name="T44" fmla="*/ 732 w 1742"/>
                <a:gd name="T45" fmla="*/ 14 h 829"/>
                <a:gd name="T46" fmla="*/ 743 w 1742"/>
                <a:gd name="T47" fmla="*/ 14 h 829"/>
                <a:gd name="T48" fmla="*/ 743 w 1742"/>
                <a:gd name="T49" fmla="*/ 0 h 829"/>
                <a:gd name="T50" fmla="*/ 861 w 1742"/>
                <a:gd name="T51" fmla="*/ 0 h 829"/>
                <a:gd name="T52" fmla="*/ 861 w 1742"/>
                <a:gd name="T53" fmla="*/ 820 h 829"/>
                <a:gd name="T54" fmla="*/ 1742 w 1742"/>
                <a:gd name="T55" fmla="*/ 820 h 829"/>
                <a:gd name="T56" fmla="*/ 1742 w 1742"/>
                <a:gd name="T57" fmla="*/ 829 h 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42" h="829">
                  <a:moveTo>
                    <a:pt x="1742" y="829"/>
                  </a:moveTo>
                  <a:lnTo>
                    <a:pt x="851" y="829"/>
                  </a:lnTo>
                  <a:lnTo>
                    <a:pt x="851" y="9"/>
                  </a:lnTo>
                  <a:lnTo>
                    <a:pt x="751" y="9"/>
                  </a:lnTo>
                  <a:lnTo>
                    <a:pt x="751" y="24"/>
                  </a:lnTo>
                  <a:lnTo>
                    <a:pt x="724" y="24"/>
                  </a:lnTo>
                  <a:lnTo>
                    <a:pt x="724" y="9"/>
                  </a:lnTo>
                  <a:lnTo>
                    <a:pt x="258" y="9"/>
                  </a:lnTo>
                  <a:lnTo>
                    <a:pt x="258" y="24"/>
                  </a:lnTo>
                  <a:lnTo>
                    <a:pt x="231" y="24"/>
                  </a:lnTo>
                  <a:lnTo>
                    <a:pt x="231" y="9"/>
                  </a:lnTo>
                  <a:lnTo>
                    <a:pt x="132" y="9"/>
                  </a:lnTo>
                  <a:lnTo>
                    <a:pt x="132" y="829"/>
                  </a:lnTo>
                  <a:lnTo>
                    <a:pt x="0" y="829"/>
                  </a:lnTo>
                  <a:lnTo>
                    <a:pt x="0" y="820"/>
                  </a:lnTo>
                  <a:lnTo>
                    <a:pt x="123" y="820"/>
                  </a:lnTo>
                  <a:lnTo>
                    <a:pt x="123" y="0"/>
                  </a:lnTo>
                  <a:lnTo>
                    <a:pt x="239" y="0"/>
                  </a:lnTo>
                  <a:lnTo>
                    <a:pt x="239" y="14"/>
                  </a:lnTo>
                  <a:lnTo>
                    <a:pt x="250" y="14"/>
                  </a:lnTo>
                  <a:lnTo>
                    <a:pt x="250" y="0"/>
                  </a:lnTo>
                  <a:lnTo>
                    <a:pt x="732" y="0"/>
                  </a:lnTo>
                  <a:lnTo>
                    <a:pt x="732" y="14"/>
                  </a:lnTo>
                  <a:lnTo>
                    <a:pt x="743" y="14"/>
                  </a:lnTo>
                  <a:lnTo>
                    <a:pt x="743" y="0"/>
                  </a:lnTo>
                  <a:lnTo>
                    <a:pt x="861" y="0"/>
                  </a:lnTo>
                  <a:lnTo>
                    <a:pt x="861" y="820"/>
                  </a:lnTo>
                  <a:lnTo>
                    <a:pt x="1742" y="820"/>
                  </a:lnTo>
                  <a:lnTo>
                    <a:pt x="1742" y="829"/>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9" name="Freeform 6">
              <a:extLst>
                <a:ext uri="{FF2B5EF4-FFF2-40B4-BE49-F238E27FC236}">
                  <a16:creationId xmlns:a16="http://schemas.microsoft.com/office/drawing/2014/main" id="{C09FBEAC-F7D9-4313-B1E3-E394B0EFDFE7}"/>
                </a:ext>
              </a:extLst>
            </p:cNvPr>
            <p:cNvSpPr>
              <a:spLocks/>
            </p:cNvSpPr>
            <p:nvPr/>
          </p:nvSpPr>
          <p:spPr bwMode="auto">
            <a:xfrm>
              <a:off x="4517" y="1471"/>
              <a:ext cx="482" cy="646"/>
            </a:xfrm>
            <a:custGeom>
              <a:avLst/>
              <a:gdLst>
                <a:gd name="T0" fmla="*/ 482 w 482"/>
                <a:gd name="T1" fmla="*/ 646 h 646"/>
                <a:gd name="T2" fmla="*/ 474 w 482"/>
                <a:gd name="T3" fmla="*/ 646 h 646"/>
                <a:gd name="T4" fmla="*/ 474 w 482"/>
                <a:gd name="T5" fmla="*/ 112 h 646"/>
                <a:gd name="T6" fmla="*/ 433 w 482"/>
                <a:gd name="T7" fmla="*/ 112 h 646"/>
                <a:gd name="T8" fmla="*/ 433 w 482"/>
                <a:gd name="T9" fmla="*/ 79 h 646"/>
                <a:gd name="T10" fmla="*/ 364 w 482"/>
                <a:gd name="T11" fmla="*/ 38 h 646"/>
                <a:gd name="T12" fmla="*/ 320 w 482"/>
                <a:gd name="T13" fmla="*/ 38 h 646"/>
                <a:gd name="T14" fmla="*/ 320 w 482"/>
                <a:gd name="T15" fmla="*/ 9 h 646"/>
                <a:gd name="T16" fmla="*/ 164 w 482"/>
                <a:gd name="T17" fmla="*/ 9 h 646"/>
                <a:gd name="T18" fmla="*/ 164 w 482"/>
                <a:gd name="T19" fmla="*/ 38 h 646"/>
                <a:gd name="T20" fmla="*/ 120 w 482"/>
                <a:gd name="T21" fmla="*/ 38 h 646"/>
                <a:gd name="T22" fmla="*/ 49 w 482"/>
                <a:gd name="T23" fmla="*/ 79 h 646"/>
                <a:gd name="T24" fmla="*/ 49 w 482"/>
                <a:gd name="T25" fmla="*/ 112 h 646"/>
                <a:gd name="T26" fmla="*/ 8 w 482"/>
                <a:gd name="T27" fmla="*/ 112 h 646"/>
                <a:gd name="T28" fmla="*/ 8 w 482"/>
                <a:gd name="T29" fmla="*/ 646 h 646"/>
                <a:gd name="T30" fmla="*/ 0 w 482"/>
                <a:gd name="T31" fmla="*/ 646 h 646"/>
                <a:gd name="T32" fmla="*/ 0 w 482"/>
                <a:gd name="T33" fmla="*/ 102 h 646"/>
                <a:gd name="T34" fmla="*/ 41 w 482"/>
                <a:gd name="T35" fmla="*/ 102 h 646"/>
                <a:gd name="T36" fmla="*/ 41 w 482"/>
                <a:gd name="T37" fmla="*/ 74 h 646"/>
                <a:gd name="T38" fmla="*/ 116 w 482"/>
                <a:gd name="T39" fmla="*/ 29 h 646"/>
                <a:gd name="T40" fmla="*/ 154 w 482"/>
                <a:gd name="T41" fmla="*/ 29 h 646"/>
                <a:gd name="T42" fmla="*/ 154 w 482"/>
                <a:gd name="T43" fmla="*/ 0 h 646"/>
                <a:gd name="T44" fmla="*/ 328 w 482"/>
                <a:gd name="T45" fmla="*/ 0 h 646"/>
                <a:gd name="T46" fmla="*/ 328 w 482"/>
                <a:gd name="T47" fmla="*/ 29 h 646"/>
                <a:gd name="T48" fmla="*/ 366 w 482"/>
                <a:gd name="T49" fmla="*/ 29 h 646"/>
                <a:gd name="T50" fmla="*/ 441 w 482"/>
                <a:gd name="T51" fmla="*/ 74 h 646"/>
                <a:gd name="T52" fmla="*/ 441 w 482"/>
                <a:gd name="T53" fmla="*/ 102 h 646"/>
                <a:gd name="T54" fmla="*/ 482 w 482"/>
                <a:gd name="T55" fmla="*/ 102 h 646"/>
                <a:gd name="T56" fmla="*/ 482 w 482"/>
                <a:gd name="T57" fmla="*/ 646 h 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82" h="646">
                  <a:moveTo>
                    <a:pt x="482" y="646"/>
                  </a:moveTo>
                  <a:lnTo>
                    <a:pt x="474" y="646"/>
                  </a:lnTo>
                  <a:lnTo>
                    <a:pt x="474" y="112"/>
                  </a:lnTo>
                  <a:lnTo>
                    <a:pt x="433" y="112"/>
                  </a:lnTo>
                  <a:lnTo>
                    <a:pt x="433" y="79"/>
                  </a:lnTo>
                  <a:lnTo>
                    <a:pt x="364" y="38"/>
                  </a:lnTo>
                  <a:lnTo>
                    <a:pt x="320" y="38"/>
                  </a:lnTo>
                  <a:lnTo>
                    <a:pt x="320" y="9"/>
                  </a:lnTo>
                  <a:lnTo>
                    <a:pt x="164" y="9"/>
                  </a:lnTo>
                  <a:lnTo>
                    <a:pt x="164" y="38"/>
                  </a:lnTo>
                  <a:lnTo>
                    <a:pt x="120" y="38"/>
                  </a:lnTo>
                  <a:lnTo>
                    <a:pt x="49" y="79"/>
                  </a:lnTo>
                  <a:lnTo>
                    <a:pt x="49" y="112"/>
                  </a:lnTo>
                  <a:lnTo>
                    <a:pt x="8" y="112"/>
                  </a:lnTo>
                  <a:lnTo>
                    <a:pt x="8" y="646"/>
                  </a:lnTo>
                  <a:lnTo>
                    <a:pt x="0" y="646"/>
                  </a:lnTo>
                  <a:lnTo>
                    <a:pt x="0" y="102"/>
                  </a:lnTo>
                  <a:lnTo>
                    <a:pt x="41" y="102"/>
                  </a:lnTo>
                  <a:lnTo>
                    <a:pt x="41" y="74"/>
                  </a:lnTo>
                  <a:lnTo>
                    <a:pt x="116" y="29"/>
                  </a:lnTo>
                  <a:lnTo>
                    <a:pt x="154" y="29"/>
                  </a:lnTo>
                  <a:lnTo>
                    <a:pt x="154" y="0"/>
                  </a:lnTo>
                  <a:lnTo>
                    <a:pt x="328" y="0"/>
                  </a:lnTo>
                  <a:lnTo>
                    <a:pt x="328" y="29"/>
                  </a:lnTo>
                  <a:lnTo>
                    <a:pt x="366" y="29"/>
                  </a:lnTo>
                  <a:lnTo>
                    <a:pt x="441" y="74"/>
                  </a:lnTo>
                  <a:lnTo>
                    <a:pt x="441" y="102"/>
                  </a:lnTo>
                  <a:lnTo>
                    <a:pt x="482" y="102"/>
                  </a:lnTo>
                  <a:lnTo>
                    <a:pt x="482" y="646"/>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7">
              <a:extLst>
                <a:ext uri="{FF2B5EF4-FFF2-40B4-BE49-F238E27FC236}">
                  <a16:creationId xmlns:a16="http://schemas.microsoft.com/office/drawing/2014/main" id="{A8649ADC-3B6E-4715-998C-4ED7DC8E845F}"/>
                </a:ext>
              </a:extLst>
            </p:cNvPr>
            <p:cNvSpPr>
              <a:spLocks noEditPoints="1"/>
            </p:cNvSpPr>
            <p:nvPr/>
          </p:nvSpPr>
          <p:spPr bwMode="auto">
            <a:xfrm>
              <a:off x="768" y="1614"/>
              <a:ext cx="2016" cy="507"/>
            </a:xfrm>
            <a:custGeom>
              <a:avLst/>
              <a:gdLst>
                <a:gd name="T0" fmla="*/ 1125 w 1178"/>
                <a:gd name="T1" fmla="*/ 294 h 294"/>
                <a:gd name="T2" fmla="*/ 1072 w 1178"/>
                <a:gd name="T3" fmla="*/ 231 h 294"/>
                <a:gd name="T4" fmla="*/ 959 w 1178"/>
                <a:gd name="T5" fmla="*/ 111 h 294"/>
                <a:gd name="T6" fmla="*/ 710 w 1178"/>
                <a:gd name="T7" fmla="*/ 53 h 294"/>
                <a:gd name="T8" fmla="*/ 647 w 1178"/>
                <a:gd name="T9" fmla="*/ 53 h 294"/>
                <a:gd name="T10" fmla="*/ 397 w 1178"/>
                <a:gd name="T11" fmla="*/ 111 h 294"/>
                <a:gd name="T12" fmla="*/ 284 w 1178"/>
                <a:gd name="T13" fmla="*/ 231 h 294"/>
                <a:gd name="T14" fmla="*/ 232 w 1178"/>
                <a:gd name="T15" fmla="*/ 294 h 294"/>
                <a:gd name="T16" fmla="*/ 0 w 1178"/>
                <a:gd name="T17" fmla="*/ 289 h 294"/>
                <a:gd name="T18" fmla="*/ 280 w 1178"/>
                <a:gd name="T19" fmla="*/ 227 h 294"/>
                <a:gd name="T20" fmla="*/ 394 w 1178"/>
                <a:gd name="T21" fmla="*/ 107 h 294"/>
                <a:gd name="T22" fmla="*/ 652 w 1178"/>
                <a:gd name="T23" fmla="*/ 51 h 294"/>
                <a:gd name="T24" fmla="*/ 705 w 1178"/>
                <a:gd name="T25" fmla="*/ 51 h 294"/>
                <a:gd name="T26" fmla="*/ 963 w 1178"/>
                <a:gd name="T27" fmla="*/ 107 h 294"/>
                <a:gd name="T28" fmla="*/ 1076 w 1178"/>
                <a:gd name="T29" fmla="*/ 227 h 294"/>
                <a:gd name="T30" fmla="*/ 1178 w 1178"/>
                <a:gd name="T31" fmla="*/ 289 h 294"/>
                <a:gd name="T32" fmla="*/ 1079 w 1178"/>
                <a:gd name="T33" fmla="*/ 294 h 294"/>
                <a:gd name="T34" fmla="*/ 1077 w 1178"/>
                <a:gd name="T35" fmla="*/ 293 h 294"/>
                <a:gd name="T36" fmla="*/ 1014 w 1178"/>
                <a:gd name="T37" fmla="*/ 214 h 294"/>
                <a:gd name="T38" fmla="*/ 838 w 1178"/>
                <a:gd name="T39" fmla="*/ 54 h 294"/>
                <a:gd name="T40" fmla="*/ 715 w 1178"/>
                <a:gd name="T41" fmla="*/ 94 h 294"/>
                <a:gd name="T42" fmla="*/ 690 w 1178"/>
                <a:gd name="T43" fmla="*/ 292 h 294"/>
                <a:gd name="T44" fmla="*/ 685 w 1178"/>
                <a:gd name="T45" fmla="*/ 283 h 294"/>
                <a:gd name="T46" fmla="*/ 760 w 1178"/>
                <a:gd name="T47" fmla="*/ 34 h 294"/>
                <a:gd name="T48" fmla="*/ 1000 w 1178"/>
                <a:gd name="T49" fmla="*/ 190 h 294"/>
                <a:gd name="T50" fmla="*/ 1057 w 1178"/>
                <a:gd name="T51" fmla="*/ 257 h 294"/>
                <a:gd name="T52" fmla="*/ 1081 w 1178"/>
                <a:gd name="T53" fmla="*/ 294 h 294"/>
                <a:gd name="T54" fmla="*/ 277 w 1178"/>
                <a:gd name="T55" fmla="*/ 294 h 294"/>
                <a:gd name="T56" fmla="*/ 300 w 1178"/>
                <a:gd name="T57" fmla="*/ 257 h 294"/>
                <a:gd name="T58" fmla="*/ 356 w 1178"/>
                <a:gd name="T59" fmla="*/ 190 h 294"/>
                <a:gd name="T60" fmla="*/ 597 w 1178"/>
                <a:gd name="T61" fmla="*/ 34 h 294"/>
                <a:gd name="T62" fmla="*/ 672 w 1178"/>
                <a:gd name="T63" fmla="*/ 283 h 294"/>
                <a:gd name="T64" fmla="*/ 666 w 1178"/>
                <a:gd name="T65" fmla="*/ 292 h 294"/>
                <a:gd name="T66" fmla="*/ 641 w 1178"/>
                <a:gd name="T67" fmla="*/ 94 h 294"/>
                <a:gd name="T68" fmla="*/ 519 w 1178"/>
                <a:gd name="T69" fmla="*/ 54 h 294"/>
                <a:gd name="T70" fmla="*/ 342 w 1178"/>
                <a:gd name="T71" fmla="*/ 214 h 294"/>
                <a:gd name="T72" fmla="*/ 280 w 1178"/>
                <a:gd name="T73" fmla="*/ 293 h 294"/>
                <a:gd name="T74" fmla="*/ 277 w 1178"/>
                <a:gd name="T75" fmla="*/ 292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78" h="294">
                  <a:moveTo>
                    <a:pt x="1178" y="294"/>
                  </a:moveTo>
                  <a:cubicBezTo>
                    <a:pt x="1125" y="294"/>
                    <a:pt x="1125" y="294"/>
                    <a:pt x="1125" y="294"/>
                  </a:cubicBezTo>
                  <a:cubicBezTo>
                    <a:pt x="1124" y="293"/>
                    <a:pt x="1124" y="293"/>
                    <a:pt x="1124" y="293"/>
                  </a:cubicBezTo>
                  <a:cubicBezTo>
                    <a:pt x="1124" y="293"/>
                    <a:pt x="1082" y="242"/>
                    <a:pt x="1072" y="231"/>
                  </a:cubicBezTo>
                  <a:cubicBezTo>
                    <a:pt x="1068" y="226"/>
                    <a:pt x="1068" y="226"/>
                    <a:pt x="1068" y="226"/>
                  </a:cubicBezTo>
                  <a:cubicBezTo>
                    <a:pt x="1034" y="186"/>
                    <a:pt x="1000" y="145"/>
                    <a:pt x="959" y="111"/>
                  </a:cubicBezTo>
                  <a:cubicBezTo>
                    <a:pt x="918" y="76"/>
                    <a:pt x="877" y="43"/>
                    <a:pt x="833" y="28"/>
                  </a:cubicBezTo>
                  <a:cubicBezTo>
                    <a:pt x="769" y="6"/>
                    <a:pt x="728" y="14"/>
                    <a:pt x="710" y="53"/>
                  </a:cubicBezTo>
                  <a:cubicBezTo>
                    <a:pt x="705" y="63"/>
                    <a:pt x="683" y="64"/>
                    <a:pt x="678" y="64"/>
                  </a:cubicBezTo>
                  <a:cubicBezTo>
                    <a:pt x="674" y="64"/>
                    <a:pt x="652" y="63"/>
                    <a:pt x="647" y="53"/>
                  </a:cubicBezTo>
                  <a:cubicBezTo>
                    <a:pt x="629" y="14"/>
                    <a:pt x="587" y="6"/>
                    <a:pt x="524" y="28"/>
                  </a:cubicBezTo>
                  <a:cubicBezTo>
                    <a:pt x="479" y="43"/>
                    <a:pt x="439" y="76"/>
                    <a:pt x="397" y="111"/>
                  </a:cubicBezTo>
                  <a:cubicBezTo>
                    <a:pt x="357" y="145"/>
                    <a:pt x="322" y="186"/>
                    <a:pt x="289" y="226"/>
                  </a:cubicBezTo>
                  <a:cubicBezTo>
                    <a:pt x="284" y="231"/>
                    <a:pt x="284" y="231"/>
                    <a:pt x="284" y="231"/>
                  </a:cubicBezTo>
                  <a:cubicBezTo>
                    <a:pt x="275" y="242"/>
                    <a:pt x="233" y="293"/>
                    <a:pt x="232" y="293"/>
                  </a:cubicBezTo>
                  <a:cubicBezTo>
                    <a:pt x="232" y="294"/>
                    <a:pt x="232" y="294"/>
                    <a:pt x="232" y="294"/>
                  </a:cubicBezTo>
                  <a:cubicBezTo>
                    <a:pt x="0" y="294"/>
                    <a:pt x="0" y="294"/>
                    <a:pt x="0" y="294"/>
                  </a:cubicBezTo>
                  <a:cubicBezTo>
                    <a:pt x="0" y="289"/>
                    <a:pt x="0" y="289"/>
                    <a:pt x="0" y="289"/>
                  </a:cubicBezTo>
                  <a:cubicBezTo>
                    <a:pt x="229" y="289"/>
                    <a:pt x="229" y="289"/>
                    <a:pt x="229" y="289"/>
                  </a:cubicBezTo>
                  <a:cubicBezTo>
                    <a:pt x="235" y="282"/>
                    <a:pt x="271" y="238"/>
                    <a:pt x="280" y="227"/>
                  </a:cubicBezTo>
                  <a:cubicBezTo>
                    <a:pt x="285" y="222"/>
                    <a:pt x="285" y="222"/>
                    <a:pt x="285" y="222"/>
                  </a:cubicBezTo>
                  <a:cubicBezTo>
                    <a:pt x="318" y="183"/>
                    <a:pt x="353" y="141"/>
                    <a:pt x="394" y="107"/>
                  </a:cubicBezTo>
                  <a:cubicBezTo>
                    <a:pt x="436" y="72"/>
                    <a:pt x="477" y="39"/>
                    <a:pt x="522" y="23"/>
                  </a:cubicBezTo>
                  <a:cubicBezTo>
                    <a:pt x="589" y="0"/>
                    <a:pt x="632" y="9"/>
                    <a:pt x="652" y="51"/>
                  </a:cubicBezTo>
                  <a:cubicBezTo>
                    <a:pt x="654" y="56"/>
                    <a:pt x="667" y="58"/>
                    <a:pt x="678" y="58"/>
                  </a:cubicBezTo>
                  <a:cubicBezTo>
                    <a:pt x="690" y="58"/>
                    <a:pt x="703" y="56"/>
                    <a:pt x="705" y="51"/>
                  </a:cubicBezTo>
                  <a:cubicBezTo>
                    <a:pt x="724" y="9"/>
                    <a:pt x="768" y="0"/>
                    <a:pt x="834" y="23"/>
                  </a:cubicBezTo>
                  <a:cubicBezTo>
                    <a:pt x="880" y="39"/>
                    <a:pt x="921" y="72"/>
                    <a:pt x="963" y="107"/>
                  </a:cubicBezTo>
                  <a:cubicBezTo>
                    <a:pt x="1003" y="141"/>
                    <a:pt x="1038" y="183"/>
                    <a:pt x="1072" y="222"/>
                  </a:cubicBezTo>
                  <a:cubicBezTo>
                    <a:pt x="1076" y="227"/>
                    <a:pt x="1076" y="227"/>
                    <a:pt x="1076" y="227"/>
                  </a:cubicBezTo>
                  <a:cubicBezTo>
                    <a:pt x="1085" y="238"/>
                    <a:pt x="1122" y="282"/>
                    <a:pt x="1128" y="289"/>
                  </a:cubicBezTo>
                  <a:cubicBezTo>
                    <a:pt x="1178" y="289"/>
                    <a:pt x="1178" y="289"/>
                    <a:pt x="1178" y="289"/>
                  </a:cubicBezTo>
                  <a:lnTo>
                    <a:pt x="1178" y="294"/>
                  </a:lnTo>
                  <a:close/>
                  <a:moveTo>
                    <a:pt x="1079" y="294"/>
                  </a:moveTo>
                  <a:cubicBezTo>
                    <a:pt x="1079" y="292"/>
                    <a:pt x="1079" y="292"/>
                    <a:pt x="1079" y="292"/>
                  </a:cubicBezTo>
                  <a:cubicBezTo>
                    <a:pt x="1077" y="293"/>
                    <a:pt x="1077" y="293"/>
                    <a:pt x="1077" y="293"/>
                  </a:cubicBezTo>
                  <a:cubicBezTo>
                    <a:pt x="1076" y="290"/>
                    <a:pt x="1055" y="263"/>
                    <a:pt x="1053" y="260"/>
                  </a:cubicBezTo>
                  <a:cubicBezTo>
                    <a:pt x="1039" y="243"/>
                    <a:pt x="1026" y="228"/>
                    <a:pt x="1014" y="214"/>
                  </a:cubicBezTo>
                  <a:cubicBezTo>
                    <a:pt x="1008" y="208"/>
                    <a:pt x="1002" y="201"/>
                    <a:pt x="996" y="194"/>
                  </a:cubicBezTo>
                  <a:cubicBezTo>
                    <a:pt x="950" y="140"/>
                    <a:pt x="902" y="84"/>
                    <a:pt x="838" y="54"/>
                  </a:cubicBezTo>
                  <a:cubicBezTo>
                    <a:pt x="814" y="44"/>
                    <a:pt x="786" y="33"/>
                    <a:pt x="761" y="40"/>
                  </a:cubicBezTo>
                  <a:cubicBezTo>
                    <a:pt x="736" y="46"/>
                    <a:pt x="723" y="73"/>
                    <a:pt x="715" y="94"/>
                  </a:cubicBezTo>
                  <a:cubicBezTo>
                    <a:pt x="695" y="156"/>
                    <a:pt x="693" y="218"/>
                    <a:pt x="690" y="283"/>
                  </a:cubicBezTo>
                  <a:cubicBezTo>
                    <a:pt x="690" y="292"/>
                    <a:pt x="690" y="292"/>
                    <a:pt x="690" y="292"/>
                  </a:cubicBezTo>
                  <a:cubicBezTo>
                    <a:pt x="685" y="291"/>
                    <a:pt x="685" y="291"/>
                    <a:pt x="685" y="291"/>
                  </a:cubicBezTo>
                  <a:cubicBezTo>
                    <a:pt x="685" y="283"/>
                    <a:pt x="685" y="283"/>
                    <a:pt x="685" y="283"/>
                  </a:cubicBezTo>
                  <a:cubicBezTo>
                    <a:pt x="687" y="217"/>
                    <a:pt x="689" y="155"/>
                    <a:pt x="710" y="92"/>
                  </a:cubicBezTo>
                  <a:cubicBezTo>
                    <a:pt x="718" y="70"/>
                    <a:pt x="733" y="42"/>
                    <a:pt x="760" y="34"/>
                  </a:cubicBezTo>
                  <a:cubicBezTo>
                    <a:pt x="787" y="28"/>
                    <a:pt x="815" y="38"/>
                    <a:pt x="840" y="50"/>
                  </a:cubicBezTo>
                  <a:cubicBezTo>
                    <a:pt x="905" y="80"/>
                    <a:pt x="954" y="136"/>
                    <a:pt x="1000" y="190"/>
                  </a:cubicBezTo>
                  <a:cubicBezTo>
                    <a:pt x="1006" y="197"/>
                    <a:pt x="1012" y="204"/>
                    <a:pt x="1018" y="211"/>
                  </a:cubicBezTo>
                  <a:cubicBezTo>
                    <a:pt x="1030" y="225"/>
                    <a:pt x="1043" y="240"/>
                    <a:pt x="1057" y="257"/>
                  </a:cubicBezTo>
                  <a:cubicBezTo>
                    <a:pt x="1069" y="272"/>
                    <a:pt x="1083" y="290"/>
                    <a:pt x="1082" y="293"/>
                  </a:cubicBezTo>
                  <a:cubicBezTo>
                    <a:pt x="1081" y="294"/>
                    <a:pt x="1081" y="294"/>
                    <a:pt x="1081" y="294"/>
                  </a:cubicBezTo>
                  <a:lnTo>
                    <a:pt x="1079" y="294"/>
                  </a:lnTo>
                  <a:close/>
                  <a:moveTo>
                    <a:pt x="277" y="294"/>
                  </a:moveTo>
                  <a:cubicBezTo>
                    <a:pt x="275" y="293"/>
                    <a:pt x="275" y="293"/>
                    <a:pt x="275" y="293"/>
                  </a:cubicBezTo>
                  <a:cubicBezTo>
                    <a:pt x="274" y="290"/>
                    <a:pt x="292" y="267"/>
                    <a:pt x="300" y="257"/>
                  </a:cubicBezTo>
                  <a:cubicBezTo>
                    <a:pt x="314" y="240"/>
                    <a:pt x="326" y="225"/>
                    <a:pt x="338" y="211"/>
                  </a:cubicBezTo>
                  <a:cubicBezTo>
                    <a:pt x="344" y="204"/>
                    <a:pt x="350" y="197"/>
                    <a:pt x="356" y="190"/>
                  </a:cubicBezTo>
                  <a:cubicBezTo>
                    <a:pt x="403" y="136"/>
                    <a:pt x="451" y="80"/>
                    <a:pt x="517" y="50"/>
                  </a:cubicBezTo>
                  <a:cubicBezTo>
                    <a:pt x="541" y="38"/>
                    <a:pt x="570" y="28"/>
                    <a:pt x="597" y="34"/>
                  </a:cubicBezTo>
                  <a:cubicBezTo>
                    <a:pt x="624" y="42"/>
                    <a:pt x="639" y="70"/>
                    <a:pt x="646" y="92"/>
                  </a:cubicBezTo>
                  <a:cubicBezTo>
                    <a:pt x="667" y="155"/>
                    <a:pt x="669" y="217"/>
                    <a:pt x="672" y="283"/>
                  </a:cubicBezTo>
                  <a:cubicBezTo>
                    <a:pt x="672" y="291"/>
                    <a:pt x="672" y="291"/>
                    <a:pt x="672" y="291"/>
                  </a:cubicBezTo>
                  <a:cubicBezTo>
                    <a:pt x="666" y="292"/>
                    <a:pt x="666" y="292"/>
                    <a:pt x="666" y="292"/>
                  </a:cubicBezTo>
                  <a:cubicBezTo>
                    <a:pt x="666" y="283"/>
                    <a:pt x="666" y="283"/>
                    <a:pt x="666" y="283"/>
                  </a:cubicBezTo>
                  <a:cubicBezTo>
                    <a:pt x="664" y="218"/>
                    <a:pt x="662" y="156"/>
                    <a:pt x="641" y="94"/>
                  </a:cubicBezTo>
                  <a:cubicBezTo>
                    <a:pt x="634" y="73"/>
                    <a:pt x="620" y="46"/>
                    <a:pt x="595" y="40"/>
                  </a:cubicBezTo>
                  <a:cubicBezTo>
                    <a:pt x="570" y="33"/>
                    <a:pt x="543" y="44"/>
                    <a:pt x="519" y="54"/>
                  </a:cubicBezTo>
                  <a:cubicBezTo>
                    <a:pt x="455" y="84"/>
                    <a:pt x="407" y="140"/>
                    <a:pt x="360" y="194"/>
                  </a:cubicBezTo>
                  <a:cubicBezTo>
                    <a:pt x="354" y="201"/>
                    <a:pt x="348" y="208"/>
                    <a:pt x="342" y="214"/>
                  </a:cubicBezTo>
                  <a:cubicBezTo>
                    <a:pt x="330" y="228"/>
                    <a:pt x="318" y="243"/>
                    <a:pt x="304" y="260"/>
                  </a:cubicBezTo>
                  <a:cubicBezTo>
                    <a:pt x="302" y="263"/>
                    <a:pt x="281" y="290"/>
                    <a:pt x="280" y="293"/>
                  </a:cubicBezTo>
                  <a:cubicBezTo>
                    <a:pt x="278" y="291"/>
                    <a:pt x="278" y="291"/>
                    <a:pt x="278" y="291"/>
                  </a:cubicBezTo>
                  <a:cubicBezTo>
                    <a:pt x="277" y="292"/>
                    <a:pt x="277" y="292"/>
                    <a:pt x="277" y="292"/>
                  </a:cubicBezTo>
                  <a:lnTo>
                    <a:pt x="277" y="294"/>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8">
              <a:extLst>
                <a:ext uri="{FF2B5EF4-FFF2-40B4-BE49-F238E27FC236}">
                  <a16:creationId xmlns:a16="http://schemas.microsoft.com/office/drawing/2014/main" id="{632EAE99-8B0C-4B27-A756-70325DB91FF6}"/>
                </a:ext>
              </a:extLst>
            </p:cNvPr>
            <p:cNvSpPr>
              <a:spLocks/>
            </p:cNvSpPr>
            <p:nvPr/>
          </p:nvSpPr>
          <p:spPr bwMode="auto">
            <a:xfrm>
              <a:off x="2784" y="1893"/>
              <a:ext cx="1027" cy="228"/>
            </a:xfrm>
            <a:custGeom>
              <a:avLst/>
              <a:gdLst>
                <a:gd name="T0" fmla="*/ 1027 w 1027"/>
                <a:gd name="T1" fmla="*/ 228 h 228"/>
                <a:gd name="T2" fmla="*/ 879 w 1027"/>
                <a:gd name="T3" fmla="*/ 228 h 228"/>
                <a:gd name="T4" fmla="*/ 879 w 1027"/>
                <a:gd name="T5" fmla="*/ 11 h 228"/>
                <a:gd name="T6" fmla="*/ 67 w 1027"/>
                <a:gd name="T7" fmla="*/ 11 h 228"/>
                <a:gd name="T8" fmla="*/ 67 w 1027"/>
                <a:gd name="T9" fmla="*/ 228 h 228"/>
                <a:gd name="T10" fmla="*/ 0 w 1027"/>
                <a:gd name="T11" fmla="*/ 228 h 228"/>
                <a:gd name="T12" fmla="*/ 0 w 1027"/>
                <a:gd name="T13" fmla="*/ 219 h 228"/>
                <a:gd name="T14" fmla="*/ 57 w 1027"/>
                <a:gd name="T15" fmla="*/ 219 h 228"/>
                <a:gd name="T16" fmla="*/ 57 w 1027"/>
                <a:gd name="T17" fmla="*/ 0 h 228"/>
                <a:gd name="T18" fmla="*/ 887 w 1027"/>
                <a:gd name="T19" fmla="*/ 0 h 228"/>
                <a:gd name="T20" fmla="*/ 887 w 1027"/>
                <a:gd name="T21" fmla="*/ 219 h 228"/>
                <a:gd name="T22" fmla="*/ 1027 w 1027"/>
                <a:gd name="T23" fmla="*/ 219 h 228"/>
                <a:gd name="T24" fmla="*/ 1027 w 1027"/>
                <a:gd name="T25"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7" h="228">
                  <a:moveTo>
                    <a:pt x="1027" y="228"/>
                  </a:moveTo>
                  <a:lnTo>
                    <a:pt x="879" y="228"/>
                  </a:lnTo>
                  <a:lnTo>
                    <a:pt x="879" y="11"/>
                  </a:lnTo>
                  <a:lnTo>
                    <a:pt x="67" y="11"/>
                  </a:lnTo>
                  <a:lnTo>
                    <a:pt x="67" y="228"/>
                  </a:lnTo>
                  <a:lnTo>
                    <a:pt x="0" y="228"/>
                  </a:lnTo>
                  <a:lnTo>
                    <a:pt x="0" y="219"/>
                  </a:lnTo>
                  <a:lnTo>
                    <a:pt x="57" y="219"/>
                  </a:lnTo>
                  <a:lnTo>
                    <a:pt x="57" y="0"/>
                  </a:lnTo>
                  <a:lnTo>
                    <a:pt x="887" y="0"/>
                  </a:lnTo>
                  <a:lnTo>
                    <a:pt x="887" y="219"/>
                  </a:lnTo>
                  <a:lnTo>
                    <a:pt x="1027" y="219"/>
                  </a:lnTo>
                  <a:lnTo>
                    <a:pt x="1027" y="228"/>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9">
              <a:extLst>
                <a:ext uri="{FF2B5EF4-FFF2-40B4-BE49-F238E27FC236}">
                  <a16:creationId xmlns:a16="http://schemas.microsoft.com/office/drawing/2014/main" id="{D774B828-5E1C-4B26-AA1C-8D1C7AB21C4D}"/>
                </a:ext>
              </a:extLst>
            </p:cNvPr>
            <p:cNvSpPr>
              <a:spLocks/>
            </p:cNvSpPr>
            <p:nvPr/>
          </p:nvSpPr>
          <p:spPr bwMode="auto">
            <a:xfrm>
              <a:off x="3159" y="1948"/>
              <a:ext cx="183" cy="169"/>
            </a:xfrm>
            <a:custGeom>
              <a:avLst/>
              <a:gdLst>
                <a:gd name="T0" fmla="*/ 5 w 107"/>
                <a:gd name="T1" fmla="*/ 98 h 98"/>
                <a:gd name="T2" fmla="*/ 0 w 107"/>
                <a:gd name="T3" fmla="*/ 98 h 98"/>
                <a:gd name="T4" fmla="*/ 0 w 107"/>
                <a:gd name="T5" fmla="*/ 13 h 98"/>
                <a:gd name="T6" fmla="*/ 6 w 107"/>
                <a:gd name="T7" fmla="*/ 7 h 98"/>
                <a:gd name="T8" fmla="*/ 11 w 107"/>
                <a:gd name="T9" fmla="*/ 6 h 98"/>
                <a:gd name="T10" fmla="*/ 19 w 107"/>
                <a:gd name="T11" fmla="*/ 4 h 98"/>
                <a:gd name="T12" fmla="*/ 28 w 107"/>
                <a:gd name="T13" fmla="*/ 0 h 98"/>
                <a:gd name="T14" fmla="*/ 29 w 107"/>
                <a:gd name="T15" fmla="*/ 0 h 98"/>
                <a:gd name="T16" fmla="*/ 59 w 107"/>
                <a:gd name="T17" fmla="*/ 0 h 98"/>
                <a:gd name="T18" fmla="*/ 78 w 107"/>
                <a:gd name="T19" fmla="*/ 0 h 98"/>
                <a:gd name="T20" fmla="*/ 86 w 107"/>
                <a:gd name="T21" fmla="*/ 4 h 98"/>
                <a:gd name="T22" fmla="*/ 91 w 107"/>
                <a:gd name="T23" fmla="*/ 5 h 98"/>
                <a:gd name="T24" fmla="*/ 94 w 107"/>
                <a:gd name="T25" fmla="*/ 5 h 98"/>
                <a:gd name="T26" fmla="*/ 94 w 107"/>
                <a:gd name="T27" fmla="*/ 6 h 98"/>
                <a:gd name="T28" fmla="*/ 107 w 107"/>
                <a:gd name="T29" fmla="*/ 20 h 98"/>
                <a:gd name="T30" fmla="*/ 107 w 107"/>
                <a:gd name="T31" fmla="*/ 74 h 98"/>
                <a:gd name="T32" fmla="*/ 107 w 107"/>
                <a:gd name="T33" fmla="*/ 97 h 98"/>
                <a:gd name="T34" fmla="*/ 102 w 107"/>
                <a:gd name="T35" fmla="*/ 97 h 98"/>
                <a:gd name="T36" fmla="*/ 101 w 107"/>
                <a:gd name="T37" fmla="*/ 74 h 98"/>
                <a:gd name="T38" fmla="*/ 101 w 107"/>
                <a:gd name="T39" fmla="*/ 20 h 98"/>
                <a:gd name="T40" fmla="*/ 94 w 107"/>
                <a:gd name="T41" fmla="*/ 11 h 98"/>
                <a:gd name="T42" fmla="*/ 93 w 107"/>
                <a:gd name="T43" fmla="*/ 11 h 98"/>
                <a:gd name="T44" fmla="*/ 91 w 107"/>
                <a:gd name="T45" fmla="*/ 11 h 98"/>
                <a:gd name="T46" fmla="*/ 82 w 107"/>
                <a:gd name="T47" fmla="*/ 7 h 98"/>
                <a:gd name="T48" fmla="*/ 78 w 107"/>
                <a:gd name="T49" fmla="*/ 6 h 98"/>
                <a:gd name="T50" fmla="*/ 59 w 107"/>
                <a:gd name="T51" fmla="*/ 6 h 98"/>
                <a:gd name="T52" fmla="*/ 29 w 107"/>
                <a:gd name="T53" fmla="*/ 6 h 98"/>
                <a:gd name="T54" fmla="*/ 27 w 107"/>
                <a:gd name="T55" fmla="*/ 6 h 98"/>
                <a:gd name="T56" fmla="*/ 24 w 107"/>
                <a:gd name="T57" fmla="*/ 7 h 98"/>
                <a:gd name="T58" fmla="*/ 20 w 107"/>
                <a:gd name="T59" fmla="*/ 10 h 98"/>
                <a:gd name="T60" fmla="*/ 13 w 107"/>
                <a:gd name="T61" fmla="*/ 11 h 98"/>
                <a:gd name="T62" fmla="*/ 6 w 107"/>
                <a:gd name="T63" fmla="*/ 12 h 98"/>
                <a:gd name="T64" fmla="*/ 5 w 107"/>
                <a:gd name="T65" fmla="*/ 12 h 98"/>
                <a:gd name="T66" fmla="*/ 5 w 107"/>
                <a:gd name="T67" fmla="*/ 13 h 98"/>
                <a:gd name="T68" fmla="*/ 5 w 107"/>
                <a:gd name="T69"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7" h="98">
                  <a:moveTo>
                    <a:pt x="5" y="98"/>
                  </a:moveTo>
                  <a:cubicBezTo>
                    <a:pt x="0" y="98"/>
                    <a:pt x="0" y="98"/>
                    <a:pt x="0" y="98"/>
                  </a:cubicBezTo>
                  <a:cubicBezTo>
                    <a:pt x="0" y="65"/>
                    <a:pt x="0" y="46"/>
                    <a:pt x="0" y="13"/>
                  </a:cubicBezTo>
                  <a:cubicBezTo>
                    <a:pt x="0" y="11"/>
                    <a:pt x="1" y="7"/>
                    <a:pt x="6" y="7"/>
                  </a:cubicBezTo>
                  <a:cubicBezTo>
                    <a:pt x="8" y="6"/>
                    <a:pt x="10" y="6"/>
                    <a:pt x="11" y="6"/>
                  </a:cubicBezTo>
                  <a:cubicBezTo>
                    <a:pt x="14" y="5"/>
                    <a:pt x="16" y="4"/>
                    <a:pt x="19" y="4"/>
                  </a:cubicBezTo>
                  <a:cubicBezTo>
                    <a:pt x="21" y="0"/>
                    <a:pt x="25" y="0"/>
                    <a:pt x="28" y="0"/>
                  </a:cubicBezTo>
                  <a:cubicBezTo>
                    <a:pt x="28" y="0"/>
                    <a:pt x="29" y="0"/>
                    <a:pt x="29" y="0"/>
                  </a:cubicBezTo>
                  <a:cubicBezTo>
                    <a:pt x="39" y="0"/>
                    <a:pt x="49" y="0"/>
                    <a:pt x="59" y="0"/>
                  </a:cubicBezTo>
                  <a:cubicBezTo>
                    <a:pt x="78" y="0"/>
                    <a:pt x="78" y="0"/>
                    <a:pt x="78" y="0"/>
                  </a:cubicBezTo>
                  <a:cubicBezTo>
                    <a:pt x="81" y="0"/>
                    <a:pt x="84" y="1"/>
                    <a:pt x="86" y="4"/>
                  </a:cubicBezTo>
                  <a:cubicBezTo>
                    <a:pt x="87" y="5"/>
                    <a:pt x="89" y="5"/>
                    <a:pt x="91" y="5"/>
                  </a:cubicBezTo>
                  <a:cubicBezTo>
                    <a:pt x="92" y="5"/>
                    <a:pt x="93" y="5"/>
                    <a:pt x="94" y="5"/>
                  </a:cubicBezTo>
                  <a:cubicBezTo>
                    <a:pt x="94" y="6"/>
                    <a:pt x="94" y="6"/>
                    <a:pt x="94" y="6"/>
                  </a:cubicBezTo>
                  <a:cubicBezTo>
                    <a:pt x="106" y="7"/>
                    <a:pt x="107" y="8"/>
                    <a:pt x="107" y="20"/>
                  </a:cubicBezTo>
                  <a:cubicBezTo>
                    <a:pt x="107" y="74"/>
                    <a:pt x="107" y="74"/>
                    <a:pt x="107" y="74"/>
                  </a:cubicBezTo>
                  <a:cubicBezTo>
                    <a:pt x="107" y="81"/>
                    <a:pt x="107" y="86"/>
                    <a:pt x="107" y="97"/>
                  </a:cubicBezTo>
                  <a:cubicBezTo>
                    <a:pt x="102" y="97"/>
                    <a:pt x="102" y="97"/>
                    <a:pt x="102" y="97"/>
                  </a:cubicBezTo>
                  <a:cubicBezTo>
                    <a:pt x="101" y="86"/>
                    <a:pt x="101" y="81"/>
                    <a:pt x="101" y="74"/>
                  </a:cubicBezTo>
                  <a:cubicBezTo>
                    <a:pt x="101" y="20"/>
                    <a:pt x="101" y="20"/>
                    <a:pt x="101" y="20"/>
                  </a:cubicBezTo>
                  <a:cubicBezTo>
                    <a:pt x="101" y="12"/>
                    <a:pt x="101" y="12"/>
                    <a:pt x="94" y="11"/>
                  </a:cubicBezTo>
                  <a:cubicBezTo>
                    <a:pt x="93" y="11"/>
                    <a:pt x="93" y="11"/>
                    <a:pt x="93" y="11"/>
                  </a:cubicBezTo>
                  <a:cubicBezTo>
                    <a:pt x="92" y="11"/>
                    <a:pt x="92" y="11"/>
                    <a:pt x="91" y="11"/>
                  </a:cubicBezTo>
                  <a:cubicBezTo>
                    <a:pt x="88" y="10"/>
                    <a:pt x="84" y="10"/>
                    <a:pt x="82" y="7"/>
                  </a:cubicBezTo>
                  <a:cubicBezTo>
                    <a:pt x="81" y="6"/>
                    <a:pt x="80" y="6"/>
                    <a:pt x="78" y="6"/>
                  </a:cubicBezTo>
                  <a:cubicBezTo>
                    <a:pt x="59" y="6"/>
                    <a:pt x="59" y="6"/>
                    <a:pt x="59" y="6"/>
                  </a:cubicBezTo>
                  <a:cubicBezTo>
                    <a:pt x="49" y="6"/>
                    <a:pt x="39" y="6"/>
                    <a:pt x="29" y="6"/>
                  </a:cubicBezTo>
                  <a:cubicBezTo>
                    <a:pt x="28" y="6"/>
                    <a:pt x="28" y="6"/>
                    <a:pt x="27" y="6"/>
                  </a:cubicBezTo>
                  <a:cubicBezTo>
                    <a:pt x="24" y="5"/>
                    <a:pt x="24" y="5"/>
                    <a:pt x="24" y="7"/>
                  </a:cubicBezTo>
                  <a:cubicBezTo>
                    <a:pt x="24" y="8"/>
                    <a:pt x="23" y="10"/>
                    <a:pt x="20" y="10"/>
                  </a:cubicBezTo>
                  <a:cubicBezTo>
                    <a:pt x="17" y="10"/>
                    <a:pt x="15" y="10"/>
                    <a:pt x="13" y="11"/>
                  </a:cubicBezTo>
                  <a:cubicBezTo>
                    <a:pt x="11" y="11"/>
                    <a:pt x="9" y="12"/>
                    <a:pt x="6" y="12"/>
                  </a:cubicBezTo>
                  <a:cubicBezTo>
                    <a:pt x="6" y="12"/>
                    <a:pt x="5" y="12"/>
                    <a:pt x="5" y="12"/>
                  </a:cubicBezTo>
                  <a:cubicBezTo>
                    <a:pt x="5" y="12"/>
                    <a:pt x="5" y="12"/>
                    <a:pt x="5" y="13"/>
                  </a:cubicBezTo>
                  <a:cubicBezTo>
                    <a:pt x="5" y="46"/>
                    <a:pt x="5" y="65"/>
                    <a:pt x="5" y="98"/>
                  </a:cubicBez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10">
              <a:extLst>
                <a:ext uri="{FF2B5EF4-FFF2-40B4-BE49-F238E27FC236}">
                  <a16:creationId xmlns:a16="http://schemas.microsoft.com/office/drawing/2014/main" id="{46AF0BF6-8DEB-4F6A-9ADA-C0CB9C8D5056}"/>
                </a:ext>
              </a:extLst>
            </p:cNvPr>
            <p:cNvSpPr>
              <a:spLocks noEditPoints="1"/>
            </p:cNvSpPr>
            <p:nvPr/>
          </p:nvSpPr>
          <p:spPr bwMode="auto">
            <a:xfrm>
              <a:off x="2647" y="1656"/>
              <a:ext cx="1226" cy="229"/>
            </a:xfrm>
            <a:custGeom>
              <a:avLst/>
              <a:gdLst>
                <a:gd name="T0" fmla="*/ 67 w 716"/>
                <a:gd name="T1" fmla="*/ 112 h 133"/>
                <a:gd name="T2" fmla="*/ 49 w 716"/>
                <a:gd name="T3" fmla="*/ 101 h 133"/>
                <a:gd name="T4" fmla="*/ 30 w 716"/>
                <a:gd name="T5" fmla="*/ 86 h 133"/>
                <a:gd name="T6" fmla="*/ 11 w 716"/>
                <a:gd name="T7" fmla="*/ 53 h 133"/>
                <a:gd name="T8" fmla="*/ 25 w 716"/>
                <a:gd name="T9" fmla="*/ 52 h 133"/>
                <a:gd name="T10" fmla="*/ 36 w 716"/>
                <a:gd name="T11" fmla="*/ 52 h 133"/>
                <a:gd name="T12" fmla="*/ 45 w 716"/>
                <a:gd name="T13" fmla="*/ 52 h 133"/>
                <a:gd name="T14" fmla="*/ 55 w 716"/>
                <a:gd name="T15" fmla="*/ 54 h 133"/>
                <a:gd name="T16" fmla="*/ 72 w 716"/>
                <a:gd name="T17" fmla="*/ 60 h 133"/>
                <a:gd name="T18" fmla="*/ 73 w 716"/>
                <a:gd name="T19" fmla="*/ 56 h 133"/>
                <a:gd name="T20" fmla="*/ 93 w 716"/>
                <a:gd name="T21" fmla="*/ 56 h 133"/>
                <a:gd name="T22" fmla="*/ 127 w 716"/>
                <a:gd name="T23" fmla="*/ 62 h 133"/>
                <a:gd name="T24" fmla="*/ 150 w 716"/>
                <a:gd name="T25" fmla="*/ 62 h 133"/>
                <a:gd name="T26" fmla="*/ 173 w 716"/>
                <a:gd name="T27" fmla="*/ 48 h 133"/>
                <a:gd name="T28" fmla="*/ 178 w 716"/>
                <a:gd name="T29" fmla="*/ 19 h 133"/>
                <a:gd name="T30" fmla="*/ 190 w 716"/>
                <a:gd name="T31" fmla="*/ 11 h 133"/>
                <a:gd name="T32" fmla="*/ 207 w 716"/>
                <a:gd name="T33" fmla="*/ 2 h 133"/>
                <a:gd name="T34" fmla="*/ 211 w 716"/>
                <a:gd name="T35" fmla="*/ 23 h 133"/>
                <a:gd name="T36" fmla="*/ 496 w 716"/>
                <a:gd name="T37" fmla="*/ 27 h 133"/>
                <a:gd name="T38" fmla="*/ 516 w 716"/>
                <a:gd name="T39" fmla="*/ 8 h 133"/>
                <a:gd name="T40" fmla="*/ 530 w 716"/>
                <a:gd name="T41" fmla="*/ 10 h 133"/>
                <a:gd name="T42" fmla="*/ 536 w 716"/>
                <a:gd name="T43" fmla="*/ 28 h 133"/>
                <a:gd name="T44" fmla="*/ 561 w 716"/>
                <a:gd name="T45" fmla="*/ 62 h 133"/>
                <a:gd name="T46" fmla="*/ 612 w 716"/>
                <a:gd name="T47" fmla="*/ 56 h 133"/>
                <a:gd name="T48" fmla="*/ 622 w 716"/>
                <a:gd name="T49" fmla="*/ 64 h 133"/>
                <a:gd name="T50" fmla="*/ 635 w 716"/>
                <a:gd name="T51" fmla="*/ 59 h 133"/>
                <a:gd name="T52" fmla="*/ 649 w 716"/>
                <a:gd name="T53" fmla="*/ 63 h 133"/>
                <a:gd name="T54" fmla="*/ 662 w 716"/>
                <a:gd name="T55" fmla="*/ 61 h 133"/>
                <a:gd name="T56" fmla="*/ 678 w 716"/>
                <a:gd name="T57" fmla="*/ 56 h 133"/>
                <a:gd name="T58" fmla="*/ 691 w 716"/>
                <a:gd name="T59" fmla="*/ 54 h 133"/>
                <a:gd name="T60" fmla="*/ 702 w 716"/>
                <a:gd name="T61" fmla="*/ 52 h 133"/>
                <a:gd name="T62" fmla="*/ 714 w 716"/>
                <a:gd name="T63" fmla="*/ 60 h 133"/>
                <a:gd name="T64" fmla="*/ 684 w 716"/>
                <a:gd name="T65" fmla="*/ 90 h 133"/>
                <a:gd name="T66" fmla="*/ 653 w 716"/>
                <a:gd name="T67" fmla="*/ 108 h 133"/>
                <a:gd name="T68" fmla="*/ 601 w 716"/>
                <a:gd name="T69" fmla="*/ 133 h 133"/>
                <a:gd name="T70" fmla="*/ 599 w 716"/>
                <a:gd name="T71" fmla="*/ 128 h 133"/>
                <a:gd name="T72" fmla="*/ 652 w 716"/>
                <a:gd name="T73" fmla="*/ 103 h 133"/>
                <a:gd name="T74" fmla="*/ 691 w 716"/>
                <a:gd name="T75" fmla="*/ 78 h 133"/>
                <a:gd name="T76" fmla="*/ 701 w 716"/>
                <a:gd name="T77" fmla="*/ 58 h 133"/>
                <a:gd name="T78" fmla="*/ 683 w 716"/>
                <a:gd name="T79" fmla="*/ 57 h 133"/>
                <a:gd name="T80" fmla="*/ 657 w 716"/>
                <a:gd name="T81" fmla="*/ 64 h 133"/>
                <a:gd name="T82" fmla="*/ 637 w 716"/>
                <a:gd name="T83" fmla="*/ 70 h 133"/>
                <a:gd name="T84" fmla="*/ 616 w 716"/>
                <a:gd name="T85" fmla="*/ 63 h 133"/>
                <a:gd name="T86" fmla="*/ 606 w 716"/>
                <a:gd name="T87" fmla="*/ 66 h 133"/>
                <a:gd name="T88" fmla="*/ 562 w 716"/>
                <a:gd name="T89" fmla="*/ 67 h 133"/>
                <a:gd name="T90" fmla="*/ 530 w 716"/>
                <a:gd name="T91" fmla="*/ 26 h 133"/>
                <a:gd name="T92" fmla="*/ 518 w 716"/>
                <a:gd name="T93" fmla="*/ 15 h 133"/>
                <a:gd name="T94" fmla="*/ 508 w 716"/>
                <a:gd name="T95" fmla="*/ 21 h 133"/>
                <a:gd name="T96" fmla="*/ 220 w 716"/>
                <a:gd name="T97" fmla="*/ 32 h 133"/>
                <a:gd name="T98" fmla="*/ 206 w 716"/>
                <a:gd name="T99" fmla="*/ 15 h 133"/>
                <a:gd name="T100" fmla="*/ 193 w 716"/>
                <a:gd name="T101" fmla="*/ 16 h 133"/>
                <a:gd name="T102" fmla="*/ 182 w 716"/>
                <a:gd name="T103" fmla="*/ 30 h 133"/>
                <a:gd name="T104" fmla="*/ 152 w 716"/>
                <a:gd name="T105" fmla="*/ 67 h 133"/>
                <a:gd name="T106" fmla="*/ 108 w 716"/>
                <a:gd name="T107" fmla="*/ 66 h 133"/>
                <a:gd name="T108" fmla="*/ 96 w 716"/>
                <a:gd name="T109" fmla="*/ 60 h 133"/>
                <a:gd name="T110" fmla="*/ 80 w 716"/>
                <a:gd name="T111" fmla="*/ 68 h 133"/>
                <a:gd name="T112" fmla="*/ 56 w 716"/>
                <a:gd name="T113" fmla="*/ 64 h 133"/>
                <a:gd name="T114" fmla="*/ 33 w 716"/>
                <a:gd name="T115" fmla="*/ 57 h 133"/>
                <a:gd name="T116" fmla="*/ 19 w 716"/>
                <a:gd name="T117" fmla="*/ 54 h 133"/>
                <a:gd name="T118" fmla="*/ 6 w 716"/>
                <a:gd name="T119" fmla="*/ 67 h 133"/>
                <a:gd name="T120" fmla="*/ 37 w 716"/>
                <a:gd name="T121" fmla="*/ 86 h 133"/>
                <a:gd name="T122" fmla="*/ 56 w 716"/>
                <a:gd name="T123" fmla="*/ 9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16" h="133">
                  <a:moveTo>
                    <a:pt x="113" y="133"/>
                  </a:moveTo>
                  <a:cubicBezTo>
                    <a:pt x="112" y="133"/>
                    <a:pt x="112" y="133"/>
                    <a:pt x="112" y="133"/>
                  </a:cubicBezTo>
                  <a:cubicBezTo>
                    <a:pt x="103" y="130"/>
                    <a:pt x="94" y="126"/>
                    <a:pt x="85" y="122"/>
                  </a:cubicBezTo>
                  <a:cubicBezTo>
                    <a:pt x="83" y="121"/>
                    <a:pt x="81" y="120"/>
                    <a:pt x="80" y="119"/>
                  </a:cubicBezTo>
                  <a:cubicBezTo>
                    <a:pt x="76" y="117"/>
                    <a:pt x="73" y="115"/>
                    <a:pt x="69" y="114"/>
                  </a:cubicBezTo>
                  <a:cubicBezTo>
                    <a:pt x="67" y="114"/>
                    <a:pt x="67" y="114"/>
                    <a:pt x="67" y="114"/>
                  </a:cubicBezTo>
                  <a:cubicBezTo>
                    <a:pt x="67" y="112"/>
                    <a:pt x="67" y="112"/>
                    <a:pt x="67" y="112"/>
                  </a:cubicBezTo>
                  <a:cubicBezTo>
                    <a:pt x="67" y="112"/>
                    <a:pt x="67" y="112"/>
                    <a:pt x="65" y="111"/>
                  </a:cubicBezTo>
                  <a:cubicBezTo>
                    <a:pt x="64" y="111"/>
                    <a:pt x="62" y="110"/>
                    <a:pt x="60" y="108"/>
                  </a:cubicBezTo>
                  <a:cubicBezTo>
                    <a:pt x="60" y="108"/>
                    <a:pt x="60" y="108"/>
                    <a:pt x="60" y="108"/>
                  </a:cubicBezTo>
                  <a:cubicBezTo>
                    <a:pt x="57" y="108"/>
                    <a:pt x="55" y="107"/>
                    <a:pt x="55" y="104"/>
                  </a:cubicBezTo>
                  <a:cubicBezTo>
                    <a:pt x="54" y="104"/>
                    <a:pt x="54" y="104"/>
                    <a:pt x="54" y="104"/>
                  </a:cubicBezTo>
                  <a:cubicBezTo>
                    <a:pt x="52" y="103"/>
                    <a:pt x="52" y="103"/>
                    <a:pt x="52" y="103"/>
                  </a:cubicBezTo>
                  <a:cubicBezTo>
                    <a:pt x="52" y="102"/>
                    <a:pt x="51" y="102"/>
                    <a:pt x="49" y="101"/>
                  </a:cubicBezTo>
                  <a:cubicBezTo>
                    <a:pt x="47" y="100"/>
                    <a:pt x="44" y="99"/>
                    <a:pt x="43" y="96"/>
                  </a:cubicBezTo>
                  <a:cubicBezTo>
                    <a:pt x="43" y="96"/>
                    <a:pt x="42" y="96"/>
                    <a:pt x="42" y="96"/>
                  </a:cubicBezTo>
                  <a:cubicBezTo>
                    <a:pt x="39" y="96"/>
                    <a:pt x="38" y="93"/>
                    <a:pt x="37" y="92"/>
                  </a:cubicBezTo>
                  <a:cubicBezTo>
                    <a:pt x="37" y="92"/>
                    <a:pt x="37" y="91"/>
                    <a:pt x="37" y="91"/>
                  </a:cubicBezTo>
                  <a:cubicBezTo>
                    <a:pt x="37" y="91"/>
                    <a:pt x="37" y="91"/>
                    <a:pt x="37" y="91"/>
                  </a:cubicBezTo>
                  <a:cubicBezTo>
                    <a:pt x="35" y="91"/>
                    <a:pt x="33" y="91"/>
                    <a:pt x="31" y="89"/>
                  </a:cubicBezTo>
                  <a:cubicBezTo>
                    <a:pt x="31" y="88"/>
                    <a:pt x="30" y="87"/>
                    <a:pt x="30" y="86"/>
                  </a:cubicBezTo>
                  <a:cubicBezTo>
                    <a:pt x="25" y="84"/>
                    <a:pt x="21" y="82"/>
                    <a:pt x="16" y="80"/>
                  </a:cubicBezTo>
                  <a:cubicBezTo>
                    <a:pt x="13" y="78"/>
                    <a:pt x="10" y="76"/>
                    <a:pt x="7" y="75"/>
                  </a:cubicBezTo>
                  <a:cubicBezTo>
                    <a:pt x="4" y="74"/>
                    <a:pt x="2" y="71"/>
                    <a:pt x="1" y="68"/>
                  </a:cubicBezTo>
                  <a:cubicBezTo>
                    <a:pt x="0" y="67"/>
                    <a:pt x="0" y="65"/>
                    <a:pt x="1" y="63"/>
                  </a:cubicBezTo>
                  <a:cubicBezTo>
                    <a:pt x="2" y="62"/>
                    <a:pt x="3" y="61"/>
                    <a:pt x="6" y="62"/>
                  </a:cubicBezTo>
                  <a:cubicBezTo>
                    <a:pt x="5" y="59"/>
                    <a:pt x="7" y="57"/>
                    <a:pt x="8" y="56"/>
                  </a:cubicBezTo>
                  <a:cubicBezTo>
                    <a:pt x="9" y="55"/>
                    <a:pt x="10" y="54"/>
                    <a:pt x="11" y="53"/>
                  </a:cubicBezTo>
                  <a:cubicBezTo>
                    <a:pt x="13" y="52"/>
                    <a:pt x="14" y="52"/>
                    <a:pt x="13" y="51"/>
                  </a:cubicBezTo>
                  <a:cubicBezTo>
                    <a:pt x="13" y="47"/>
                    <a:pt x="13" y="47"/>
                    <a:pt x="13" y="47"/>
                  </a:cubicBezTo>
                  <a:cubicBezTo>
                    <a:pt x="16" y="48"/>
                    <a:pt x="16" y="48"/>
                    <a:pt x="16" y="48"/>
                  </a:cubicBezTo>
                  <a:cubicBezTo>
                    <a:pt x="16" y="48"/>
                    <a:pt x="16" y="47"/>
                    <a:pt x="17" y="47"/>
                  </a:cubicBezTo>
                  <a:cubicBezTo>
                    <a:pt x="18" y="47"/>
                    <a:pt x="21" y="47"/>
                    <a:pt x="22" y="49"/>
                  </a:cubicBezTo>
                  <a:cubicBezTo>
                    <a:pt x="22" y="49"/>
                    <a:pt x="22" y="49"/>
                    <a:pt x="22" y="49"/>
                  </a:cubicBezTo>
                  <a:cubicBezTo>
                    <a:pt x="23" y="49"/>
                    <a:pt x="25" y="50"/>
                    <a:pt x="25" y="52"/>
                  </a:cubicBezTo>
                  <a:cubicBezTo>
                    <a:pt x="26" y="53"/>
                    <a:pt x="25" y="53"/>
                    <a:pt x="25" y="54"/>
                  </a:cubicBezTo>
                  <a:cubicBezTo>
                    <a:pt x="26" y="54"/>
                    <a:pt x="26" y="54"/>
                    <a:pt x="27" y="54"/>
                  </a:cubicBezTo>
                  <a:cubicBezTo>
                    <a:pt x="27" y="54"/>
                    <a:pt x="28" y="54"/>
                    <a:pt x="28" y="54"/>
                  </a:cubicBezTo>
                  <a:cubicBezTo>
                    <a:pt x="28" y="54"/>
                    <a:pt x="28" y="53"/>
                    <a:pt x="28" y="52"/>
                  </a:cubicBezTo>
                  <a:cubicBezTo>
                    <a:pt x="28" y="50"/>
                    <a:pt x="29" y="49"/>
                    <a:pt x="30" y="49"/>
                  </a:cubicBezTo>
                  <a:cubicBezTo>
                    <a:pt x="32" y="48"/>
                    <a:pt x="34" y="48"/>
                    <a:pt x="35" y="50"/>
                  </a:cubicBezTo>
                  <a:cubicBezTo>
                    <a:pt x="36" y="52"/>
                    <a:pt x="36" y="52"/>
                    <a:pt x="36" y="52"/>
                  </a:cubicBezTo>
                  <a:cubicBezTo>
                    <a:pt x="37" y="53"/>
                    <a:pt x="38" y="55"/>
                    <a:pt x="39" y="57"/>
                  </a:cubicBezTo>
                  <a:cubicBezTo>
                    <a:pt x="39" y="58"/>
                    <a:pt x="39" y="58"/>
                    <a:pt x="39" y="58"/>
                  </a:cubicBezTo>
                  <a:cubicBezTo>
                    <a:pt x="40" y="58"/>
                    <a:pt x="41" y="58"/>
                    <a:pt x="41" y="58"/>
                  </a:cubicBezTo>
                  <a:cubicBezTo>
                    <a:pt x="41" y="58"/>
                    <a:pt x="41" y="57"/>
                    <a:pt x="41" y="56"/>
                  </a:cubicBezTo>
                  <a:cubicBezTo>
                    <a:pt x="41" y="55"/>
                    <a:pt x="41" y="54"/>
                    <a:pt x="42" y="53"/>
                  </a:cubicBezTo>
                  <a:cubicBezTo>
                    <a:pt x="42" y="52"/>
                    <a:pt x="43" y="52"/>
                    <a:pt x="45" y="52"/>
                  </a:cubicBezTo>
                  <a:cubicBezTo>
                    <a:pt x="45" y="52"/>
                    <a:pt x="45" y="52"/>
                    <a:pt x="45" y="52"/>
                  </a:cubicBezTo>
                  <a:cubicBezTo>
                    <a:pt x="47" y="52"/>
                    <a:pt x="49" y="53"/>
                    <a:pt x="49" y="55"/>
                  </a:cubicBezTo>
                  <a:cubicBezTo>
                    <a:pt x="50" y="57"/>
                    <a:pt x="50" y="58"/>
                    <a:pt x="51" y="60"/>
                  </a:cubicBezTo>
                  <a:cubicBezTo>
                    <a:pt x="51" y="60"/>
                    <a:pt x="51" y="60"/>
                    <a:pt x="51" y="60"/>
                  </a:cubicBezTo>
                  <a:cubicBezTo>
                    <a:pt x="51" y="60"/>
                    <a:pt x="51" y="59"/>
                    <a:pt x="52" y="59"/>
                  </a:cubicBezTo>
                  <a:cubicBezTo>
                    <a:pt x="52" y="58"/>
                    <a:pt x="52" y="57"/>
                    <a:pt x="52" y="56"/>
                  </a:cubicBezTo>
                  <a:cubicBezTo>
                    <a:pt x="53" y="55"/>
                    <a:pt x="53" y="55"/>
                    <a:pt x="55" y="54"/>
                  </a:cubicBezTo>
                  <a:cubicBezTo>
                    <a:pt x="55" y="54"/>
                    <a:pt x="55" y="54"/>
                    <a:pt x="55" y="54"/>
                  </a:cubicBezTo>
                  <a:cubicBezTo>
                    <a:pt x="58" y="54"/>
                    <a:pt x="59" y="56"/>
                    <a:pt x="59" y="57"/>
                  </a:cubicBezTo>
                  <a:cubicBezTo>
                    <a:pt x="61" y="58"/>
                    <a:pt x="61" y="60"/>
                    <a:pt x="62" y="61"/>
                  </a:cubicBezTo>
                  <a:cubicBezTo>
                    <a:pt x="63" y="63"/>
                    <a:pt x="63" y="63"/>
                    <a:pt x="64" y="63"/>
                  </a:cubicBezTo>
                  <a:cubicBezTo>
                    <a:pt x="64" y="63"/>
                    <a:pt x="64" y="63"/>
                    <a:pt x="64" y="63"/>
                  </a:cubicBezTo>
                  <a:cubicBezTo>
                    <a:pt x="63" y="59"/>
                    <a:pt x="66" y="57"/>
                    <a:pt x="67" y="57"/>
                  </a:cubicBezTo>
                  <a:cubicBezTo>
                    <a:pt x="67" y="57"/>
                    <a:pt x="68" y="57"/>
                    <a:pt x="68" y="57"/>
                  </a:cubicBezTo>
                  <a:cubicBezTo>
                    <a:pt x="69" y="57"/>
                    <a:pt x="71" y="57"/>
                    <a:pt x="72" y="60"/>
                  </a:cubicBezTo>
                  <a:cubicBezTo>
                    <a:pt x="72" y="60"/>
                    <a:pt x="72" y="60"/>
                    <a:pt x="72" y="60"/>
                  </a:cubicBezTo>
                  <a:cubicBezTo>
                    <a:pt x="72" y="60"/>
                    <a:pt x="72" y="61"/>
                    <a:pt x="73" y="61"/>
                  </a:cubicBezTo>
                  <a:cubicBezTo>
                    <a:pt x="74" y="63"/>
                    <a:pt x="75" y="64"/>
                    <a:pt x="76" y="64"/>
                  </a:cubicBezTo>
                  <a:cubicBezTo>
                    <a:pt x="76" y="64"/>
                    <a:pt x="76" y="64"/>
                    <a:pt x="76" y="64"/>
                  </a:cubicBezTo>
                  <a:cubicBezTo>
                    <a:pt x="76" y="64"/>
                    <a:pt x="76" y="64"/>
                    <a:pt x="76" y="64"/>
                  </a:cubicBezTo>
                  <a:cubicBezTo>
                    <a:pt x="76" y="64"/>
                    <a:pt x="76" y="63"/>
                    <a:pt x="75" y="62"/>
                  </a:cubicBezTo>
                  <a:cubicBezTo>
                    <a:pt x="73" y="56"/>
                    <a:pt x="73" y="56"/>
                    <a:pt x="73" y="56"/>
                  </a:cubicBezTo>
                  <a:cubicBezTo>
                    <a:pt x="79" y="58"/>
                    <a:pt x="79" y="58"/>
                    <a:pt x="79" y="58"/>
                  </a:cubicBezTo>
                  <a:cubicBezTo>
                    <a:pt x="82" y="59"/>
                    <a:pt x="83" y="61"/>
                    <a:pt x="85" y="63"/>
                  </a:cubicBezTo>
                  <a:cubicBezTo>
                    <a:pt x="85" y="63"/>
                    <a:pt x="86" y="64"/>
                    <a:pt x="86" y="64"/>
                  </a:cubicBezTo>
                  <a:cubicBezTo>
                    <a:pt x="87" y="65"/>
                    <a:pt x="90" y="66"/>
                    <a:pt x="92" y="66"/>
                  </a:cubicBezTo>
                  <a:cubicBezTo>
                    <a:pt x="92" y="66"/>
                    <a:pt x="92" y="65"/>
                    <a:pt x="91" y="65"/>
                  </a:cubicBezTo>
                  <a:cubicBezTo>
                    <a:pt x="91" y="64"/>
                    <a:pt x="91" y="63"/>
                    <a:pt x="91" y="61"/>
                  </a:cubicBezTo>
                  <a:cubicBezTo>
                    <a:pt x="90" y="59"/>
                    <a:pt x="91" y="57"/>
                    <a:pt x="93" y="56"/>
                  </a:cubicBezTo>
                  <a:cubicBezTo>
                    <a:pt x="94" y="55"/>
                    <a:pt x="94" y="55"/>
                    <a:pt x="94" y="55"/>
                  </a:cubicBezTo>
                  <a:cubicBezTo>
                    <a:pt x="95" y="54"/>
                    <a:pt x="96" y="54"/>
                    <a:pt x="97" y="54"/>
                  </a:cubicBezTo>
                  <a:cubicBezTo>
                    <a:pt x="99" y="54"/>
                    <a:pt x="100" y="55"/>
                    <a:pt x="101" y="57"/>
                  </a:cubicBezTo>
                  <a:cubicBezTo>
                    <a:pt x="101" y="57"/>
                    <a:pt x="101" y="57"/>
                    <a:pt x="101" y="57"/>
                  </a:cubicBezTo>
                  <a:cubicBezTo>
                    <a:pt x="104" y="55"/>
                    <a:pt x="107" y="55"/>
                    <a:pt x="108" y="57"/>
                  </a:cubicBezTo>
                  <a:cubicBezTo>
                    <a:pt x="109" y="58"/>
                    <a:pt x="109" y="59"/>
                    <a:pt x="109" y="61"/>
                  </a:cubicBezTo>
                  <a:cubicBezTo>
                    <a:pt x="115" y="61"/>
                    <a:pt x="121" y="62"/>
                    <a:pt x="127" y="62"/>
                  </a:cubicBezTo>
                  <a:cubicBezTo>
                    <a:pt x="136" y="63"/>
                    <a:pt x="136" y="63"/>
                    <a:pt x="136" y="63"/>
                  </a:cubicBezTo>
                  <a:cubicBezTo>
                    <a:pt x="138" y="63"/>
                    <a:pt x="138" y="62"/>
                    <a:pt x="138" y="62"/>
                  </a:cubicBezTo>
                  <a:cubicBezTo>
                    <a:pt x="139" y="60"/>
                    <a:pt x="141" y="59"/>
                    <a:pt x="141" y="59"/>
                  </a:cubicBezTo>
                  <a:cubicBezTo>
                    <a:pt x="142" y="59"/>
                    <a:pt x="143" y="60"/>
                    <a:pt x="143" y="60"/>
                  </a:cubicBezTo>
                  <a:cubicBezTo>
                    <a:pt x="144" y="59"/>
                    <a:pt x="145" y="58"/>
                    <a:pt x="146" y="58"/>
                  </a:cubicBezTo>
                  <a:cubicBezTo>
                    <a:pt x="148" y="58"/>
                    <a:pt x="150" y="61"/>
                    <a:pt x="151" y="62"/>
                  </a:cubicBezTo>
                  <a:cubicBezTo>
                    <a:pt x="151" y="62"/>
                    <a:pt x="150" y="62"/>
                    <a:pt x="150" y="62"/>
                  </a:cubicBezTo>
                  <a:cubicBezTo>
                    <a:pt x="151" y="65"/>
                    <a:pt x="151" y="65"/>
                    <a:pt x="151" y="65"/>
                  </a:cubicBezTo>
                  <a:cubicBezTo>
                    <a:pt x="151" y="62"/>
                    <a:pt x="151" y="62"/>
                    <a:pt x="151" y="62"/>
                  </a:cubicBezTo>
                  <a:cubicBezTo>
                    <a:pt x="152" y="65"/>
                    <a:pt x="152" y="65"/>
                    <a:pt x="152" y="65"/>
                  </a:cubicBezTo>
                  <a:cubicBezTo>
                    <a:pt x="152" y="62"/>
                    <a:pt x="152" y="62"/>
                    <a:pt x="152" y="62"/>
                  </a:cubicBezTo>
                  <a:cubicBezTo>
                    <a:pt x="152" y="62"/>
                    <a:pt x="152" y="62"/>
                    <a:pt x="152" y="62"/>
                  </a:cubicBezTo>
                  <a:cubicBezTo>
                    <a:pt x="157" y="62"/>
                    <a:pt x="160" y="61"/>
                    <a:pt x="163" y="58"/>
                  </a:cubicBezTo>
                  <a:cubicBezTo>
                    <a:pt x="167" y="54"/>
                    <a:pt x="170" y="51"/>
                    <a:pt x="173" y="48"/>
                  </a:cubicBezTo>
                  <a:cubicBezTo>
                    <a:pt x="173" y="47"/>
                    <a:pt x="173" y="47"/>
                    <a:pt x="173" y="47"/>
                  </a:cubicBezTo>
                  <a:cubicBezTo>
                    <a:pt x="174" y="46"/>
                    <a:pt x="174" y="46"/>
                    <a:pt x="174" y="46"/>
                  </a:cubicBezTo>
                  <a:cubicBezTo>
                    <a:pt x="175" y="44"/>
                    <a:pt x="175" y="42"/>
                    <a:pt x="176" y="40"/>
                  </a:cubicBezTo>
                  <a:cubicBezTo>
                    <a:pt x="177" y="37"/>
                    <a:pt x="178" y="34"/>
                    <a:pt x="177" y="31"/>
                  </a:cubicBezTo>
                  <a:cubicBezTo>
                    <a:pt x="177" y="31"/>
                    <a:pt x="177" y="30"/>
                    <a:pt x="177" y="29"/>
                  </a:cubicBezTo>
                  <a:cubicBezTo>
                    <a:pt x="176" y="27"/>
                    <a:pt x="175" y="24"/>
                    <a:pt x="178" y="20"/>
                  </a:cubicBezTo>
                  <a:cubicBezTo>
                    <a:pt x="178" y="20"/>
                    <a:pt x="178" y="19"/>
                    <a:pt x="178" y="19"/>
                  </a:cubicBezTo>
                  <a:cubicBezTo>
                    <a:pt x="178" y="17"/>
                    <a:pt x="178" y="15"/>
                    <a:pt x="181" y="13"/>
                  </a:cubicBezTo>
                  <a:cubicBezTo>
                    <a:pt x="181" y="13"/>
                    <a:pt x="181" y="13"/>
                    <a:pt x="181" y="12"/>
                  </a:cubicBezTo>
                  <a:cubicBezTo>
                    <a:pt x="181" y="12"/>
                    <a:pt x="181" y="11"/>
                    <a:pt x="181" y="11"/>
                  </a:cubicBezTo>
                  <a:cubicBezTo>
                    <a:pt x="181" y="7"/>
                    <a:pt x="183" y="6"/>
                    <a:pt x="185" y="6"/>
                  </a:cubicBezTo>
                  <a:cubicBezTo>
                    <a:pt x="185" y="6"/>
                    <a:pt x="185" y="6"/>
                    <a:pt x="185" y="6"/>
                  </a:cubicBezTo>
                  <a:cubicBezTo>
                    <a:pt x="186" y="6"/>
                    <a:pt x="188" y="6"/>
                    <a:pt x="188" y="7"/>
                  </a:cubicBezTo>
                  <a:cubicBezTo>
                    <a:pt x="190" y="8"/>
                    <a:pt x="190" y="10"/>
                    <a:pt x="190" y="11"/>
                  </a:cubicBezTo>
                  <a:cubicBezTo>
                    <a:pt x="189" y="11"/>
                    <a:pt x="189" y="11"/>
                    <a:pt x="189" y="12"/>
                  </a:cubicBezTo>
                  <a:cubicBezTo>
                    <a:pt x="190" y="12"/>
                    <a:pt x="190" y="12"/>
                    <a:pt x="190" y="12"/>
                  </a:cubicBezTo>
                  <a:cubicBezTo>
                    <a:pt x="190" y="12"/>
                    <a:pt x="190" y="12"/>
                    <a:pt x="190" y="12"/>
                  </a:cubicBezTo>
                  <a:cubicBezTo>
                    <a:pt x="190" y="12"/>
                    <a:pt x="191" y="11"/>
                    <a:pt x="192" y="11"/>
                  </a:cubicBezTo>
                  <a:cubicBezTo>
                    <a:pt x="194" y="10"/>
                    <a:pt x="195" y="8"/>
                    <a:pt x="196" y="5"/>
                  </a:cubicBezTo>
                  <a:cubicBezTo>
                    <a:pt x="197" y="2"/>
                    <a:pt x="199" y="1"/>
                    <a:pt x="202" y="1"/>
                  </a:cubicBezTo>
                  <a:cubicBezTo>
                    <a:pt x="204" y="1"/>
                    <a:pt x="206" y="1"/>
                    <a:pt x="207" y="2"/>
                  </a:cubicBezTo>
                  <a:cubicBezTo>
                    <a:pt x="211" y="4"/>
                    <a:pt x="213" y="11"/>
                    <a:pt x="211" y="16"/>
                  </a:cubicBezTo>
                  <a:cubicBezTo>
                    <a:pt x="211" y="17"/>
                    <a:pt x="211" y="17"/>
                    <a:pt x="211" y="18"/>
                  </a:cubicBezTo>
                  <a:cubicBezTo>
                    <a:pt x="210" y="19"/>
                    <a:pt x="210" y="20"/>
                    <a:pt x="210" y="20"/>
                  </a:cubicBezTo>
                  <a:cubicBezTo>
                    <a:pt x="209" y="21"/>
                    <a:pt x="209" y="22"/>
                    <a:pt x="209" y="22"/>
                  </a:cubicBezTo>
                  <a:cubicBezTo>
                    <a:pt x="209" y="22"/>
                    <a:pt x="209" y="23"/>
                    <a:pt x="209" y="23"/>
                  </a:cubicBezTo>
                  <a:cubicBezTo>
                    <a:pt x="209" y="23"/>
                    <a:pt x="209" y="23"/>
                    <a:pt x="209" y="23"/>
                  </a:cubicBezTo>
                  <a:cubicBezTo>
                    <a:pt x="211" y="23"/>
                    <a:pt x="211" y="23"/>
                    <a:pt x="211" y="23"/>
                  </a:cubicBezTo>
                  <a:cubicBezTo>
                    <a:pt x="211" y="25"/>
                    <a:pt x="211" y="25"/>
                    <a:pt x="211" y="25"/>
                  </a:cubicBezTo>
                  <a:cubicBezTo>
                    <a:pt x="212" y="28"/>
                    <a:pt x="213" y="28"/>
                    <a:pt x="214" y="28"/>
                  </a:cubicBezTo>
                  <a:cubicBezTo>
                    <a:pt x="215" y="28"/>
                    <a:pt x="216" y="28"/>
                    <a:pt x="217" y="27"/>
                  </a:cubicBezTo>
                  <a:cubicBezTo>
                    <a:pt x="218" y="27"/>
                    <a:pt x="219" y="27"/>
                    <a:pt x="220" y="27"/>
                  </a:cubicBezTo>
                  <a:cubicBezTo>
                    <a:pt x="275" y="27"/>
                    <a:pt x="329" y="27"/>
                    <a:pt x="384" y="27"/>
                  </a:cubicBezTo>
                  <a:cubicBezTo>
                    <a:pt x="420" y="27"/>
                    <a:pt x="456" y="27"/>
                    <a:pt x="492" y="27"/>
                  </a:cubicBezTo>
                  <a:cubicBezTo>
                    <a:pt x="493" y="27"/>
                    <a:pt x="495" y="27"/>
                    <a:pt x="496" y="27"/>
                  </a:cubicBezTo>
                  <a:cubicBezTo>
                    <a:pt x="497" y="27"/>
                    <a:pt x="498" y="27"/>
                    <a:pt x="499" y="27"/>
                  </a:cubicBezTo>
                  <a:cubicBezTo>
                    <a:pt x="499" y="27"/>
                    <a:pt x="499" y="27"/>
                    <a:pt x="499" y="27"/>
                  </a:cubicBezTo>
                  <a:cubicBezTo>
                    <a:pt x="499" y="24"/>
                    <a:pt x="501" y="23"/>
                    <a:pt x="503" y="22"/>
                  </a:cubicBezTo>
                  <a:cubicBezTo>
                    <a:pt x="502" y="20"/>
                    <a:pt x="501" y="18"/>
                    <a:pt x="500" y="16"/>
                  </a:cubicBezTo>
                  <a:cubicBezTo>
                    <a:pt x="498" y="11"/>
                    <a:pt x="499" y="6"/>
                    <a:pt x="503" y="3"/>
                  </a:cubicBezTo>
                  <a:cubicBezTo>
                    <a:pt x="506" y="0"/>
                    <a:pt x="508" y="0"/>
                    <a:pt x="511" y="1"/>
                  </a:cubicBezTo>
                  <a:cubicBezTo>
                    <a:pt x="515" y="2"/>
                    <a:pt x="517" y="5"/>
                    <a:pt x="516" y="8"/>
                  </a:cubicBezTo>
                  <a:cubicBezTo>
                    <a:pt x="516" y="8"/>
                    <a:pt x="516" y="9"/>
                    <a:pt x="516" y="9"/>
                  </a:cubicBezTo>
                  <a:cubicBezTo>
                    <a:pt x="517" y="9"/>
                    <a:pt x="517" y="9"/>
                    <a:pt x="517" y="9"/>
                  </a:cubicBezTo>
                  <a:cubicBezTo>
                    <a:pt x="519" y="9"/>
                    <a:pt x="520" y="10"/>
                    <a:pt x="521" y="11"/>
                  </a:cubicBezTo>
                  <a:cubicBezTo>
                    <a:pt x="521" y="10"/>
                    <a:pt x="521" y="10"/>
                    <a:pt x="521" y="9"/>
                  </a:cubicBezTo>
                  <a:cubicBezTo>
                    <a:pt x="521" y="7"/>
                    <a:pt x="523" y="5"/>
                    <a:pt x="526" y="5"/>
                  </a:cubicBezTo>
                  <a:cubicBezTo>
                    <a:pt x="528" y="5"/>
                    <a:pt x="529" y="6"/>
                    <a:pt x="529" y="6"/>
                  </a:cubicBezTo>
                  <a:cubicBezTo>
                    <a:pt x="531" y="8"/>
                    <a:pt x="530" y="9"/>
                    <a:pt x="530" y="10"/>
                  </a:cubicBezTo>
                  <a:cubicBezTo>
                    <a:pt x="530" y="11"/>
                    <a:pt x="530" y="11"/>
                    <a:pt x="530" y="12"/>
                  </a:cubicBezTo>
                  <a:cubicBezTo>
                    <a:pt x="530" y="12"/>
                    <a:pt x="530" y="13"/>
                    <a:pt x="530" y="13"/>
                  </a:cubicBezTo>
                  <a:cubicBezTo>
                    <a:pt x="531" y="13"/>
                    <a:pt x="534" y="13"/>
                    <a:pt x="534" y="17"/>
                  </a:cubicBezTo>
                  <a:cubicBezTo>
                    <a:pt x="534" y="18"/>
                    <a:pt x="534" y="19"/>
                    <a:pt x="534" y="20"/>
                  </a:cubicBezTo>
                  <a:cubicBezTo>
                    <a:pt x="534" y="22"/>
                    <a:pt x="534" y="22"/>
                    <a:pt x="535" y="23"/>
                  </a:cubicBezTo>
                  <a:cubicBezTo>
                    <a:pt x="536" y="23"/>
                    <a:pt x="536" y="24"/>
                    <a:pt x="536" y="25"/>
                  </a:cubicBezTo>
                  <a:cubicBezTo>
                    <a:pt x="536" y="26"/>
                    <a:pt x="536" y="27"/>
                    <a:pt x="536" y="28"/>
                  </a:cubicBezTo>
                  <a:cubicBezTo>
                    <a:pt x="534" y="30"/>
                    <a:pt x="534" y="32"/>
                    <a:pt x="535" y="36"/>
                  </a:cubicBezTo>
                  <a:cubicBezTo>
                    <a:pt x="535" y="37"/>
                    <a:pt x="535" y="38"/>
                    <a:pt x="536" y="39"/>
                  </a:cubicBezTo>
                  <a:cubicBezTo>
                    <a:pt x="537" y="49"/>
                    <a:pt x="544" y="54"/>
                    <a:pt x="551" y="60"/>
                  </a:cubicBezTo>
                  <a:cubicBezTo>
                    <a:pt x="552" y="61"/>
                    <a:pt x="552" y="61"/>
                    <a:pt x="552" y="61"/>
                  </a:cubicBezTo>
                  <a:cubicBezTo>
                    <a:pt x="553" y="62"/>
                    <a:pt x="554" y="62"/>
                    <a:pt x="556" y="62"/>
                  </a:cubicBezTo>
                  <a:cubicBezTo>
                    <a:pt x="557" y="62"/>
                    <a:pt x="558" y="62"/>
                    <a:pt x="559" y="62"/>
                  </a:cubicBezTo>
                  <a:cubicBezTo>
                    <a:pt x="559" y="62"/>
                    <a:pt x="560" y="62"/>
                    <a:pt x="561" y="62"/>
                  </a:cubicBezTo>
                  <a:cubicBezTo>
                    <a:pt x="561" y="62"/>
                    <a:pt x="561" y="61"/>
                    <a:pt x="561" y="61"/>
                  </a:cubicBezTo>
                  <a:cubicBezTo>
                    <a:pt x="562" y="60"/>
                    <a:pt x="563" y="57"/>
                    <a:pt x="569" y="59"/>
                  </a:cubicBezTo>
                  <a:cubicBezTo>
                    <a:pt x="569" y="60"/>
                    <a:pt x="570" y="60"/>
                    <a:pt x="571" y="60"/>
                  </a:cubicBezTo>
                  <a:cubicBezTo>
                    <a:pt x="572" y="61"/>
                    <a:pt x="574" y="62"/>
                    <a:pt x="575" y="62"/>
                  </a:cubicBezTo>
                  <a:cubicBezTo>
                    <a:pt x="584" y="62"/>
                    <a:pt x="595" y="61"/>
                    <a:pt x="605" y="60"/>
                  </a:cubicBezTo>
                  <a:cubicBezTo>
                    <a:pt x="605" y="58"/>
                    <a:pt x="605" y="57"/>
                    <a:pt x="606" y="56"/>
                  </a:cubicBezTo>
                  <a:cubicBezTo>
                    <a:pt x="607" y="55"/>
                    <a:pt x="609" y="54"/>
                    <a:pt x="612" y="56"/>
                  </a:cubicBezTo>
                  <a:cubicBezTo>
                    <a:pt x="613" y="56"/>
                    <a:pt x="613" y="56"/>
                    <a:pt x="613" y="56"/>
                  </a:cubicBezTo>
                  <a:cubicBezTo>
                    <a:pt x="614" y="56"/>
                    <a:pt x="614" y="56"/>
                    <a:pt x="614" y="56"/>
                  </a:cubicBezTo>
                  <a:cubicBezTo>
                    <a:pt x="615" y="54"/>
                    <a:pt x="617" y="54"/>
                    <a:pt x="618" y="54"/>
                  </a:cubicBezTo>
                  <a:cubicBezTo>
                    <a:pt x="619" y="54"/>
                    <a:pt x="620" y="55"/>
                    <a:pt x="620" y="55"/>
                  </a:cubicBezTo>
                  <a:cubicBezTo>
                    <a:pt x="622" y="56"/>
                    <a:pt x="623" y="57"/>
                    <a:pt x="623" y="58"/>
                  </a:cubicBezTo>
                  <a:cubicBezTo>
                    <a:pt x="624" y="59"/>
                    <a:pt x="623" y="61"/>
                    <a:pt x="623" y="61"/>
                  </a:cubicBezTo>
                  <a:cubicBezTo>
                    <a:pt x="622" y="62"/>
                    <a:pt x="622" y="63"/>
                    <a:pt x="622" y="64"/>
                  </a:cubicBezTo>
                  <a:cubicBezTo>
                    <a:pt x="621" y="64"/>
                    <a:pt x="621" y="64"/>
                    <a:pt x="621" y="64"/>
                  </a:cubicBezTo>
                  <a:cubicBezTo>
                    <a:pt x="621" y="65"/>
                    <a:pt x="621" y="65"/>
                    <a:pt x="621" y="65"/>
                  </a:cubicBezTo>
                  <a:cubicBezTo>
                    <a:pt x="621" y="65"/>
                    <a:pt x="622" y="66"/>
                    <a:pt x="623" y="66"/>
                  </a:cubicBezTo>
                  <a:cubicBezTo>
                    <a:pt x="626" y="66"/>
                    <a:pt x="628" y="64"/>
                    <a:pt x="630" y="61"/>
                  </a:cubicBezTo>
                  <a:cubicBezTo>
                    <a:pt x="631" y="61"/>
                    <a:pt x="631" y="60"/>
                    <a:pt x="632" y="59"/>
                  </a:cubicBezTo>
                  <a:cubicBezTo>
                    <a:pt x="633" y="58"/>
                    <a:pt x="633" y="58"/>
                    <a:pt x="633" y="58"/>
                  </a:cubicBezTo>
                  <a:cubicBezTo>
                    <a:pt x="635" y="59"/>
                    <a:pt x="635" y="59"/>
                    <a:pt x="635" y="59"/>
                  </a:cubicBezTo>
                  <a:cubicBezTo>
                    <a:pt x="636" y="59"/>
                    <a:pt x="638" y="61"/>
                    <a:pt x="637" y="64"/>
                  </a:cubicBezTo>
                  <a:cubicBezTo>
                    <a:pt x="638" y="64"/>
                    <a:pt x="639" y="64"/>
                    <a:pt x="639" y="64"/>
                  </a:cubicBezTo>
                  <a:cubicBezTo>
                    <a:pt x="640" y="62"/>
                    <a:pt x="641" y="61"/>
                    <a:pt x="642" y="61"/>
                  </a:cubicBezTo>
                  <a:cubicBezTo>
                    <a:pt x="642" y="60"/>
                    <a:pt x="643" y="60"/>
                    <a:pt x="643" y="59"/>
                  </a:cubicBezTo>
                  <a:cubicBezTo>
                    <a:pt x="643" y="57"/>
                    <a:pt x="646" y="56"/>
                    <a:pt x="648" y="57"/>
                  </a:cubicBezTo>
                  <a:cubicBezTo>
                    <a:pt x="649" y="57"/>
                    <a:pt x="650" y="59"/>
                    <a:pt x="650" y="61"/>
                  </a:cubicBezTo>
                  <a:cubicBezTo>
                    <a:pt x="650" y="62"/>
                    <a:pt x="650" y="62"/>
                    <a:pt x="649" y="63"/>
                  </a:cubicBezTo>
                  <a:cubicBezTo>
                    <a:pt x="651" y="63"/>
                    <a:pt x="651" y="63"/>
                    <a:pt x="652" y="62"/>
                  </a:cubicBezTo>
                  <a:cubicBezTo>
                    <a:pt x="652" y="60"/>
                    <a:pt x="653" y="59"/>
                    <a:pt x="654" y="58"/>
                  </a:cubicBezTo>
                  <a:cubicBezTo>
                    <a:pt x="654" y="58"/>
                    <a:pt x="655" y="58"/>
                    <a:pt x="655" y="57"/>
                  </a:cubicBezTo>
                  <a:cubicBezTo>
                    <a:pt x="656" y="56"/>
                    <a:pt x="656" y="54"/>
                    <a:pt x="659" y="54"/>
                  </a:cubicBezTo>
                  <a:cubicBezTo>
                    <a:pt x="659" y="54"/>
                    <a:pt x="660" y="55"/>
                    <a:pt x="660" y="55"/>
                  </a:cubicBezTo>
                  <a:cubicBezTo>
                    <a:pt x="661" y="55"/>
                    <a:pt x="663" y="56"/>
                    <a:pt x="662" y="59"/>
                  </a:cubicBezTo>
                  <a:cubicBezTo>
                    <a:pt x="663" y="59"/>
                    <a:pt x="663" y="60"/>
                    <a:pt x="662" y="61"/>
                  </a:cubicBezTo>
                  <a:cubicBezTo>
                    <a:pt x="663" y="61"/>
                    <a:pt x="664" y="60"/>
                    <a:pt x="665" y="60"/>
                  </a:cubicBezTo>
                  <a:cubicBezTo>
                    <a:pt x="666" y="59"/>
                    <a:pt x="667" y="57"/>
                    <a:pt x="668" y="56"/>
                  </a:cubicBezTo>
                  <a:cubicBezTo>
                    <a:pt x="668" y="52"/>
                    <a:pt x="670" y="52"/>
                    <a:pt x="671" y="52"/>
                  </a:cubicBezTo>
                  <a:cubicBezTo>
                    <a:pt x="672" y="52"/>
                    <a:pt x="672" y="52"/>
                    <a:pt x="672" y="52"/>
                  </a:cubicBezTo>
                  <a:cubicBezTo>
                    <a:pt x="673" y="52"/>
                    <a:pt x="675" y="53"/>
                    <a:pt x="675" y="56"/>
                  </a:cubicBezTo>
                  <a:cubicBezTo>
                    <a:pt x="675" y="57"/>
                    <a:pt x="675" y="57"/>
                    <a:pt x="675" y="58"/>
                  </a:cubicBezTo>
                  <a:cubicBezTo>
                    <a:pt x="677" y="58"/>
                    <a:pt x="678" y="58"/>
                    <a:pt x="678" y="56"/>
                  </a:cubicBezTo>
                  <a:cubicBezTo>
                    <a:pt x="678" y="54"/>
                    <a:pt x="679" y="53"/>
                    <a:pt x="681" y="51"/>
                  </a:cubicBezTo>
                  <a:cubicBezTo>
                    <a:pt x="681" y="50"/>
                    <a:pt x="682" y="50"/>
                    <a:pt x="682" y="49"/>
                  </a:cubicBezTo>
                  <a:cubicBezTo>
                    <a:pt x="685" y="45"/>
                    <a:pt x="685" y="45"/>
                    <a:pt x="685" y="45"/>
                  </a:cubicBezTo>
                  <a:cubicBezTo>
                    <a:pt x="687" y="50"/>
                    <a:pt x="687" y="50"/>
                    <a:pt x="687" y="50"/>
                  </a:cubicBezTo>
                  <a:cubicBezTo>
                    <a:pt x="687" y="50"/>
                    <a:pt x="688" y="51"/>
                    <a:pt x="688" y="51"/>
                  </a:cubicBezTo>
                  <a:cubicBezTo>
                    <a:pt x="688" y="53"/>
                    <a:pt x="689" y="54"/>
                    <a:pt x="689" y="54"/>
                  </a:cubicBezTo>
                  <a:cubicBezTo>
                    <a:pt x="689" y="54"/>
                    <a:pt x="690" y="54"/>
                    <a:pt x="691" y="54"/>
                  </a:cubicBezTo>
                  <a:cubicBezTo>
                    <a:pt x="690" y="53"/>
                    <a:pt x="690" y="52"/>
                    <a:pt x="691" y="51"/>
                  </a:cubicBezTo>
                  <a:cubicBezTo>
                    <a:pt x="692" y="49"/>
                    <a:pt x="694" y="49"/>
                    <a:pt x="695" y="48"/>
                  </a:cubicBezTo>
                  <a:cubicBezTo>
                    <a:pt x="695" y="48"/>
                    <a:pt x="695" y="48"/>
                    <a:pt x="695" y="48"/>
                  </a:cubicBezTo>
                  <a:cubicBezTo>
                    <a:pt x="696" y="48"/>
                    <a:pt x="697" y="47"/>
                    <a:pt x="698" y="47"/>
                  </a:cubicBezTo>
                  <a:cubicBezTo>
                    <a:pt x="699" y="47"/>
                    <a:pt x="699" y="47"/>
                    <a:pt x="699" y="47"/>
                  </a:cubicBezTo>
                  <a:cubicBezTo>
                    <a:pt x="701" y="48"/>
                    <a:pt x="701" y="48"/>
                    <a:pt x="701" y="48"/>
                  </a:cubicBezTo>
                  <a:cubicBezTo>
                    <a:pt x="702" y="49"/>
                    <a:pt x="702" y="50"/>
                    <a:pt x="702" y="52"/>
                  </a:cubicBezTo>
                  <a:cubicBezTo>
                    <a:pt x="702" y="52"/>
                    <a:pt x="702" y="52"/>
                    <a:pt x="703" y="53"/>
                  </a:cubicBezTo>
                  <a:cubicBezTo>
                    <a:pt x="704" y="54"/>
                    <a:pt x="705" y="55"/>
                    <a:pt x="706" y="57"/>
                  </a:cubicBezTo>
                  <a:cubicBezTo>
                    <a:pt x="706" y="57"/>
                    <a:pt x="707" y="57"/>
                    <a:pt x="707" y="58"/>
                  </a:cubicBezTo>
                  <a:cubicBezTo>
                    <a:pt x="707" y="59"/>
                    <a:pt x="708" y="59"/>
                    <a:pt x="708" y="60"/>
                  </a:cubicBezTo>
                  <a:cubicBezTo>
                    <a:pt x="708" y="62"/>
                    <a:pt x="709" y="62"/>
                    <a:pt x="709" y="62"/>
                  </a:cubicBezTo>
                  <a:cubicBezTo>
                    <a:pt x="709" y="62"/>
                    <a:pt x="710" y="62"/>
                    <a:pt x="711" y="62"/>
                  </a:cubicBezTo>
                  <a:cubicBezTo>
                    <a:pt x="714" y="60"/>
                    <a:pt x="714" y="60"/>
                    <a:pt x="714" y="60"/>
                  </a:cubicBezTo>
                  <a:cubicBezTo>
                    <a:pt x="715" y="63"/>
                    <a:pt x="715" y="63"/>
                    <a:pt x="715" y="63"/>
                  </a:cubicBezTo>
                  <a:cubicBezTo>
                    <a:pt x="716" y="69"/>
                    <a:pt x="714" y="72"/>
                    <a:pt x="709" y="75"/>
                  </a:cubicBezTo>
                  <a:cubicBezTo>
                    <a:pt x="707" y="76"/>
                    <a:pt x="705" y="77"/>
                    <a:pt x="704" y="77"/>
                  </a:cubicBezTo>
                  <a:cubicBezTo>
                    <a:pt x="701" y="78"/>
                    <a:pt x="699" y="79"/>
                    <a:pt x="697" y="81"/>
                  </a:cubicBezTo>
                  <a:cubicBezTo>
                    <a:pt x="695" y="82"/>
                    <a:pt x="694" y="82"/>
                    <a:pt x="693" y="83"/>
                  </a:cubicBezTo>
                  <a:cubicBezTo>
                    <a:pt x="689" y="84"/>
                    <a:pt x="686" y="86"/>
                    <a:pt x="684" y="89"/>
                  </a:cubicBezTo>
                  <a:cubicBezTo>
                    <a:pt x="684" y="90"/>
                    <a:pt x="684" y="90"/>
                    <a:pt x="684" y="90"/>
                  </a:cubicBezTo>
                  <a:cubicBezTo>
                    <a:pt x="682" y="90"/>
                    <a:pt x="682" y="90"/>
                    <a:pt x="682" y="90"/>
                  </a:cubicBezTo>
                  <a:cubicBezTo>
                    <a:pt x="680" y="90"/>
                    <a:pt x="679" y="91"/>
                    <a:pt x="678" y="93"/>
                  </a:cubicBezTo>
                  <a:cubicBezTo>
                    <a:pt x="676" y="94"/>
                    <a:pt x="675" y="95"/>
                    <a:pt x="673" y="96"/>
                  </a:cubicBezTo>
                  <a:cubicBezTo>
                    <a:pt x="671" y="97"/>
                    <a:pt x="670" y="98"/>
                    <a:pt x="668" y="99"/>
                  </a:cubicBezTo>
                  <a:cubicBezTo>
                    <a:pt x="666" y="101"/>
                    <a:pt x="665" y="101"/>
                    <a:pt x="663" y="102"/>
                  </a:cubicBezTo>
                  <a:cubicBezTo>
                    <a:pt x="662" y="103"/>
                    <a:pt x="661" y="104"/>
                    <a:pt x="660" y="104"/>
                  </a:cubicBezTo>
                  <a:cubicBezTo>
                    <a:pt x="659" y="106"/>
                    <a:pt x="656" y="108"/>
                    <a:pt x="653" y="108"/>
                  </a:cubicBezTo>
                  <a:cubicBezTo>
                    <a:pt x="651" y="109"/>
                    <a:pt x="648" y="110"/>
                    <a:pt x="647" y="112"/>
                  </a:cubicBezTo>
                  <a:cubicBezTo>
                    <a:pt x="645" y="114"/>
                    <a:pt x="641" y="116"/>
                    <a:pt x="639" y="117"/>
                  </a:cubicBezTo>
                  <a:cubicBezTo>
                    <a:pt x="637" y="117"/>
                    <a:pt x="636" y="118"/>
                    <a:pt x="635" y="119"/>
                  </a:cubicBezTo>
                  <a:cubicBezTo>
                    <a:pt x="634" y="119"/>
                    <a:pt x="632" y="120"/>
                    <a:pt x="631" y="120"/>
                  </a:cubicBezTo>
                  <a:cubicBezTo>
                    <a:pt x="628" y="122"/>
                    <a:pt x="625" y="123"/>
                    <a:pt x="622" y="125"/>
                  </a:cubicBezTo>
                  <a:cubicBezTo>
                    <a:pt x="616" y="127"/>
                    <a:pt x="610" y="130"/>
                    <a:pt x="604" y="132"/>
                  </a:cubicBezTo>
                  <a:cubicBezTo>
                    <a:pt x="603" y="132"/>
                    <a:pt x="602" y="133"/>
                    <a:pt x="601" y="133"/>
                  </a:cubicBezTo>
                  <a:cubicBezTo>
                    <a:pt x="601" y="133"/>
                    <a:pt x="601" y="133"/>
                    <a:pt x="601" y="133"/>
                  </a:cubicBezTo>
                  <a:lnTo>
                    <a:pt x="113" y="133"/>
                  </a:lnTo>
                  <a:close/>
                  <a:moveTo>
                    <a:pt x="71" y="110"/>
                  </a:moveTo>
                  <a:cubicBezTo>
                    <a:pt x="75" y="111"/>
                    <a:pt x="79" y="112"/>
                    <a:pt x="82" y="114"/>
                  </a:cubicBezTo>
                  <a:cubicBezTo>
                    <a:pt x="84" y="115"/>
                    <a:pt x="85" y="116"/>
                    <a:pt x="87" y="117"/>
                  </a:cubicBezTo>
                  <a:cubicBezTo>
                    <a:pt x="96" y="121"/>
                    <a:pt x="105" y="125"/>
                    <a:pt x="113" y="128"/>
                  </a:cubicBezTo>
                  <a:cubicBezTo>
                    <a:pt x="599" y="128"/>
                    <a:pt x="599" y="128"/>
                    <a:pt x="599" y="128"/>
                  </a:cubicBezTo>
                  <a:cubicBezTo>
                    <a:pt x="600" y="128"/>
                    <a:pt x="601" y="127"/>
                    <a:pt x="602" y="127"/>
                  </a:cubicBezTo>
                  <a:cubicBezTo>
                    <a:pt x="608" y="125"/>
                    <a:pt x="614" y="123"/>
                    <a:pt x="620" y="120"/>
                  </a:cubicBezTo>
                  <a:cubicBezTo>
                    <a:pt x="623" y="118"/>
                    <a:pt x="626" y="117"/>
                    <a:pt x="629" y="116"/>
                  </a:cubicBezTo>
                  <a:cubicBezTo>
                    <a:pt x="630" y="115"/>
                    <a:pt x="631" y="114"/>
                    <a:pt x="632" y="114"/>
                  </a:cubicBezTo>
                  <a:cubicBezTo>
                    <a:pt x="634" y="113"/>
                    <a:pt x="635" y="112"/>
                    <a:pt x="637" y="112"/>
                  </a:cubicBezTo>
                  <a:cubicBezTo>
                    <a:pt x="638" y="111"/>
                    <a:pt x="641" y="110"/>
                    <a:pt x="643" y="108"/>
                  </a:cubicBezTo>
                  <a:cubicBezTo>
                    <a:pt x="645" y="106"/>
                    <a:pt x="649" y="104"/>
                    <a:pt x="652" y="103"/>
                  </a:cubicBezTo>
                  <a:cubicBezTo>
                    <a:pt x="654" y="103"/>
                    <a:pt x="655" y="102"/>
                    <a:pt x="657" y="100"/>
                  </a:cubicBezTo>
                  <a:cubicBezTo>
                    <a:pt x="658" y="99"/>
                    <a:pt x="659" y="98"/>
                    <a:pt x="661" y="98"/>
                  </a:cubicBezTo>
                  <a:cubicBezTo>
                    <a:pt x="662" y="97"/>
                    <a:pt x="663" y="96"/>
                    <a:pt x="665" y="95"/>
                  </a:cubicBezTo>
                  <a:cubicBezTo>
                    <a:pt x="667" y="94"/>
                    <a:pt x="669" y="92"/>
                    <a:pt x="671" y="91"/>
                  </a:cubicBezTo>
                  <a:cubicBezTo>
                    <a:pt x="672" y="91"/>
                    <a:pt x="673" y="90"/>
                    <a:pt x="674" y="89"/>
                  </a:cubicBezTo>
                  <a:cubicBezTo>
                    <a:pt x="676" y="87"/>
                    <a:pt x="677" y="86"/>
                    <a:pt x="680" y="85"/>
                  </a:cubicBezTo>
                  <a:cubicBezTo>
                    <a:pt x="683" y="81"/>
                    <a:pt x="687" y="79"/>
                    <a:pt x="691" y="78"/>
                  </a:cubicBezTo>
                  <a:cubicBezTo>
                    <a:pt x="692" y="77"/>
                    <a:pt x="693" y="77"/>
                    <a:pt x="694" y="76"/>
                  </a:cubicBezTo>
                  <a:cubicBezTo>
                    <a:pt x="697" y="75"/>
                    <a:pt x="699" y="74"/>
                    <a:pt x="701" y="73"/>
                  </a:cubicBezTo>
                  <a:cubicBezTo>
                    <a:pt x="703" y="72"/>
                    <a:pt x="705" y="71"/>
                    <a:pt x="706" y="70"/>
                  </a:cubicBezTo>
                  <a:cubicBezTo>
                    <a:pt x="708" y="70"/>
                    <a:pt x="709" y="69"/>
                    <a:pt x="709" y="68"/>
                  </a:cubicBezTo>
                  <a:cubicBezTo>
                    <a:pt x="707" y="68"/>
                    <a:pt x="704" y="67"/>
                    <a:pt x="703" y="62"/>
                  </a:cubicBezTo>
                  <a:cubicBezTo>
                    <a:pt x="703" y="62"/>
                    <a:pt x="702" y="61"/>
                    <a:pt x="702" y="60"/>
                  </a:cubicBezTo>
                  <a:cubicBezTo>
                    <a:pt x="702" y="60"/>
                    <a:pt x="701" y="59"/>
                    <a:pt x="701" y="58"/>
                  </a:cubicBezTo>
                  <a:cubicBezTo>
                    <a:pt x="701" y="58"/>
                    <a:pt x="700" y="57"/>
                    <a:pt x="700" y="57"/>
                  </a:cubicBezTo>
                  <a:cubicBezTo>
                    <a:pt x="699" y="56"/>
                    <a:pt x="698" y="55"/>
                    <a:pt x="697" y="54"/>
                  </a:cubicBezTo>
                  <a:cubicBezTo>
                    <a:pt x="697" y="55"/>
                    <a:pt x="697" y="55"/>
                    <a:pt x="697" y="55"/>
                  </a:cubicBezTo>
                  <a:cubicBezTo>
                    <a:pt x="697" y="57"/>
                    <a:pt x="695" y="57"/>
                    <a:pt x="695" y="58"/>
                  </a:cubicBezTo>
                  <a:cubicBezTo>
                    <a:pt x="693" y="59"/>
                    <a:pt x="691" y="60"/>
                    <a:pt x="689" y="60"/>
                  </a:cubicBezTo>
                  <a:cubicBezTo>
                    <a:pt x="687" y="60"/>
                    <a:pt x="685" y="59"/>
                    <a:pt x="684" y="56"/>
                  </a:cubicBezTo>
                  <a:cubicBezTo>
                    <a:pt x="683" y="56"/>
                    <a:pt x="683" y="57"/>
                    <a:pt x="683" y="57"/>
                  </a:cubicBezTo>
                  <a:cubicBezTo>
                    <a:pt x="682" y="63"/>
                    <a:pt x="677" y="63"/>
                    <a:pt x="675" y="63"/>
                  </a:cubicBezTo>
                  <a:cubicBezTo>
                    <a:pt x="674" y="63"/>
                    <a:pt x="674" y="63"/>
                    <a:pt x="674" y="63"/>
                  </a:cubicBezTo>
                  <a:cubicBezTo>
                    <a:pt x="672" y="63"/>
                    <a:pt x="671" y="63"/>
                    <a:pt x="671" y="62"/>
                  </a:cubicBezTo>
                  <a:cubicBezTo>
                    <a:pt x="671" y="62"/>
                    <a:pt x="670" y="62"/>
                    <a:pt x="670" y="62"/>
                  </a:cubicBezTo>
                  <a:cubicBezTo>
                    <a:pt x="670" y="62"/>
                    <a:pt x="670" y="63"/>
                    <a:pt x="669" y="63"/>
                  </a:cubicBezTo>
                  <a:cubicBezTo>
                    <a:pt x="667" y="66"/>
                    <a:pt x="663" y="67"/>
                    <a:pt x="660" y="66"/>
                  </a:cubicBezTo>
                  <a:cubicBezTo>
                    <a:pt x="658" y="66"/>
                    <a:pt x="657" y="65"/>
                    <a:pt x="657" y="64"/>
                  </a:cubicBezTo>
                  <a:cubicBezTo>
                    <a:pt x="657" y="64"/>
                    <a:pt x="657" y="64"/>
                    <a:pt x="657" y="64"/>
                  </a:cubicBezTo>
                  <a:cubicBezTo>
                    <a:pt x="656" y="67"/>
                    <a:pt x="653" y="68"/>
                    <a:pt x="650" y="68"/>
                  </a:cubicBezTo>
                  <a:cubicBezTo>
                    <a:pt x="649" y="68"/>
                    <a:pt x="648" y="68"/>
                    <a:pt x="647" y="68"/>
                  </a:cubicBezTo>
                  <a:cubicBezTo>
                    <a:pt x="645" y="68"/>
                    <a:pt x="645" y="67"/>
                    <a:pt x="644" y="66"/>
                  </a:cubicBezTo>
                  <a:cubicBezTo>
                    <a:pt x="644" y="66"/>
                    <a:pt x="644" y="66"/>
                    <a:pt x="644" y="66"/>
                  </a:cubicBezTo>
                  <a:cubicBezTo>
                    <a:pt x="644" y="66"/>
                    <a:pt x="644" y="66"/>
                    <a:pt x="644" y="66"/>
                  </a:cubicBezTo>
                  <a:cubicBezTo>
                    <a:pt x="643" y="69"/>
                    <a:pt x="639" y="70"/>
                    <a:pt x="637" y="70"/>
                  </a:cubicBezTo>
                  <a:cubicBezTo>
                    <a:pt x="637" y="70"/>
                    <a:pt x="636" y="70"/>
                    <a:pt x="636" y="70"/>
                  </a:cubicBezTo>
                  <a:cubicBezTo>
                    <a:pt x="636" y="70"/>
                    <a:pt x="636" y="70"/>
                    <a:pt x="636" y="70"/>
                  </a:cubicBezTo>
                  <a:cubicBezTo>
                    <a:pt x="634" y="70"/>
                    <a:pt x="633" y="69"/>
                    <a:pt x="633" y="69"/>
                  </a:cubicBezTo>
                  <a:cubicBezTo>
                    <a:pt x="632" y="68"/>
                    <a:pt x="632" y="68"/>
                    <a:pt x="632" y="67"/>
                  </a:cubicBezTo>
                  <a:cubicBezTo>
                    <a:pt x="630" y="69"/>
                    <a:pt x="627" y="71"/>
                    <a:pt x="622" y="71"/>
                  </a:cubicBezTo>
                  <a:cubicBezTo>
                    <a:pt x="620" y="71"/>
                    <a:pt x="618" y="70"/>
                    <a:pt x="616" y="69"/>
                  </a:cubicBezTo>
                  <a:cubicBezTo>
                    <a:pt x="615" y="67"/>
                    <a:pt x="615" y="65"/>
                    <a:pt x="616" y="63"/>
                  </a:cubicBezTo>
                  <a:cubicBezTo>
                    <a:pt x="616" y="62"/>
                    <a:pt x="617" y="61"/>
                    <a:pt x="617" y="61"/>
                  </a:cubicBezTo>
                  <a:cubicBezTo>
                    <a:pt x="617" y="60"/>
                    <a:pt x="617" y="60"/>
                    <a:pt x="618" y="60"/>
                  </a:cubicBezTo>
                  <a:cubicBezTo>
                    <a:pt x="618" y="60"/>
                    <a:pt x="618" y="60"/>
                    <a:pt x="618" y="60"/>
                  </a:cubicBezTo>
                  <a:cubicBezTo>
                    <a:pt x="616" y="61"/>
                    <a:pt x="615" y="61"/>
                    <a:pt x="613" y="61"/>
                  </a:cubicBezTo>
                  <a:cubicBezTo>
                    <a:pt x="612" y="61"/>
                    <a:pt x="611" y="61"/>
                    <a:pt x="610" y="61"/>
                  </a:cubicBezTo>
                  <a:cubicBezTo>
                    <a:pt x="610" y="62"/>
                    <a:pt x="610" y="63"/>
                    <a:pt x="609" y="64"/>
                  </a:cubicBezTo>
                  <a:cubicBezTo>
                    <a:pt x="608" y="65"/>
                    <a:pt x="607" y="65"/>
                    <a:pt x="606" y="66"/>
                  </a:cubicBezTo>
                  <a:cubicBezTo>
                    <a:pt x="595" y="67"/>
                    <a:pt x="585" y="67"/>
                    <a:pt x="576" y="67"/>
                  </a:cubicBezTo>
                  <a:cubicBezTo>
                    <a:pt x="576" y="67"/>
                    <a:pt x="576" y="67"/>
                    <a:pt x="576" y="67"/>
                  </a:cubicBezTo>
                  <a:cubicBezTo>
                    <a:pt x="572" y="67"/>
                    <a:pt x="570" y="66"/>
                    <a:pt x="568" y="65"/>
                  </a:cubicBezTo>
                  <a:cubicBezTo>
                    <a:pt x="568" y="65"/>
                    <a:pt x="567" y="64"/>
                    <a:pt x="567" y="64"/>
                  </a:cubicBezTo>
                  <a:cubicBezTo>
                    <a:pt x="566" y="64"/>
                    <a:pt x="566" y="64"/>
                    <a:pt x="566" y="64"/>
                  </a:cubicBezTo>
                  <a:cubicBezTo>
                    <a:pt x="566" y="64"/>
                    <a:pt x="566" y="64"/>
                    <a:pt x="565" y="64"/>
                  </a:cubicBezTo>
                  <a:cubicBezTo>
                    <a:pt x="565" y="65"/>
                    <a:pt x="564" y="67"/>
                    <a:pt x="562" y="67"/>
                  </a:cubicBezTo>
                  <a:cubicBezTo>
                    <a:pt x="561" y="67"/>
                    <a:pt x="560" y="67"/>
                    <a:pt x="559" y="67"/>
                  </a:cubicBezTo>
                  <a:cubicBezTo>
                    <a:pt x="558" y="67"/>
                    <a:pt x="557" y="67"/>
                    <a:pt x="556" y="67"/>
                  </a:cubicBezTo>
                  <a:cubicBezTo>
                    <a:pt x="554" y="67"/>
                    <a:pt x="551" y="67"/>
                    <a:pt x="549" y="65"/>
                  </a:cubicBezTo>
                  <a:cubicBezTo>
                    <a:pt x="547" y="64"/>
                    <a:pt x="547" y="64"/>
                    <a:pt x="547" y="64"/>
                  </a:cubicBezTo>
                  <a:cubicBezTo>
                    <a:pt x="540" y="58"/>
                    <a:pt x="532" y="52"/>
                    <a:pt x="530" y="40"/>
                  </a:cubicBezTo>
                  <a:cubicBezTo>
                    <a:pt x="530" y="39"/>
                    <a:pt x="530" y="38"/>
                    <a:pt x="530" y="37"/>
                  </a:cubicBezTo>
                  <a:cubicBezTo>
                    <a:pt x="529" y="34"/>
                    <a:pt x="528" y="30"/>
                    <a:pt x="530" y="26"/>
                  </a:cubicBezTo>
                  <a:cubicBezTo>
                    <a:pt x="529" y="24"/>
                    <a:pt x="529" y="22"/>
                    <a:pt x="529" y="20"/>
                  </a:cubicBezTo>
                  <a:cubicBezTo>
                    <a:pt x="529" y="19"/>
                    <a:pt x="529" y="19"/>
                    <a:pt x="529" y="18"/>
                  </a:cubicBezTo>
                  <a:cubicBezTo>
                    <a:pt x="529" y="18"/>
                    <a:pt x="529" y="18"/>
                    <a:pt x="529" y="18"/>
                  </a:cubicBezTo>
                  <a:cubicBezTo>
                    <a:pt x="528" y="18"/>
                    <a:pt x="527" y="17"/>
                    <a:pt x="526" y="16"/>
                  </a:cubicBezTo>
                  <a:cubicBezTo>
                    <a:pt x="526" y="17"/>
                    <a:pt x="525" y="17"/>
                    <a:pt x="525" y="17"/>
                  </a:cubicBezTo>
                  <a:cubicBezTo>
                    <a:pt x="522" y="19"/>
                    <a:pt x="520" y="17"/>
                    <a:pt x="519" y="17"/>
                  </a:cubicBezTo>
                  <a:cubicBezTo>
                    <a:pt x="518" y="16"/>
                    <a:pt x="518" y="15"/>
                    <a:pt x="518" y="15"/>
                  </a:cubicBezTo>
                  <a:cubicBezTo>
                    <a:pt x="517" y="14"/>
                    <a:pt x="517" y="14"/>
                    <a:pt x="517" y="14"/>
                  </a:cubicBezTo>
                  <a:cubicBezTo>
                    <a:pt x="516" y="14"/>
                    <a:pt x="514" y="14"/>
                    <a:pt x="512" y="12"/>
                  </a:cubicBezTo>
                  <a:cubicBezTo>
                    <a:pt x="511" y="11"/>
                    <a:pt x="511" y="9"/>
                    <a:pt x="511" y="8"/>
                  </a:cubicBezTo>
                  <a:cubicBezTo>
                    <a:pt x="511" y="7"/>
                    <a:pt x="511" y="7"/>
                    <a:pt x="509" y="6"/>
                  </a:cubicBezTo>
                  <a:cubicBezTo>
                    <a:pt x="509" y="6"/>
                    <a:pt x="508" y="5"/>
                    <a:pt x="507" y="7"/>
                  </a:cubicBezTo>
                  <a:cubicBezTo>
                    <a:pt x="505" y="9"/>
                    <a:pt x="504" y="11"/>
                    <a:pt x="505" y="14"/>
                  </a:cubicBezTo>
                  <a:cubicBezTo>
                    <a:pt x="506" y="16"/>
                    <a:pt x="507" y="19"/>
                    <a:pt x="508" y="21"/>
                  </a:cubicBezTo>
                  <a:cubicBezTo>
                    <a:pt x="508" y="22"/>
                    <a:pt x="509" y="24"/>
                    <a:pt x="507" y="26"/>
                  </a:cubicBezTo>
                  <a:cubicBezTo>
                    <a:pt x="507" y="26"/>
                    <a:pt x="506" y="27"/>
                    <a:pt x="504" y="27"/>
                  </a:cubicBezTo>
                  <a:cubicBezTo>
                    <a:pt x="504" y="30"/>
                    <a:pt x="503" y="32"/>
                    <a:pt x="499" y="32"/>
                  </a:cubicBezTo>
                  <a:cubicBezTo>
                    <a:pt x="498" y="32"/>
                    <a:pt x="497" y="32"/>
                    <a:pt x="496" y="32"/>
                  </a:cubicBezTo>
                  <a:cubicBezTo>
                    <a:pt x="495" y="32"/>
                    <a:pt x="494" y="33"/>
                    <a:pt x="492" y="33"/>
                  </a:cubicBezTo>
                  <a:cubicBezTo>
                    <a:pt x="456" y="32"/>
                    <a:pt x="420" y="32"/>
                    <a:pt x="384" y="32"/>
                  </a:cubicBezTo>
                  <a:cubicBezTo>
                    <a:pt x="329" y="33"/>
                    <a:pt x="275" y="33"/>
                    <a:pt x="220" y="32"/>
                  </a:cubicBezTo>
                  <a:cubicBezTo>
                    <a:pt x="220" y="32"/>
                    <a:pt x="219" y="33"/>
                    <a:pt x="218" y="33"/>
                  </a:cubicBezTo>
                  <a:cubicBezTo>
                    <a:pt x="217" y="33"/>
                    <a:pt x="215" y="33"/>
                    <a:pt x="214" y="33"/>
                  </a:cubicBezTo>
                  <a:cubicBezTo>
                    <a:pt x="210" y="33"/>
                    <a:pt x="208" y="31"/>
                    <a:pt x="207" y="28"/>
                  </a:cubicBezTo>
                  <a:cubicBezTo>
                    <a:pt x="205" y="27"/>
                    <a:pt x="205" y="27"/>
                    <a:pt x="204" y="26"/>
                  </a:cubicBezTo>
                  <a:cubicBezTo>
                    <a:pt x="203" y="24"/>
                    <a:pt x="204" y="22"/>
                    <a:pt x="204" y="21"/>
                  </a:cubicBezTo>
                  <a:cubicBezTo>
                    <a:pt x="204" y="20"/>
                    <a:pt x="204" y="20"/>
                    <a:pt x="204" y="20"/>
                  </a:cubicBezTo>
                  <a:cubicBezTo>
                    <a:pt x="205" y="18"/>
                    <a:pt x="205" y="17"/>
                    <a:pt x="206" y="15"/>
                  </a:cubicBezTo>
                  <a:cubicBezTo>
                    <a:pt x="206" y="15"/>
                    <a:pt x="206" y="14"/>
                    <a:pt x="206" y="14"/>
                  </a:cubicBezTo>
                  <a:cubicBezTo>
                    <a:pt x="207" y="12"/>
                    <a:pt x="206" y="8"/>
                    <a:pt x="204" y="7"/>
                  </a:cubicBezTo>
                  <a:cubicBezTo>
                    <a:pt x="203" y="6"/>
                    <a:pt x="202" y="6"/>
                    <a:pt x="202" y="6"/>
                  </a:cubicBezTo>
                  <a:cubicBezTo>
                    <a:pt x="201" y="6"/>
                    <a:pt x="201" y="6"/>
                    <a:pt x="201" y="6"/>
                  </a:cubicBezTo>
                  <a:cubicBezTo>
                    <a:pt x="200" y="11"/>
                    <a:pt x="198" y="14"/>
                    <a:pt x="194" y="15"/>
                  </a:cubicBezTo>
                  <a:cubicBezTo>
                    <a:pt x="194" y="15"/>
                    <a:pt x="194" y="16"/>
                    <a:pt x="194" y="16"/>
                  </a:cubicBezTo>
                  <a:cubicBezTo>
                    <a:pt x="193" y="16"/>
                    <a:pt x="193" y="16"/>
                    <a:pt x="193" y="16"/>
                  </a:cubicBezTo>
                  <a:cubicBezTo>
                    <a:pt x="192" y="17"/>
                    <a:pt x="190" y="19"/>
                    <a:pt x="187" y="18"/>
                  </a:cubicBezTo>
                  <a:cubicBezTo>
                    <a:pt x="186" y="18"/>
                    <a:pt x="186" y="17"/>
                    <a:pt x="185" y="17"/>
                  </a:cubicBezTo>
                  <a:cubicBezTo>
                    <a:pt x="185" y="17"/>
                    <a:pt x="184" y="17"/>
                    <a:pt x="184" y="17"/>
                  </a:cubicBezTo>
                  <a:cubicBezTo>
                    <a:pt x="183" y="18"/>
                    <a:pt x="183" y="18"/>
                    <a:pt x="183" y="20"/>
                  </a:cubicBezTo>
                  <a:cubicBezTo>
                    <a:pt x="183" y="21"/>
                    <a:pt x="183" y="22"/>
                    <a:pt x="182" y="23"/>
                  </a:cubicBezTo>
                  <a:cubicBezTo>
                    <a:pt x="181" y="25"/>
                    <a:pt x="181" y="26"/>
                    <a:pt x="182" y="28"/>
                  </a:cubicBezTo>
                  <a:cubicBezTo>
                    <a:pt x="182" y="29"/>
                    <a:pt x="182" y="30"/>
                    <a:pt x="182" y="30"/>
                  </a:cubicBezTo>
                  <a:cubicBezTo>
                    <a:pt x="183" y="35"/>
                    <a:pt x="182" y="38"/>
                    <a:pt x="181" y="42"/>
                  </a:cubicBezTo>
                  <a:cubicBezTo>
                    <a:pt x="180" y="43"/>
                    <a:pt x="180" y="45"/>
                    <a:pt x="180" y="47"/>
                  </a:cubicBezTo>
                  <a:cubicBezTo>
                    <a:pt x="179" y="48"/>
                    <a:pt x="178" y="49"/>
                    <a:pt x="178" y="50"/>
                  </a:cubicBezTo>
                  <a:cubicBezTo>
                    <a:pt x="177" y="51"/>
                    <a:pt x="177" y="51"/>
                    <a:pt x="177" y="51"/>
                  </a:cubicBezTo>
                  <a:cubicBezTo>
                    <a:pt x="174" y="54"/>
                    <a:pt x="171" y="58"/>
                    <a:pt x="167" y="62"/>
                  </a:cubicBezTo>
                  <a:cubicBezTo>
                    <a:pt x="163" y="65"/>
                    <a:pt x="158" y="67"/>
                    <a:pt x="152" y="67"/>
                  </a:cubicBezTo>
                  <a:cubicBezTo>
                    <a:pt x="152" y="67"/>
                    <a:pt x="152" y="67"/>
                    <a:pt x="152" y="67"/>
                  </a:cubicBezTo>
                  <a:cubicBezTo>
                    <a:pt x="151" y="65"/>
                    <a:pt x="151" y="65"/>
                    <a:pt x="151" y="65"/>
                  </a:cubicBezTo>
                  <a:cubicBezTo>
                    <a:pt x="151" y="67"/>
                    <a:pt x="151" y="67"/>
                    <a:pt x="151" y="67"/>
                  </a:cubicBezTo>
                  <a:cubicBezTo>
                    <a:pt x="150" y="67"/>
                    <a:pt x="147" y="67"/>
                    <a:pt x="146" y="65"/>
                  </a:cubicBezTo>
                  <a:cubicBezTo>
                    <a:pt x="144" y="66"/>
                    <a:pt x="143" y="66"/>
                    <a:pt x="142" y="65"/>
                  </a:cubicBezTo>
                  <a:cubicBezTo>
                    <a:pt x="141" y="67"/>
                    <a:pt x="140" y="68"/>
                    <a:pt x="137" y="68"/>
                  </a:cubicBezTo>
                  <a:cubicBezTo>
                    <a:pt x="127" y="67"/>
                    <a:pt x="127" y="67"/>
                    <a:pt x="127" y="67"/>
                  </a:cubicBezTo>
                  <a:cubicBezTo>
                    <a:pt x="121" y="67"/>
                    <a:pt x="115" y="67"/>
                    <a:pt x="108" y="66"/>
                  </a:cubicBezTo>
                  <a:cubicBezTo>
                    <a:pt x="108" y="66"/>
                    <a:pt x="106" y="66"/>
                    <a:pt x="105" y="65"/>
                  </a:cubicBezTo>
                  <a:cubicBezTo>
                    <a:pt x="104" y="64"/>
                    <a:pt x="104" y="62"/>
                    <a:pt x="104" y="61"/>
                  </a:cubicBezTo>
                  <a:cubicBezTo>
                    <a:pt x="104" y="61"/>
                    <a:pt x="104" y="61"/>
                    <a:pt x="104" y="61"/>
                  </a:cubicBezTo>
                  <a:cubicBezTo>
                    <a:pt x="104" y="61"/>
                    <a:pt x="104" y="61"/>
                    <a:pt x="104" y="61"/>
                  </a:cubicBezTo>
                  <a:cubicBezTo>
                    <a:pt x="103" y="62"/>
                    <a:pt x="101" y="62"/>
                    <a:pt x="100" y="62"/>
                  </a:cubicBezTo>
                  <a:cubicBezTo>
                    <a:pt x="98" y="62"/>
                    <a:pt x="97" y="61"/>
                    <a:pt x="96" y="60"/>
                  </a:cubicBezTo>
                  <a:cubicBezTo>
                    <a:pt x="96" y="60"/>
                    <a:pt x="96" y="60"/>
                    <a:pt x="96" y="60"/>
                  </a:cubicBezTo>
                  <a:cubicBezTo>
                    <a:pt x="96" y="61"/>
                    <a:pt x="96" y="62"/>
                    <a:pt x="97" y="63"/>
                  </a:cubicBezTo>
                  <a:cubicBezTo>
                    <a:pt x="97" y="64"/>
                    <a:pt x="97" y="65"/>
                    <a:pt x="97" y="66"/>
                  </a:cubicBezTo>
                  <a:cubicBezTo>
                    <a:pt x="98" y="68"/>
                    <a:pt x="97" y="70"/>
                    <a:pt x="96" y="71"/>
                  </a:cubicBezTo>
                  <a:cubicBezTo>
                    <a:pt x="95" y="71"/>
                    <a:pt x="94" y="71"/>
                    <a:pt x="93" y="71"/>
                  </a:cubicBezTo>
                  <a:cubicBezTo>
                    <a:pt x="90" y="71"/>
                    <a:pt x="84" y="70"/>
                    <a:pt x="82" y="68"/>
                  </a:cubicBezTo>
                  <a:cubicBezTo>
                    <a:pt x="82" y="68"/>
                    <a:pt x="81" y="67"/>
                    <a:pt x="81" y="67"/>
                  </a:cubicBezTo>
                  <a:cubicBezTo>
                    <a:pt x="81" y="67"/>
                    <a:pt x="81" y="68"/>
                    <a:pt x="80" y="68"/>
                  </a:cubicBezTo>
                  <a:cubicBezTo>
                    <a:pt x="79" y="70"/>
                    <a:pt x="77" y="70"/>
                    <a:pt x="74" y="69"/>
                  </a:cubicBezTo>
                  <a:cubicBezTo>
                    <a:pt x="72" y="69"/>
                    <a:pt x="71" y="67"/>
                    <a:pt x="70" y="66"/>
                  </a:cubicBezTo>
                  <a:cubicBezTo>
                    <a:pt x="69" y="66"/>
                    <a:pt x="69" y="66"/>
                    <a:pt x="69" y="66"/>
                  </a:cubicBezTo>
                  <a:cubicBezTo>
                    <a:pt x="68" y="68"/>
                    <a:pt x="66" y="68"/>
                    <a:pt x="64" y="68"/>
                  </a:cubicBezTo>
                  <a:cubicBezTo>
                    <a:pt x="60" y="68"/>
                    <a:pt x="58" y="65"/>
                    <a:pt x="57" y="63"/>
                  </a:cubicBezTo>
                  <a:cubicBezTo>
                    <a:pt x="57" y="63"/>
                    <a:pt x="57" y="63"/>
                    <a:pt x="57" y="63"/>
                  </a:cubicBezTo>
                  <a:cubicBezTo>
                    <a:pt x="57" y="63"/>
                    <a:pt x="57" y="64"/>
                    <a:pt x="56" y="64"/>
                  </a:cubicBezTo>
                  <a:cubicBezTo>
                    <a:pt x="56" y="65"/>
                    <a:pt x="55" y="66"/>
                    <a:pt x="53" y="66"/>
                  </a:cubicBezTo>
                  <a:cubicBezTo>
                    <a:pt x="52" y="66"/>
                    <a:pt x="52" y="66"/>
                    <a:pt x="52" y="66"/>
                  </a:cubicBezTo>
                  <a:cubicBezTo>
                    <a:pt x="49" y="66"/>
                    <a:pt x="47" y="65"/>
                    <a:pt x="46" y="62"/>
                  </a:cubicBezTo>
                  <a:cubicBezTo>
                    <a:pt x="46" y="61"/>
                    <a:pt x="46" y="61"/>
                    <a:pt x="45" y="61"/>
                  </a:cubicBezTo>
                  <a:cubicBezTo>
                    <a:pt x="44" y="63"/>
                    <a:pt x="42" y="64"/>
                    <a:pt x="37" y="62"/>
                  </a:cubicBezTo>
                  <a:cubicBezTo>
                    <a:pt x="35" y="61"/>
                    <a:pt x="35" y="60"/>
                    <a:pt x="34" y="59"/>
                  </a:cubicBezTo>
                  <a:cubicBezTo>
                    <a:pt x="34" y="58"/>
                    <a:pt x="34" y="58"/>
                    <a:pt x="33" y="57"/>
                  </a:cubicBezTo>
                  <a:cubicBezTo>
                    <a:pt x="33" y="58"/>
                    <a:pt x="33" y="58"/>
                    <a:pt x="32" y="59"/>
                  </a:cubicBezTo>
                  <a:cubicBezTo>
                    <a:pt x="32" y="59"/>
                    <a:pt x="31" y="60"/>
                    <a:pt x="30" y="60"/>
                  </a:cubicBezTo>
                  <a:cubicBezTo>
                    <a:pt x="28" y="60"/>
                    <a:pt x="27" y="60"/>
                    <a:pt x="25" y="59"/>
                  </a:cubicBezTo>
                  <a:cubicBezTo>
                    <a:pt x="24" y="59"/>
                    <a:pt x="24" y="59"/>
                    <a:pt x="24" y="59"/>
                  </a:cubicBezTo>
                  <a:cubicBezTo>
                    <a:pt x="23" y="58"/>
                    <a:pt x="22" y="58"/>
                    <a:pt x="22" y="58"/>
                  </a:cubicBezTo>
                  <a:cubicBezTo>
                    <a:pt x="21" y="58"/>
                    <a:pt x="19" y="57"/>
                    <a:pt x="19" y="55"/>
                  </a:cubicBezTo>
                  <a:cubicBezTo>
                    <a:pt x="19" y="54"/>
                    <a:pt x="19" y="54"/>
                    <a:pt x="19" y="54"/>
                  </a:cubicBezTo>
                  <a:cubicBezTo>
                    <a:pt x="19" y="53"/>
                    <a:pt x="19" y="53"/>
                    <a:pt x="19" y="53"/>
                  </a:cubicBezTo>
                  <a:cubicBezTo>
                    <a:pt x="19" y="53"/>
                    <a:pt x="19" y="53"/>
                    <a:pt x="18" y="53"/>
                  </a:cubicBezTo>
                  <a:cubicBezTo>
                    <a:pt x="18" y="56"/>
                    <a:pt x="15" y="57"/>
                    <a:pt x="14" y="58"/>
                  </a:cubicBezTo>
                  <a:cubicBezTo>
                    <a:pt x="13" y="58"/>
                    <a:pt x="12" y="59"/>
                    <a:pt x="12" y="59"/>
                  </a:cubicBezTo>
                  <a:cubicBezTo>
                    <a:pt x="11" y="60"/>
                    <a:pt x="11" y="60"/>
                    <a:pt x="11" y="60"/>
                  </a:cubicBezTo>
                  <a:cubicBezTo>
                    <a:pt x="12" y="62"/>
                    <a:pt x="12" y="64"/>
                    <a:pt x="11" y="65"/>
                  </a:cubicBezTo>
                  <a:cubicBezTo>
                    <a:pt x="11" y="66"/>
                    <a:pt x="9" y="67"/>
                    <a:pt x="6" y="67"/>
                  </a:cubicBezTo>
                  <a:cubicBezTo>
                    <a:pt x="7" y="69"/>
                    <a:pt x="8" y="69"/>
                    <a:pt x="9" y="70"/>
                  </a:cubicBezTo>
                  <a:cubicBezTo>
                    <a:pt x="12" y="71"/>
                    <a:pt x="16" y="73"/>
                    <a:pt x="19" y="75"/>
                  </a:cubicBezTo>
                  <a:cubicBezTo>
                    <a:pt x="23" y="77"/>
                    <a:pt x="27" y="79"/>
                    <a:pt x="32" y="81"/>
                  </a:cubicBezTo>
                  <a:cubicBezTo>
                    <a:pt x="35" y="82"/>
                    <a:pt x="35" y="84"/>
                    <a:pt x="35" y="85"/>
                  </a:cubicBezTo>
                  <a:cubicBezTo>
                    <a:pt x="35" y="85"/>
                    <a:pt x="35" y="86"/>
                    <a:pt x="35" y="86"/>
                  </a:cubicBezTo>
                  <a:cubicBezTo>
                    <a:pt x="35" y="86"/>
                    <a:pt x="36" y="86"/>
                    <a:pt x="37" y="86"/>
                  </a:cubicBezTo>
                  <a:cubicBezTo>
                    <a:pt x="37" y="86"/>
                    <a:pt x="37" y="86"/>
                    <a:pt x="37" y="86"/>
                  </a:cubicBezTo>
                  <a:cubicBezTo>
                    <a:pt x="41" y="86"/>
                    <a:pt x="42" y="89"/>
                    <a:pt x="42" y="90"/>
                  </a:cubicBezTo>
                  <a:cubicBezTo>
                    <a:pt x="42" y="90"/>
                    <a:pt x="42" y="90"/>
                    <a:pt x="42" y="90"/>
                  </a:cubicBezTo>
                  <a:cubicBezTo>
                    <a:pt x="43" y="90"/>
                    <a:pt x="43" y="90"/>
                    <a:pt x="43" y="90"/>
                  </a:cubicBezTo>
                  <a:cubicBezTo>
                    <a:pt x="43" y="90"/>
                    <a:pt x="44" y="90"/>
                    <a:pt x="44" y="90"/>
                  </a:cubicBezTo>
                  <a:cubicBezTo>
                    <a:pt x="45" y="91"/>
                    <a:pt x="47" y="91"/>
                    <a:pt x="47" y="93"/>
                  </a:cubicBezTo>
                  <a:cubicBezTo>
                    <a:pt x="48" y="95"/>
                    <a:pt x="49" y="95"/>
                    <a:pt x="51" y="96"/>
                  </a:cubicBezTo>
                  <a:cubicBezTo>
                    <a:pt x="53" y="97"/>
                    <a:pt x="55" y="97"/>
                    <a:pt x="56" y="99"/>
                  </a:cubicBezTo>
                  <a:cubicBezTo>
                    <a:pt x="59" y="100"/>
                    <a:pt x="60" y="102"/>
                    <a:pt x="60" y="103"/>
                  </a:cubicBezTo>
                  <a:cubicBezTo>
                    <a:pt x="60" y="103"/>
                    <a:pt x="61" y="103"/>
                    <a:pt x="61" y="103"/>
                  </a:cubicBezTo>
                  <a:cubicBezTo>
                    <a:pt x="64" y="103"/>
                    <a:pt x="65" y="104"/>
                    <a:pt x="65" y="106"/>
                  </a:cubicBezTo>
                  <a:cubicBezTo>
                    <a:pt x="65" y="106"/>
                    <a:pt x="65" y="106"/>
                    <a:pt x="67" y="106"/>
                  </a:cubicBezTo>
                  <a:cubicBezTo>
                    <a:pt x="68" y="107"/>
                    <a:pt x="70" y="108"/>
                    <a:pt x="71" y="110"/>
                  </a:cubicBez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14" name="Freeform 11">
              <a:extLst>
                <a:ext uri="{FF2B5EF4-FFF2-40B4-BE49-F238E27FC236}">
                  <a16:creationId xmlns:a16="http://schemas.microsoft.com/office/drawing/2014/main" id="{2B21E5AE-396B-40AF-9CF4-4FAA02765169}"/>
                </a:ext>
              </a:extLst>
            </p:cNvPr>
            <p:cNvSpPr>
              <a:spLocks/>
            </p:cNvSpPr>
            <p:nvPr/>
          </p:nvSpPr>
          <p:spPr bwMode="auto">
            <a:xfrm>
              <a:off x="3757" y="1938"/>
              <a:ext cx="130" cy="183"/>
            </a:xfrm>
            <a:custGeom>
              <a:avLst/>
              <a:gdLst>
                <a:gd name="T0" fmla="*/ 62 w 76"/>
                <a:gd name="T1" fmla="*/ 8 h 106"/>
                <a:gd name="T2" fmla="*/ 73 w 76"/>
                <a:gd name="T3" fmla="*/ 32 h 106"/>
                <a:gd name="T4" fmla="*/ 70 w 76"/>
                <a:gd name="T5" fmla="*/ 32 h 106"/>
                <a:gd name="T6" fmla="*/ 60 w 76"/>
                <a:gd name="T7" fmla="*/ 11 h 106"/>
                <a:gd name="T8" fmla="*/ 37 w 76"/>
                <a:gd name="T9" fmla="*/ 3 h 106"/>
                <a:gd name="T10" fmla="*/ 14 w 76"/>
                <a:gd name="T11" fmla="*/ 9 h 106"/>
                <a:gd name="T12" fmla="*/ 5 w 76"/>
                <a:gd name="T13" fmla="*/ 25 h 106"/>
                <a:gd name="T14" fmla="*/ 17 w 76"/>
                <a:gd name="T15" fmla="*/ 41 h 106"/>
                <a:gd name="T16" fmla="*/ 38 w 76"/>
                <a:gd name="T17" fmla="*/ 48 h 106"/>
                <a:gd name="T18" fmla="*/ 64 w 76"/>
                <a:gd name="T19" fmla="*/ 57 h 106"/>
                <a:gd name="T20" fmla="*/ 76 w 76"/>
                <a:gd name="T21" fmla="*/ 78 h 106"/>
                <a:gd name="T22" fmla="*/ 65 w 76"/>
                <a:gd name="T23" fmla="*/ 99 h 106"/>
                <a:gd name="T24" fmla="*/ 38 w 76"/>
                <a:gd name="T25" fmla="*/ 106 h 106"/>
                <a:gd name="T26" fmla="*/ 12 w 76"/>
                <a:gd name="T27" fmla="*/ 97 h 106"/>
                <a:gd name="T28" fmla="*/ 0 w 76"/>
                <a:gd name="T29" fmla="*/ 70 h 106"/>
                <a:gd name="T30" fmla="*/ 3 w 76"/>
                <a:gd name="T31" fmla="*/ 70 h 106"/>
                <a:gd name="T32" fmla="*/ 14 w 76"/>
                <a:gd name="T33" fmla="*/ 94 h 106"/>
                <a:gd name="T34" fmla="*/ 38 w 76"/>
                <a:gd name="T35" fmla="*/ 102 h 106"/>
                <a:gd name="T36" fmla="*/ 63 w 76"/>
                <a:gd name="T37" fmla="*/ 96 h 106"/>
                <a:gd name="T38" fmla="*/ 72 w 76"/>
                <a:gd name="T39" fmla="*/ 78 h 106"/>
                <a:gd name="T40" fmla="*/ 61 w 76"/>
                <a:gd name="T41" fmla="*/ 60 h 106"/>
                <a:gd name="T42" fmla="*/ 37 w 76"/>
                <a:gd name="T43" fmla="*/ 51 h 106"/>
                <a:gd name="T44" fmla="*/ 14 w 76"/>
                <a:gd name="T45" fmla="*/ 44 h 106"/>
                <a:gd name="T46" fmla="*/ 2 w 76"/>
                <a:gd name="T47" fmla="*/ 25 h 106"/>
                <a:gd name="T48" fmla="*/ 13 w 76"/>
                <a:gd name="T49" fmla="*/ 6 h 106"/>
                <a:gd name="T50" fmla="*/ 37 w 76"/>
                <a:gd name="T51" fmla="*/ 0 h 106"/>
                <a:gd name="T52" fmla="*/ 62 w 76"/>
                <a:gd name="T53" fmla="*/ 8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6" h="106">
                  <a:moveTo>
                    <a:pt x="62" y="8"/>
                  </a:moveTo>
                  <a:cubicBezTo>
                    <a:pt x="69" y="14"/>
                    <a:pt x="72" y="22"/>
                    <a:pt x="73" y="32"/>
                  </a:cubicBezTo>
                  <a:cubicBezTo>
                    <a:pt x="70" y="32"/>
                    <a:pt x="70" y="32"/>
                    <a:pt x="70" y="32"/>
                  </a:cubicBezTo>
                  <a:cubicBezTo>
                    <a:pt x="69" y="23"/>
                    <a:pt x="66" y="16"/>
                    <a:pt x="60" y="11"/>
                  </a:cubicBezTo>
                  <a:cubicBezTo>
                    <a:pt x="55" y="6"/>
                    <a:pt x="47" y="3"/>
                    <a:pt x="37" y="3"/>
                  </a:cubicBezTo>
                  <a:cubicBezTo>
                    <a:pt x="27" y="3"/>
                    <a:pt x="20" y="5"/>
                    <a:pt x="14" y="9"/>
                  </a:cubicBezTo>
                  <a:cubicBezTo>
                    <a:pt x="8" y="12"/>
                    <a:pt x="5" y="18"/>
                    <a:pt x="5" y="25"/>
                  </a:cubicBezTo>
                  <a:cubicBezTo>
                    <a:pt x="5" y="32"/>
                    <a:pt x="9" y="37"/>
                    <a:pt x="17" y="41"/>
                  </a:cubicBezTo>
                  <a:cubicBezTo>
                    <a:pt x="20" y="43"/>
                    <a:pt x="27" y="45"/>
                    <a:pt x="38" y="48"/>
                  </a:cubicBezTo>
                  <a:cubicBezTo>
                    <a:pt x="50" y="51"/>
                    <a:pt x="59" y="54"/>
                    <a:pt x="64" y="57"/>
                  </a:cubicBezTo>
                  <a:cubicBezTo>
                    <a:pt x="72" y="62"/>
                    <a:pt x="76" y="69"/>
                    <a:pt x="76" y="78"/>
                  </a:cubicBezTo>
                  <a:cubicBezTo>
                    <a:pt x="76" y="87"/>
                    <a:pt x="72" y="94"/>
                    <a:pt x="65" y="99"/>
                  </a:cubicBezTo>
                  <a:cubicBezTo>
                    <a:pt x="58" y="103"/>
                    <a:pt x="49" y="106"/>
                    <a:pt x="38" y="106"/>
                  </a:cubicBezTo>
                  <a:cubicBezTo>
                    <a:pt x="27" y="106"/>
                    <a:pt x="18" y="103"/>
                    <a:pt x="12" y="97"/>
                  </a:cubicBezTo>
                  <a:cubicBezTo>
                    <a:pt x="5" y="91"/>
                    <a:pt x="1" y="82"/>
                    <a:pt x="0" y="70"/>
                  </a:cubicBezTo>
                  <a:cubicBezTo>
                    <a:pt x="3" y="70"/>
                    <a:pt x="3" y="70"/>
                    <a:pt x="3" y="70"/>
                  </a:cubicBezTo>
                  <a:cubicBezTo>
                    <a:pt x="4" y="81"/>
                    <a:pt x="8" y="89"/>
                    <a:pt x="14" y="94"/>
                  </a:cubicBezTo>
                  <a:cubicBezTo>
                    <a:pt x="20" y="100"/>
                    <a:pt x="28" y="102"/>
                    <a:pt x="38" y="102"/>
                  </a:cubicBezTo>
                  <a:cubicBezTo>
                    <a:pt x="48" y="102"/>
                    <a:pt x="56" y="100"/>
                    <a:pt x="63" y="96"/>
                  </a:cubicBezTo>
                  <a:cubicBezTo>
                    <a:pt x="69" y="91"/>
                    <a:pt x="72" y="86"/>
                    <a:pt x="72" y="78"/>
                  </a:cubicBezTo>
                  <a:cubicBezTo>
                    <a:pt x="72" y="70"/>
                    <a:pt x="69" y="64"/>
                    <a:pt x="61" y="60"/>
                  </a:cubicBezTo>
                  <a:cubicBezTo>
                    <a:pt x="57" y="57"/>
                    <a:pt x="49" y="54"/>
                    <a:pt x="37" y="51"/>
                  </a:cubicBezTo>
                  <a:cubicBezTo>
                    <a:pt x="25" y="48"/>
                    <a:pt x="18" y="46"/>
                    <a:pt x="14" y="44"/>
                  </a:cubicBezTo>
                  <a:cubicBezTo>
                    <a:pt x="6" y="39"/>
                    <a:pt x="2" y="33"/>
                    <a:pt x="2" y="25"/>
                  </a:cubicBezTo>
                  <a:cubicBezTo>
                    <a:pt x="2" y="17"/>
                    <a:pt x="6" y="10"/>
                    <a:pt x="13" y="6"/>
                  </a:cubicBezTo>
                  <a:cubicBezTo>
                    <a:pt x="19" y="2"/>
                    <a:pt x="27" y="0"/>
                    <a:pt x="37" y="0"/>
                  </a:cubicBezTo>
                  <a:cubicBezTo>
                    <a:pt x="48" y="0"/>
                    <a:pt x="56" y="3"/>
                    <a:pt x="62" y="8"/>
                  </a:cubicBez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2">
              <a:extLst>
                <a:ext uri="{FF2B5EF4-FFF2-40B4-BE49-F238E27FC236}">
                  <a16:creationId xmlns:a16="http://schemas.microsoft.com/office/drawing/2014/main" id="{FC456ECE-DD6A-4619-93C4-2C06F1931332}"/>
                </a:ext>
              </a:extLst>
            </p:cNvPr>
            <p:cNvSpPr>
              <a:spLocks/>
            </p:cNvSpPr>
            <p:nvPr/>
          </p:nvSpPr>
          <p:spPr bwMode="auto">
            <a:xfrm>
              <a:off x="3899" y="1942"/>
              <a:ext cx="96" cy="179"/>
            </a:xfrm>
            <a:custGeom>
              <a:avLst/>
              <a:gdLst>
                <a:gd name="T0" fmla="*/ 53 w 56"/>
                <a:gd name="T1" fmla="*/ 0 h 104"/>
                <a:gd name="T2" fmla="*/ 56 w 56"/>
                <a:gd name="T3" fmla="*/ 0 h 104"/>
                <a:gd name="T4" fmla="*/ 56 w 56"/>
                <a:gd name="T5" fmla="*/ 70 h 104"/>
                <a:gd name="T6" fmla="*/ 50 w 56"/>
                <a:gd name="T7" fmla="*/ 94 h 104"/>
                <a:gd name="T8" fmla="*/ 27 w 56"/>
                <a:gd name="T9" fmla="*/ 104 h 104"/>
                <a:gd name="T10" fmla="*/ 8 w 56"/>
                <a:gd name="T11" fmla="*/ 97 h 104"/>
                <a:gd name="T12" fmla="*/ 0 w 56"/>
                <a:gd name="T13" fmla="*/ 75 h 104"/>
                <a:gd name="T14" fmla="*/ 0 w 56"/>
                <a:gd name="T15" fmla="*/ 70 h 104"/>
                <a:gd name="T16" fmla="*/ 3 w 56"/>
                <a:gd name="T17" fmla="*/ 70 h 104"/>
                <a:gd name="T18" fmla="*/ 3 w 56"/>
                <a:gd name="T19" fmla="*/ 75 h 104"/>
                <a:gd name="T20" fmla="*/ 27 w 56"/>
                <a:gd name="T21" fmla="*/ 100 h 104"/>
                <a:gd name="T22" fmla="*/ 47 w 56"/>
                <a:gd name="T23" fmla="*/ 92 h 104"/>
                <a:gd name="T24" fmla="*/ 53 w 56"/>
                <a:gd name="T25" fmla="*/ 70 h 104"/>
                <a:gd name="T26" fmla="*/ 53 w 56"/>
                <a:gd name="T27"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6" h="104">
                  <a:moveTo>
                    <a:pt x="53" y="0"/>
                  </a:moveTo>
                  <a:cubicBezTo>
                    <a:pt x="56" y="0"/>
                    <a:pt x="56" y="0"/>
                    <a:pt x="56" y="0"/>
                  </a:cubicBezTo>
                  <a:cubicBezTo>
                    <a:pt x="56" y="70"/>
                    <a:pt x="56" y="70"/>
                    <a:pt x="56" y="70"/>
                  </a:cubicBezTo>
                  <a:cubicBezTo>
                    <a:pt x="56" y="80"/>
                    <a:pt x="54" y="88"/>
                    <a:pt x="50" y="94"/>
                  </a:cubicBezTo>
                  <a:cubicBezTo>
                    <a:pt x="45" y="100"/>
                    <a:pt x="37" y="104"/>
                    <a:pt x="27" y="104"/>
                  </a:cubicBezTo>
                  <a:cubicBezTo>
                    <a:pt x="19" y="104"/>
                    <a:pt x="12" y="101"/>
                    <a:pt x="8" y="97"/>
                  </a:cubicBezTo>
                  <a:cubicBezTo>
                    <a:pt x="2" y="92"/>
                    <a:pt x="0" y="84"/>
                    <a:pt x="0" y="75"/>
                  </a:cubicBezTo>
                  <a:cubicBezTo>
                    <a:pt x="0" y="70"/>
                    <a:pt x="0" y="70"/>
                    <a:pt x="0" y="70"/>
                  </a:cubicBezTo>
                  <a:cubicBezTo>
                    <a:pt x="3" y="70"/>
                    <a:pt x="3" y="70"/>
                    <a:pt x="3" y="70"/>
                  </a:cubicBezTo>
                  <a:cubicBezTo>
                    <a:pt x="3" y="75"/>
                    <a:pt x="3" y="75"/>
                    <a:pt x="3" y="75"/>
                  </a:cubicBezTo>
                  <a:cubicBezTo>
                    <a:pt x="3" y="92"/>
                    <a:pt x="11" y="100"/>
                    <a:pt x="27" y="100"/>
                  </a:cubicBezTo>
                  <a:cubicBezTo>
                    <a:pt x="36" y="100"/>
                    <a:pt x="43" y="97"/>
                    <a:pt x="47" y="92"/>
                  </a:cubicBezTo>
                  <a:cubicBezTo>
                    <a:pt x="51" y="87"/>
                    <a:pt x="53" y="80"/>
                    <a:pt x="53" y="70"/>
                  </a:cubicBezTo>
                  <a:lnTo>
                    <a:pt x="53" y="0"/>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13">
              <a:extLst>
                <a:ext uri="{FF2B5EF4-FFF2-40B4-BE49-F238E27FC236}">
                  <a16:creationId xmlns:a16="http://schemas.microsoft.com/office/drawing/2014/main" id="{517ABCCD-5B62-4773-BF0B-4B08A72ED8BA}"/>
                </a:ext>
              </a:extLst>
            </p:cNvPr>
            <p:cNvSpPr>
              <a:spLocks/>
            </p:cNvSpPr>
            <p:nvPr/>
          </p:nvSpPr>
          <p:spPr bwMode="auto">
            <a:xfrm>
              <a:off x="4019" y="1942"/>
              <a:ext cx="142" cy="175"/>
            </a:xfrm>
            <a:custGeom>
              <a:avLst/>
              <a:gdLst>
                <a:gd name="T0" fmla="*/ 0 w 142"/>
                <a:gd name="T1" fmla="*/ 0 h 175"/>
                <a:gd name="T2" fmla="*/ 142 w 142"/>
                <a:gd name="T3" fmla="*/ 0 h 175"/>
                <a:gd name="T4" fmla="*/ 142 w 142"/>
                <a:gd name="T5" fmla="*/ 5 h 175"/>
                <a:gd name="T6" fmla="*/ 73 w 142"/>
                <a:gd name="T7" fmla="*/ 5 h 175"/>
                <a:gd name="T8" fmla="*/ 73 w 142"/>
                <a:gd name="T9" fmla="*/ 175 h 175"/>
                <a:gd name="T10" fmla="*/ 68 w 142"/>
                <a:gd name="T11" fmla="*/ 175 h 175"/>
                <a:gd name="T12" fmla="*/ 68 w 142"/>
                <a:gd name="T13" fmla="*/ 5 h 175"/>
                <a:gd name="T14" fmla="*/ 0 w 142"/>
                <a:gd name="T15" fmla="*/ 5 h 175"/>
                <a:gd name="T16" fmla="*/ 0 w 142"/>
                <a:gd name="T17" fmla="*/ 0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75">
                  <a:moveTo>
                    <a:pt x="0" y="0"/>
                  </a:moveTo>
                  <a:lnTo>
                    <a:pt x="142" y="0"/>
                  </a:lnTo>
                  <a:lnTo>
                    <a:pt x="142" y="5"/>
                  </a:lnTo>
                  <a:lnTo>
                    <a:pt x="73" y="5"/>
                  </a:lnTo>
                  <a:lnTo>
                    <a:pt x="73" y="175"/>
                  </a:lnTo>
                  <a:lnTo>
                    <a:pt x="68" y="175"/>
                  </a:lnTo>
                  <a:lnTo>
                    <a:pt x="68" y="5"/>
                  </a:lnTo>
                  <a:lnTo>
                    <a:pt x="0" y="5"/>
                  </a:lnTo>
                  <a:lnTo>
                    <a:pt x="0" y="0"/>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14">
              <a:extLst>
                <a:ext uri="{FF2B5EF4-FFF2-40B4-BE49-F238E27FC236}">
                  <a16:creationId xmlns:a16="http://schemas.microsoft.com/office/drawing/2014/main" id="{07EA4914-AC74-4EB8-9118-98D991690FD1}"/>
                </a:ext>
              </a:extLst>
            </p:cNvPr>
            <p:cNvSpPr>
              <a:spLocks/>
            </p:cNvSpPr>
            <p:nvPr/>
          </p:nvSpPr>
          <p:spPr bwMode="auto">
            <a:xfrm>
              <a:off x="4183" y="1942"/>
              <a:ext cx="130" cy="179"/>
            </a:xfrm>
            <a:custGeom>
              <a:avLst/>
              <a:gdLst>
                <a:gd name="T0" fmla="*/ 0 w 76"/>
                <a:gd name="T1" fmla="*/ 0 h 104"/>
                <a:gd name="T2" fmla="*/ 4 w 76"/>
                <a:gd name="T3" fmla="*/ 0 h 104"/>
                <a:gd name="T4" fmla="*/ 4 w 76"/>
                <a:gd name="T5" fmla="*/ 62 h 104"/>
                <a:gd name="T6" fmla="*/ 12 w 76"/>
                <a:gd name="T7" fmla="*/ 90 h 104"/>
                <a:gd name="T8" fmla="*/ 38 w 76"/>
                <a:gd name="T9" fmla="*/ 100 h 104"/>
                <a:gd name="T10" fmla="*/ 65 w 76"/>
                <a:gd name="T11" fmla="*/ 90 h 104"/>
                <a:gd name="T12" fmla="*/ 73 w 76"/>
                <a:gd name="T13" fmla="*/ 62 h 104"/>
                <a:gd name="T14" fmla="*/ 73 w 76"/>
                <a:gd name="T15" fmla="*/ 0 h 104"/>
                <a:gd name="T16" fmla="*/ 76 w 76"/>
                <a:gd name="T17" fmla="*/ 0 h 104"/>
                <a:gd name="T18" fmla="*/ 76 w 76"/>
                <a:gd name="T19" fmla="*/ 62 h 104"/>
                <a:gd name="T20" fmla="*/ 68 w 76"/>
                <a:gd name="T21" fmla="*/ 92 h 104"/>
                <a:gd name="T22" fmla="*/ 38 w 76"/>
                <a:gd name="T23" fmla="*/ 104 h 104"/>
                <a:gd name="T24" fmla="*/ 9 w 76"/>
                <a:gd name="T25" fmla="*/ 92 h 104"/>
                <a:gd name="T26" fmla="*/ 0 w 76"/>
                <a:gd name="T27" fmla="*/ 62 h 104"/>
                <a:gd name="T28" fmla="*/ 0 w 76"/>
                <a:gd name="T29"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6" h="104">
                  <a:moveTo>
                    <a:pt x="0" y="0"/>
                  </a:moveTo>
                  <a:cubicBezTo>
                    <a:pt x="4" y="0"/>
                    <a:pt x="4" y="0"/>
                    <a:pt x="4" y="0"/>
                  </a:cubicBezTo>
                  <a:cubicBezTo>
                    <a:pt x="4" y="62"/>
                    <a:pt x="4" y="62"/>
                    <a:pt x="4" y="62"/>
                  </a:cubicBezTo>
                  <a:cubicBezTo>
                    <a:pt x="4" y="74"/>
                    <a:pt x="6" y="83"/>
                    <a:pt x="12" y="90"/>
                  </a:cubicBezTo>
                  <a:cubicBezTo>
                    <a:pt x="17" y="97"/>
                    <a:pt x="26" y="100"/>
                    <a:pt x="38" y="100"/>
                  </a:cubicBezTo>
                  <a:cubicBezTo>
                    <a:pt x="50" y="100"/>
                    <a:pt x="59" y="97"/>
                    <a:pt x="65" y="90"/>
                  </a:cubicBezTo>
                  <a:cubicBezTo>
                    <a:pt x="70" y="83"/>
                    <a:pt x="73" y="74"/>
                    <a:pt x="73" y="62"/>
                  </a:cubicBezTo>
                  <a:cubicBezTo>
                    <a:pt x="73" y="0"/>
                    <a:pt x="73" y="0"/>
                    <a:pt x="73" y="0"/>
                  </a:cubicBezTo>
                  <a:cubicBezTo>
                    <a:pt x="76" y="0"/>
                    <a:pt x="76" y="0"/>
                    <a:pt x="76" y="0"/>
                  </a:cubicBezTo>
                  <a:cubicBezTo>
                    <a:pt x="76" y="62"/>
                    <a:pt x="76" y="62"/>
                    <a:pt x="76" y="62"/>
                  </a:cubicBezTo>
                  <a:cubicBezTo>
                    <a:pt x="76" y="75"/>
                    <a:pt x="73" y="85"/>
                    <a:pt x="68" y="92"/>
                  </a:cubicBezTo>
                  <a:cubicBezTo>
                    <a:pt x="61" y="100"/>
                    <a:pt x="52" y="104"/>
                    <a:pt x="38" y="104"/>
                  </a:cubicBezTo>
                  <a:cubicBezTo>
                    <a:pt x="25" y="104"/>
                    <a:pt x="15" y="100"/>
                    <a:pt x="9" y="92"/>
                  </a:cubicBezTo>
                  <a:cubicBezTo>
                    <a:pt x="3" y="85"/>
                    <a:pt x="0" y="75"/>
                    <a:pt x="0" y="62"/>
                  </a:cubicBezTo>
                  <a:lnTo>
                    <a:pt x="0" y="0"/>
                  </a:lnTo>
                  <a:close/>
                </a:path>
              </a:pathLst>
            </a:custGeom>
            <a:grpFill/>
            <a:ln w="9525">
              <a:solidFill>
                <a:schemeClr val="accent1"/>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cxnSp>
        <p:nvCxnSpPr>
          <p:cNvPr id="18" name="直接连接符 17">
            <a:extLst>
              <a:ext uri="{FF2B5EF4-FFF2-40B4-BE49-F238E27FC236}">
                <a16:creationId xmlns:a16="http://schemas.microsoft.com/office/drawing/2014/main" id="{C4FDD588-6689-4C92-A238-94D5AB9E6310}"/>
              </a:ext>
            </a:extLst>
          </p:cNvPr>
          <p:cNvCxnSpPr>
            <a:cxnSpLocks/>
            <a:stCxn id="10" idx="36"/>
          </p:cNvCxnSpPr>
          <p:nvPr/>
        </p:nvCxnSpPr>
        <p:spPr>
          <a:xfrm flipH="1">
            <a:off x="0" y="863996"/>
            <a:ext cx="4933046" cy="0"/>
          </a:xfrm>
          <a:prstGeom prst="line">
            <a:avLst/>
          </a:prstGeom>
          <a:ln w="25400"/>
        </p:spPr>
        <p:style>
          <a:lnRef idx="1">
            <a:schemeClr val="accent1"/>
          </a:lnRef>
          <a:fillRef idx="0">
            <a:schemeClr val="accent1"/>
          </a:fillRef>
          <a:effectRef idx="0">
            <a:schemeClr val="accent1"/>
          </a:effectRef>
          <a:fontRef idx="minor">
            <a:schemeClr val="tx1"/>
          </a:fontRef>
        </p:style>
      </p:cxnSp>
      <p:pic>
        <p:nvPicPr>
          <p:cNvPr id="19" name="图片 18" descr="文本&#10;&#10;中度可信度描述已自动生成">
            <a:extLst>
              <a:ext uri="{FF2B5EF4-FFF2-40B4-BE49-F238E27FC236}">
                <a16:creationId xmlns:a16="http://schemas.microsoft.com/office/drawing/2014/main" id="{3D26FA95-DC57-4F76-B973-3EAC95F1D93B}"/>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0" y="6296878"/>
            <a:ext cx="1706880" cy="561122"/>
          </a:xfrm>
          <a:prstGeom prst="rect">
            <a:avLst/>
          </a:prstGeom>
        </p:spPr>
      </p:pic>
      <p:sp>
        <p:nvSpPr>
          <p:cNvPr id="2" name="标题 1">
            <a:extLst>
              <a:ext uri="{FF2B5EF4-FFF2-40B4-BE49-F238E27FC236}">
                <a16:creationId xmlns:a16="http://schemas.microsoft.com/office/drawing/2014/main" id="{BA289117-A229-429C-9C25-E8A79F911657}"/>
              </a:ext>
            </a:extLst>
          </p:cNvPr>
          <p:cNvSpPr>
            <a:spLocks noGrp="1"/>
          </p:cNvSpPr>
          <p:nvPr>
            <p:ph type="ctrTitle"/>
          </p:nvPr>
        </p:nvSpPr>
        <p:spPr>
          <a:xfrm>
            <a:off x="495300" y="1098485"/>
            <a:ext cx="11201400" cy="1490527"/>
          </a:xfrm>
        </p:spPr>
        <p:txBody>
          <a:bodyPr/>
          <a:lstStyle/>
          <a:p>
            <a:r>
              <a:rPr lang="zh-CN" altLang="en-US" dirty="0">
                <a:solidFill>
                  <a:schemeClr val="bg1"/>
                </a:solidFill>
              </a:rPr>
              <a:t>谢谢！</a:t>
            </a:r>
          </a:p>
        </p:txBody>
      </p:sp>
      <p:sp>
        <p:nvSpPr>
          <p:cNvPr id="3" name="副标题 2">
            <a:extLst>
              <a:ext uri="{FF2B5EF4-FFF2-40B4-BE49-F238E27FC236}">
                <a16:creationId xmlns:a16="http://schemas.microsoft.com/office/drawing/2014/main" id="{1A06ED05-D9D7-4C83-BAA0-E63018468C58}"/>
              </a:ext>
            </a:extLst>
          </p:cNvPr>
          <p:cNvSpPr>
            <a:spLocks noGrp="1"/>
          </p:cNvSpPr>
          <p:nvPr>
            <p:ph type="subTitle" idx="1"/>
          </p:nvPr>
        </p:nvSpPr>
        <p:spPr>
          <a:xfrm>
            <a:off x="475590" y="3236788"/>
            <a:ext cx="11214100" cy="1261073"/>
          </a:xfrm>
        </p:spPr>
        <p:txBody>
          <a:bodyPr>
            <a:noAutofit/>
          </a:bodyPr>
          <a:lstStyle/>
          <a:p>
            <a:r>
              <a:rPr lang="zh-CN" altLang="en-US" sz="3600" dirty="0"/>
              <a:t>请各位评委老师批评指正！</a:t>
            </a:r>
            <a:endParaRPr lang="en-US" altLang="zh-CN" sz="3600" dirty="0"/>
          </a:p>
          <a:p>
            <a:r>
              <a:rPr lang="zh-CN" altLang="en-US" sz="3600" dirty="0"/>
              <a:t>汇报人：姚飞</a:t>
            </a:r>
          </a:p>
        </p:txBody>
      </p:sp>
      <p:sp>
        <p:nvSpPr>
          <p:cNvPr id="20" name="副标题 2">
            <a:extLst>
              <a:ext uri="{FF2B5EF4-FFF2-40B4-BE49-F238E27FC236}">
                <a16:creationId xmlns:a16="http://schemas.microsoft.com/office/drawing/2014/main" id="{696B4ACD-1533-42C8-9F09-33877C860CEF}"/>
              </a:ext>
            </a:extLst>
          </p:cNvPr>
          <p:cNvSpPr txBox="1">
            <a:spLocks/>
          </p:cNvSpPr>
          <p:nvPr/>
        </p:nvSpPr>
        <p:spPr>
          <a:xfrm>
            <a:off x="488950" y="4570825"/>
            <a:ext cx="11214100" cy="68040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sz="3600" dirty="0"/>
              <a:t>2026</a:t>
            </a:r>
            <a:r>
              <a:rPr lang="zh-CN" altLang="en-US" sz="3600" dirty="0"/>
              <a:t>年</a:t>
            </a:r>
            <a:r>
              <a:rPr lang="en-US" altLang="zh-CN" sz="3600" dirty="0"/>
              <a:t>10</a:t>
            </a:r>
            <a:r>
              <a:rPr lang="zh-CN" altLang="en-US" sz="3600" dirty="0"/>
              <a:t>月</a:t>
            </a:r>
            <a:r>
              <a:rPr lang="en-US" altLang="zh-CN" sz="3600" dirty="0"/>
              <a:t>27</a:t>
            </a:r>
            <a:r>
              <a:rPr lang="zh-CN" altLang="en-US" sz="3600" dirty="0"/>
              <a:t>日</a:t>
            </a:r>
          </a:p>
        </p:txBody>
      </p:sp>
      <p:cxnSp>
        <p:nvCxnSpPr>
          <p:cNvPr id="22" name="直接连接符 21">
            <a:extLst>
              <a:ext uri="{FF2B5EF4-FFF2-40B4-BE49-F238E27FC236}">
                <a16:creationId xmlns:a16="http://schemas.microsoft.com/office/drawing/2014/main" id="{1ECB864D-0EE8-493B-8DBD-67B5548FA600}"/>
              </a:ext>
            </a:extLst>
          </p:cNvPr>
          <p:cNvCxnSpPr>
            <a:cxnSpLocks/>
            <a:endCxn id="8" idx="27"/>
          </p:cNvCxnSpPr>
          <p:nvPr/>
        </p:nvCxnSpPr>
        <p:spPr>
          <a:xfrm flipH="1">
            <a:off x="7519202" y="860045"/>
            <a:ext cx="4672797"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8836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FF4F-2D26-7547-B45B-7C79030B5ECC}"/>
              </a:ext>
            </a:extLst>
          </p:cNvPr>
          <p:cNvSpPr>
            <a:spLocks noGrp="1"/>
          </p:cNvSpPr>
          <p:nvPr>
            <p:ph type="ctrTitle"/>
          </p:nvPr>
        </p:nvSpPr>
        <p:spPr/>
        <p:txBody>
          <a:bodyPr/>
          <a:lstStyle/>
          <a:p>
            <a:r>
              <a:rPr lang="en-CN" dirty="0"/>
              <a:t>Additional</a:t>
            </a:r>
            <a:r>
              <a:rPr lang="zh-CN" altLang="en-US" dirty="0"/>
              <a:t> </a:t>
            </a:r>
            <a:r>
              <a:rPr lang="en-US" altLang="zh-CN" dirty="0"/>
              <a:t>Slides</a:t>
            </a:r>
            <a:endParaRPr lang="en-CN" dirty="0"/>
          </a:p>
        </p:txBody>
      </p:sp>
      <p:sp>
        <p:nvSpPr>
          <p:cNvPr id="3" name="Subtitle 2">
            <a:extLst>
              <a:ext uri="{FF2B5EF4-FFF2-40B4-BE49-F238E27FC236}">
                <a16:creationId xmlns:a16="http://schemas.microsoft.com/office/drawing/2014/main" id="{333667A7-36AC-6D75-0DEE-2B991903410D}"/>
              </a:ext>
            </a:extLst>
          </p:cNvPr>
          <p:cNvSpPr>
            <a:spLocks noGrp="1"/>
          </p:cNvSpPr>
          <p:nvPr>
            <p:ph type="subTitle" idx="1"/>
          </p:nvPr>
        </p:nvSpPr>
        <p:spPr/>
        <p:txBody>
          <a:bodyPr/>
          <a:lstStyle/>
          <a:p>
            <a:r>
              <a:rPr lang="en-CN" dirty="0"/>
              <a:t>Dr. Fei Yao</a:t>
            </a:r>
          </a:p>
        </p:txBody>
      </p:sp>
    </p:spTree>
    <p:extLst>
      <p:ext uri="{BB962C8B-B14F-4D97-AF65-F5344CB8AC3E}">
        <p14:creationId xmlns:p14="http://schemas.microsoft.com/office/powerpoint/2010/main" val="3236860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B100E-D1BE-0C4D-A7D6-AA71B8213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9BDCA9-21F4-414C-D4A7-9874F82C4CF6}"/>
              </a:ext>
            </a:extLst>
          </p:cNvPr>
          <p:cNvSpPr>
            <a:spLocks noGrp="1"/>
          </p:cNvSpPr>
          <p:nvPr>
            <p:ph type="title"/>
          </p:nvPr>
        </p:nvSpPr>
        <p:spPr/>
        <p:txBody>
          <a:bodyPr/>
          <a:lstStyle/>
          <a:p>
            <a:r>
              <a:rPr lang="en-CN" dirty="0"/>
              <a:t>光伏发电效率及其颗粒物污染致损模拟</a:t>
            </a:r>
          </a:p>
        </p:txBody>
      </p:sp>
      <p:sp>
        <p:nvSpPr>
          <p:cNvPr id="3" name="Slide Number Placeholder 2">
            <a:extLst>
              <a:ext uri="{FF2B5EF4-FFF2-40B4-BE49-F238E27FC236}">
                <a16:creationId xmlns:a16="http://schemas.microsoft.com/office/drawing/2014/main" id="{0C686181-7F8A-04B7-C2AE-F5409F26E188}"/>
              </a:ext>
            </a:extLst>
          </p:cNvPr>
          <p:cNvSpPr>
            <a:spLocks noGrp="1"/>
          </p:cNvSpPr>
          <p:nvPr>
            <p:ph type="sldNum" sz="quarter" idx="12"/>
          </p:nvPr>
        </p:nvSpPr>
        <p:spPr/>
        <p:txBody>
          <a:bodyPr/>
          <a:lstStyle/>
          <a:p>
            <a:fld id="{3ACD1EC8-6F57-41A7-99F1-FEDB2874BA2B}" type="slidenum">
              <a:rPr lang="zh-CN" altLang="en-US" smtClean="0"/>
              <a:t>13</a:t>
            </a:fld>
            <a:endParaRPr lang="zh-CN" altLang="en-US"/>
          </a:p>
        </p:txBody>
      </p:sp>
      <p:pic>
        <p:nvPicPr>
          <p:cNvPr id="14" name="Picture 13">
            <a:extLst>
              <a:ext uri="{FF2B5EF4-FFF2-40B4-BE49-F238E27FC236}">
                <a16:creationId xmlns:a16="http://schemas.microsoft.com/office/drawing/2014/main" id="{3DF48403-811E-3A0F-E384-537D8F53E3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761" y="1178880"/>
            <a:ext cx="11206478" cy="4500240"/>
          </a:xfrm>
          <a:prstGeom prst="rect">
            <a:avLst/>
          </a:prstGeom>
        </p:spPr>
      </p:pic>
    </p:spTree>
    <p:extLst>
      <p:ext uri="{BB962C8B-B14F-4D97-AF65-F5344CB8AC3E}">
        <p14:creationId xmlns:p14="http://schemas.microsoft.com/office/powerpoint/2010/main" val="3595077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A4E00-0526-609F-3995-57E03E62A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7A7F04-508D-87E1-328E-7926594B0AE1}"/>
              </a:ext>
            </a:extLst>
          </p:cNvPr>
          <p:cNvSpPr>
            <a:spLocks noGrp="1"/>
          </p:cNvSpPr>
          <p:nvPr>
            <p:ph type="title"/>
          </p:nvPr>
        </p:nvSpPr>
        <p:spPr/>
        <p:txBody>
          <a:bodyPr/>
          <a:lstStyle/>
          <a:p>
            <a:r>
              <a:rPr lang="en-CN" dirty="0"/>
              <a:t>光伏设施提取与装机容量估算</a:t>
            </a:r>
          </a:p>
        </p:txBody>
      </p:sp>
      <p:sp>
        <p:nvSpPr>
          <p:cNvPr id="3" name="Slide Number Placeholder 2">
            <a:extLst>
              <a:ext uri="{FF2B5EF4-FFF2-40B4-BE49-F238E27FC236}">
                <a16:creationId xmlns:a16="http://schemas.microsoft.com/office/drawing/2014/main" id="{01DDB483-FC2E-716B-0515-391BFE1FDDCE}"/>
              </a:ext>
            </a:extLst>
          </p:cNvPr>
          <p:cNvSpPr>
            <a:spLocks noGrp="1"/>
          </p:cNvSpPr>
          <p:nvPr>
            <p:ph type="sldNum" sz="quarter" idx="12"/>
          </p:nvPr>
        </p:nvSpPr>
        <p:spPr/>
        <p:txBody>
          <a:bodyPr/>
          <a:lstStyle/>
          <a:p>
            <a:fld id="{3ACD1EC8-6F57-41A7-99F1-FEDB2874BA2B}" type="slidenum">
              <a:rPr lang="zh-CN" altLang="en-US" smtClean="0"/>
              <a:t>14</a:t>
            </a:fld>
            <a:endParaRPr lang="zh-CN" altLang="en-US"/>
          </a:p>
        </p:txBody>
      </p:sp>
      <p:pic>
        <p:nvPicPr>
          <p:cNvPr id="5" name="Picture 4">
            <a:extLst>
              <a:ext uri="{FF2B5EF4-FFF2-40B4-BE49-F238E27FC236}">
                <a16:creationId xmlns:a16="http://schemas.microsoft.com/office/drawing/2014/main" id="{2C45F9A3-431F-9A91-1091-A8606305E1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600" y="1036956"/>
            <a:ext cx="9200650" cy="4784088"/>
          </a:xfrm>
          <a:prstGeom prst="rect">
            <a:avLst/>
          </a:prstGeom>
        </p:spPr>
      </p:pic>
      <p:sp>
        <p:nvSpPr>
          <p:cNvPr id="9" name="文本框 8">
            <a:extLst>
              <a:ext uri="{FF2B5EF4-FFF2-40B4-BE49-F238E27FC236}">
                <a16:creationId xmlns:a16="http://schemas.microsoft.com/office/drawing/2014/main" id="{65346836-A04B-F85E-31E7-FB893EB459D7}"/>
              </a:ext>
            </a:extLst>
          </p:cNvPr>
          <p:cNvSpPr txBox="1"/>
          <p:nvPr/>
        </p:nvSpPr>
        <p:spPr>
          <a:xfrm>
            <a:off x="9874893" y="2299162"/>
            <a:ext cx="2243454" cy="1287084"/>
          </a:xfrm>
          <a:prstGeom prst="rect">
            <a:avLst/>
          </a:prstGeom>
          <a:noFill/>
        </p:spPr>
        <p:txBody>
          <a:bodyPr wrap="square" rtlCol="0">
            <a:spAutoFit/>
          </a:bodyPr>
          <a:lstStyle/>
          <a:p>
            <a:pPr>
              <a:lnSpc>
                <a:spcPct val="150000"/>
              </a:lnSpc>
            </a:pPr>
            <a:r>
              <a:rPr lang="zh-CN" altLang="en-US" sz="2000" dirty="0"/>
              <a:t>视觉基础模型微调</a:t>
            </a:r>
            <a:endParaRPr lang="en-US" altLang="zh-CN" sz="2000" dirty="0"/>
          </a:p>
          <a:p>
            <a:pPr>
              <a:lnSpc>
                <a:spcPct val="150000"/>
              </a:lnSpc>
            </a:pPr>
            <a:r>
              <a:rPr lang="zh-CN" altLang="en-US" sz="3600" b="1" dirty="0">
                <a:solidFill>
                  <a:schemeClr val="accent3"/>
                </a:solidFill>
              </a:rPr>
              <a:t>减少</a:t>
            </a:r>
            <a:r>
              <a:rPr lang="zh-CN" altLang="en-US" sz="2000" dirty="0"/>
              <a:t>训练成本</a:t>
            </a:r>
          </a:p>
        </p:txBody>
      </p:sp>
      <p:sp>
        <p:nvSpPr>
          <p:cNvPr id="13" name="文本框 8">
            <a:extLst>
              <a:ext uri="{FF2B5EF4-FFF2-40B4-BE49-F238E27FC236}">
                <a16:creationId xmlns:a16="http://schemas.microsoft.com/office/drawing/2014/main" id="{F214CFDA-D972-2F2C-7934-6CF97C74A72E}"/>
              </a:ext>
            </a:extLst>
          </p:cNvPr>
          <p:cNvSpPr txBox="1"/>
          <p:nvPr/>
        </p:nvSpPr>
        <p:spPr>
          <a:xfrm>
            <a:off x="9874893" y="3744037"/>
            <a:ext cx="2243454" cy="1287084"/>
          </a:xfrm>
          <a:prstGeom prst="rect">
            <a:avLst/>
          </a:prstGeom>
          <a:noFill/>
        </p:spPr>
        <p:txBody>
          <a:bodyPr wrap="square" rtlCol="0">
            <a:spAutoFit/>
          </a:bodyPr>
          <a:lstStyle/>
          <a:p>
            <a:pPr>
              <a:lnSpc>
                <a:spcPct val="150000"/>
              </a:lnSpc>
            </a:pPr>
            <a:r>
              <a:rPr lang="zh-CN" altLang="en-US" sz="2000" dirty="0"/>
              <a:t>先识别后提取</a:t>
            </a:r>
            <a:endParaRPr lang="en-US" altLang="zh-CN" sz="2000" dirty="0"/>
          </a:p>
          <a:p>
            <a:pPr>
              <a:lnSpc>
                <a:spcPct val="150000"/>
              </a:lnSpc>
            </a:pPr>
            <a:r>
              <a:rPr lang="zh-CN" altLang="en-US" sz="3600" b="1" dirty="0">
                <a:solidFill>
                  <a:schemeClr val="accent3"/>
                </a:solidFill>
              </a:rPr>
              <a:t>减少</a:t>
            </a:r>
            <a:r>
              <a:rPr lang="zh-CN" altLang="en-US" sz="2000" dirty="0"/>
              <a:t>运算开销</a:t>
            </a:r>
          </a:p>
        </p:txBody>
      </p:sp>
    </p:spTree>
    <p:extLst>
      <p:ext uri="{BB962C8B-B14F-4D97-AF65-F5344CB8AC3E}">
        <p14:creationId xmlns:p14="http://schemas.microsoft.com/office/powerpoint/2010/main" val="1092414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5A173-E33A-CFE5-31E4-D675FB92A8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C270A2-4D6C-0693-2E24-36B4EDD2CB5A}"/>
              </a:ext>
            </a:extLst>
          </p:cNvPr>
          <p:cNvSpPr>
            <a:spLocks noGrp="1"/>
          </p:cNvSpPr>
          <p:nvPr>
            <p:ph type="title"/>
          </p:nvPr>
        </p:nvSpPr>
        <p:spPr/>
        <p:txBody>
          <a:bodyPr/>
          <a:lstStyle/>
          <a:p>
            <a:r>
              <a:rPr lang="en-CN" dirty="0"/>
              <a:t>光伏发电量损失估算及其演变归因</a:t>
            </a:r>
          </a:p>
        </p:txBody>
      </p:sp>
      <p:sp>
        <p:nvSpPr>
          <p:cNvPr id="3" name="Slide Number Placeholder 2">
            <a:extLst>
              <a:ext uri="{FF2B5EF4-FFF2-40B4-BE49-F238E27FC236}">
                <a16:creationId xmlns:a16="http://schemas.microsoft.com/office/drawing/2014/main" id="{FF9DEE59-A50A-4479-6E10-96134FC87A72}"/>
              </a:ext>
            </a:extLst>
          </p:cNvPr>
          <p:cNvSpPr>
            <a:spLocks noGrp="1"/>
          </p:cNvSpPr>
          <p:nvPr>
            <p:ph type="sldNum" sz="quarter" idx="12"/>
          </p:nvPr>
        </p:nvSpPr>
        <p:spPr/>
        <p:txBody>
          <a:bodyPr/>
          <a:lstStyle/>
          <a:p>
            <a:fld id="{3ACD1EC8-6F57-41A7-99F1-FEDB2874BA2B}" type="slidenum">
              <a:rPr lang="zh-CN" altLang="en-US" smtClean="0"/>
              <a:t>15</a:t>
            </a:fld>
            <a:endParaRPr lang="zh-CN" altLang="en-US"/>
          </a:p>
        </p:txBody>
      </p:sp>
      <p:sp>
        <p:nvSpPr>
          <p:cNvPr id="16" name="TextBox 15">
            <a:extLst>
              <a:ext uri="{FF2B5EF4-FFF2-40B4-BE49-F238E27FC236}">
                <a16:creationId xmlns:a16="http://schemas.microsoft.com/office/drawing/2014/main" id="{E1D37FB8-1427-B370-F567-A5B15C5845DC}"/>
              </a:ext>
            </a:extLst>
          </p:cNvPr>
          <p:cNvSpPr txBox="1"/>
          <p:nvPr/>
        </p:nvSpPr>
        <p:spPr>
          <a:xfrm>
            <a:off x="6059028" y="1451087"/>
            <a:ext cx="2208699" cy="523220"/>
          </a:xfrm>
          <a:prstGeom prst="rect">
            <a:avLst/>
          </a:prstGeom>
          <a:solidFill>
            <a:srgbClr val="0F9ED5">
              <a:lumMod val="20000"/>
              <a:lumOff val="80000"/>
            </a:srgbClr>
          </a:solidFill>
          <a:ln>
            <a:no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prstClr val="black"/>
                </a:solidFill>
                <a:effectLst/>
                <a:uLnTx/>
                <a:uFillTx/>
                <a:latin typeface="Aptos" panose="02110004020202020204"/>
                <a:ea typeface="等线" panose="02010600030101010101" pitchFamily="2" charset="-122"/>
              </a:rPr>
              <a:t>光伏发电损失动态演变</a:t>
            </a:r>
            <a:endParaRPr kumimoji="0" lang="en-GB" altLang="zh-CN" sz="1400" b="1" i="0" u="none" strike="noStrike" kern="0" cap="none" spc="0" normalizeH="0" baseline="0" noProof="0" dirty="0">
              <a:ln>
                <a:noFill/>
              </a:ln>
              <a:solidFill>
                <a:prstClr val="black"/>
              </a:solidFill>
              <a:effectLst/>
              <a:uLnTx/>
              <a:uFillTx/>
              <a:latin typeface="Aptos" panose="02110004020202020204"/>
              <a:ea typeface="等线" panose="02010600030101010101" pitchFamily="2" charset="-122"/>
            </a:endParaRPr>
          </a:p>
          <a:p>
            <a:pPr marL="0" marR="0" lvl="0" indent="0" algn="ctr" defTabSz="4572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prstClr val="black"/>
                </a:solidFill>
                <a:effectLst/>
                <a:uLnTx/>
                <a:uFillTx/>
                <a:latin typeface="Aptos" panose="02110004020202020204"/>
                <a:ea typeface="等线" panose="02010600030101010101" pitchFamily="2" charset="-122"/>
              </a:rPr>
              <a:t>及其</a:t>
            </a:r>
            <a:r>
              <a:rPr kumimoji="0" lang="zh-CN" altLang="en-GB" sz="1400" b="1" i="0" u="none" strike="noStrike" kern="0" cap="none" spc="0" normalizeH="0" baseline="0" noProof="0" dirty="0">
                <a:ln>
                  <a:noFill/>
                </a:ln>
                <a:solidFill>
                  <a:prstClr val="black"/>
                </a:solidFill>
                <a:effectLst/>
                <a:uLnTx/>
                <a:uFillTx/>
                <a:latin typeface="Aptos" panose="02110004020202020204"/>
                <a:ea typeface="等线" panose="02010600030101010101" pitchFamily="2" charset="-122"/>
              </a:rPr>
              <a:t>驱动</a:t>
            </a:r>
            <a:r>
              <a:rPr kumimoji="0" lang="zh-CN" altLang="en-US" sz="1400" b="1" i="0" u="none" strike="noStrike" kern="0" cap="none" spc="0" normalizeH="0" baseline="0" noProof="0" dirty="0">
                <a:ln>
                  <a:noFill/>
                </a:ln>
                <a:solidFill>
                  <a:prstClr val="black"/>
                </a:solidFill>
                <a:effectLst/>
                <a:uLnTx/>
                <a:uFillTx/>
                <a:latin typeface="Aptos" panose="02110004020202020204"/>
                <a:ea typeface="等线" panose="02010600030101010101" pitchFamily="2" charset="-122"/>
              </a:rPr>
              <a:t>因素解析</a:t>
            </a:r>
            <a:endParaRPr kumimoji="0" lang="en-GB" altLang="zh-CN" sz="1400" b="1" i="0" u="none" strike="noStrike" kern="0" cap="none" spc="0" normalizeH="0" baseline="0" noProof="0" dirty="0">
              <a:ln>
                <a:noFill/>
              </a:ln>
              <a:solidFill>
                <a:prstClr val="black"/>
              </a:solidFill>
              <a:effectLst/>
              <a:uLnTx/>
              <a:uFillTx/>
              <a:latin typeface="Aptos" panose="02110004020202020204"/>
              <a:ea typeface="等线" panose="02010600030101010101" pitchFamily="2" charset="-122"/>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4CFBA22-3649-FE3C-DB58-8C88CDE06BB4}"/>
                  </a:ext>
                </a:extLst>
              </p:cNvPr>
              <p:cNvSpPr txBox="1"/>
              <p:nvPr/>
            </p:nvSpPr>
            <p:spPr>
              <a:xfrm>
                <a:off x="6059754" y="1974306"/>
                <a:ext cx="2205188" cy="3142014"/>
              </a:xfrm>
              <a:prstGeom prst="rect">
                <a:avLst/>
              </a:prstGeom>
              <a:noFill/>
              <a:ln>
                <a:noFill/>
              </a:ln>
            </p:spPr>
            <p:txBody>
              <a:bodyPr wrap="square" rtlCol="0">
                <a:spAutoFit/>
              </a:bodyPr>
              <a:lstStyle/>
              <a:p>
                <a:pPr algn="ctr" defTabSz="457200"/>
                <a:endParaRPr lang="en-GB" altLang="zh-CN" sz="1200" dirty="0">
                  <a:solidFill>
                    <a:prstClr val="black"/>
                  </a:solidFill>
                  <a:latin typeface="Aptos" panose="02110004020202020204"/>
                  <a:ea typeface="Cambria Math" panose="02040503050406030204" pitchFamily="18" charset="0"/>
                  <a:cs typeface="Arial" panose="020B0604020202020204" pitchFamily="34" charset="0"/>
                </a:endParaRPr>
              </a:p>
              <a:p>
                <a:pPr algn="ctr" defTabSz="457200"/>
                <a:r>
                  <a:rPr lang="zh-CN" altLang="en-GB" sz="1200" b="1" dirty="0">
                    <a:solidFill>
                      <a:prstClr val="black"/>
                    </a:solidFill>
                    <a:latin typeface="Aptos" panose="02110004020202020204"/>
                    <a:ea typeface="Cambria Math" panose="02040503050406030204" pitchFamily="18" charset="0"/>
                    <a:cs typeface="Arial" panose="020B0604020202020204" pitchFamily="34" charset="0"/>
                  </a:rPr>
                  <a:t>光伏</a:t>
                </a:r>
                <a:r>
                  <a:rPr lang="zh-CN" altLang="en-US" sz="1200" b="1" dirty="0">
                    <a:solidFill>
                      <a:prstClr val="black"/>
                    </a:solidFill>
                    <a:latin typeface="Aptos" panose="02110004020202020204"/>
                    <a:ea typeface="Cambria Math" panose="02040503050406030204" pitchFamily="18" charset="0"/>
                    <a:cs typeface="Arial" panose="020B0604020202020204" pitchFamily="34" charset="0"/>
                  </a:rPr>
                  <a:t>发电量：</a:t>
                </a:r>
                <a:endParaRPr lang="en-GB" altLang="zh-CN" sz="1200" b="1" dirty="0">
                  <a:solidFill>
                    <a:prstClr val="black"/>
                  </a:solidFill>
                  <a:latin typeface="Aptos" panose="02110004020202020204"/>
                  <a:ea typeface="Cambria Math" panose="02040503050406030204" pitchFamily="18" charset="0"/>
                  <a:cs typeface="Arial" panose="020B0604020202020204" pitchFamily="34" charset="0"/>
                </a:endParaRPr>
              </a:p>
              <a:p>
                <a:pPr algn="ctr" defTabSz="457200"/>
                <a14:m>
                  <m:oMathPara xmlns:m="http://schemas.openxmlformats.org/officeDocument/2006/math">
                    <m:oMath>
                      <m:sSub>
                        <m:sSubPr>
                          <m:ctrlPr>
                            <a:rPr lang="en-GB" altLang="zh-CN" sz="1200" i="1" dirty="0">
                              <a:solidFill>
                                <a:prstClr val="black"/>
                              </a:solidFill>
                              <a:latin typeface="Cambria Math" panose="02040503050406030204" pitchFamily="18" charset="0"/>
                              <a:ea typeface="Cambria Math" panose="02040503050406030204" pitchFamily="18" charset="0"/>
                              <a:cs typeface="Arial" panose="020B0604020202020204" pitchFamily="34" charset="0"/>
                            </a:rPr>
                          </m:ctrlPr>
                        </m:sSubPr>
                        <m:e>
                          <m:r>
                            <m:rPr>
                              <m:sty m:val="p"/>
                            </m:rPr>
                            <a:rPr lang="en-GB" altLang="zh-CN" sz="1200" i="1" dirty="0">
                              <a:solidFill>
                                <a:prstClr val="black"/>
                              </a:solidFill>
                              <a:latin typeface="Cambria Math" panose="02040503050406030204" pitchFamily="18" charset="0"/>
                              <a:ea typeface="Cambria Math" panose="02040503050406030204" pitchFamily="18" charset="0"/>
                              <a:cs typeface="Arial" panose="020B0604020202020204" pitchFamily="34" charset="0"/>
                            </a:rPr>
                            <m:t>G</m:t>
                          </m:r>
                        </m:e>
                        <m:sub>
                          <m:r>
                            <a:rPr lang="en-GB" altLang="zh-CN" sz="1200" i="1" dirty="0"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𝑦𝑟</m:t>
                          </m:r>
                        </m:sub>
                      </m:sSub>
                      <m:r>
                        <a:rPr lang="en-GB" altLang="zh-CN" sz="1200" i="1" dirty="0">
                          <a:solidFill>
                            <a:prstClr val="black"/>
                          </a:solidFill>
                          <a:latin typeface="Cambria Math" panose="02040503050406030204" pitchFamily="18" charset="0"/>
                          <a:ea typeface="Cambria Math" panose="02040503050406030204" pitchFamily="18" charset="0"/>
                          <a:cs typeface="Arial" panose="020B0604020202020204" pitchFamily="34" charset="0"/>
                        </a:rPr>
                        <m:t>=</m:t>
                      </m:r>
                      <m:nary>
                        <m:naryPr>
                          <m:chr m:val="∑"/>
                          <m:supHide m:val="on"/>
                          <m:ctrlPr>
                            <a:rPr lang="en-GB" altLang="zh-CN" sz="1200" i="1" dirty="0"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naryPr>
                        <m:sub>
                          <m:r>
                            <m:rPr>
                              <m:brk m:alnAt="7"/>
                            </m:rPr>
                            <a:rPr lang="en-GB" altLang="zh-CN" sz="1200" i="1" dirty="0"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𝑡</m:t>
                          </m:r>
                          <m:r>
                            <a:rPr lang="en-GB" altLang="zh-CN" sz="1200" i="1" dirty="0"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GB" altLang="zh-CN" sz="1200" i="1" dirty="0"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𝑦𝑟</m:t>
                          </m:r>
                        </m:sub>
                        <m:sup/>
                        <m:e>
                          <m:r>
                            <a:rPr lang="en-GB" altLang="zh-CN" sz="1200" i="1" dirty="0"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𝑃</m:t>
                          </m:r>
                          <m:d>
                            <m:dPr>
                              <m:ctrlPr>
                                <a:rPr lang="en-GB" altLang="zh-CN" sz="1200" i="1" dirty="0" smtClean="0">
                                  <a:solidFill>
                                    <a:prstClr val="black"/>
                                  </a:solidFill>
                                  <a:latin typeface="Cambria Math" panose="02040503050406030204" pitchFamily="18" charset="0"/>
                                  <a:ea typeface="Cambria Math" panose="02040503050406030204" pitchFamily="18" charset="0"/>
                                  <a:cs typeface="Arial" panose="020B0604020202020204" pitchFamily="34" charset="0"/>
                                </a:rPr>
                              </m:ctrlPr>
                            </m:dPr>
                            <m:e>
                              <m:r>
                                <a:rPr lang="en-GB" altLang="zh-CN" sz="1200" i="1" dirty="0"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𝑡</m:t>
                              </m:r>
                            </m:e>
                          </m:d>
                          <m:r>
                            <a:rPr lang="en-GB" altLang="zh-CN" sz="1200" i="1" dirty="0"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𝐶𝐹</m:t>
                          </m:r>
                          <m:r>
                            <a:rPr lang="en-GB" altLang="zh-CN" sz="1200" i="1" dirty="0"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GB" altLang="zh-CN" sz="1200" i="1" dirty="0"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𝑡</m:t>
                          </m:r>
                          <m:r>
                            <a:rPr lang="en-GB" altLang="zh-CN" sz="1200" i="1" dirty="0"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GB" altLang="zh-CN" sz="1200" i="1" dirty="0"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𝑡</m:t>
                          </m:r>
                        </m:e>
                      </m:nary>
                    </m:oMath>
                  </m:oMathPara>
                </a14:m>
                <a:endParaRPr lang="en-GB" altLang="zh-CN" sz="1200" dirty="0">
                  <a:solidFill>
                    <a:prstClr val="black"/>
                  </a:solidFill>
                  <a:latin typeface="Aptos" panose="02110004020202020204"/>
                  <a:ea typeface="Cambria Math" panose="02040503050406030204" pitchFamily="18" charset="0"/>
                  <a:cs typeface="Arial" panose="020B0604020202020204" pitchFamily="34" charset="0"/>
                </a:endParaRPr>
              </a:p>
              <a:p>
                <a:pPr algn="ctr" defTabSz="457200"/>
                <a:endParaRPr lang="en-GB" altLang="zh-CN" sz="1200" dirty="0">
                  <a:solidFill>
                    <a:prstClr val="black"/>
                  </a:solidFill>
                  <a:latin typeface="Aptos" panose="02110004020202020204"/>
                  <a:ea typeface="Cambria Math" panose="02040503050406030204" pitchFamily="18" charset="0"/>
                  <a:cs typeface="Arial" panose="020B0604020202020204" pitchFamily="34" charset="0"/>
                </a:endParaRPr>
              </a:p>
              <a:p>
                <a:pPr algn="ctr" defTabSz="457200"/>
                <a:r>
                  <a:rPr lang="zh-CN" altLang="en-US" sz="1200" b="1" dirty="0">
                    <a:solidFill>
                      <a:prstClr val="black"/>
                    </a:solidFill>
                    <a:latin typeface="Aptos" panose="02110004020202020204"/>
                    <a:ea typeface="Cambria Math" panose="02040503050406030204" pitchFamily="18" charset="0"/>
                    <a:cs typeface="Arial" panose="020B0604020202020204" pitchFamily="34" charset="0"/>
                  </a:rPr>
                  <a:t>发电量损失及其变化：</a:t>
                </a:r>
                <a:endParaRPr lang="en-GB" altLang="zh-CN" sz="1200" b="1" dirty="0">
                  <a:solidFill>
                    <a:prstClr val="black"/>
                  </a:solidFill>
                  <a:latin typeface="Aptos" panose="02110004020202020204"/>
                  <a:ea typeface="Cambria Math" panose="02040503050406030204" pitchFamily="18" charset="0"/>
                  <a:cs typeface="Arial" panose="020B0604020202020204" pitchFamily="34" charset="0"/>
                </a:endParaRPr>
              </a:p>
              <a:p>
                <a:pPr algn="ctr" defTabSz="457200"/>
                <a14:m>
                  <m:oMathPara xmlns:m="http://schemas.openxmlformats.org/officeDocument/2006/math">
                    <m:oMath>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r>
                        <m:rPr>
                          <m:sty m:val="p"/>
                        </m:rP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G</m:t>
                      </m:r>
                      <m:r>
                        <a:rPr lang="en-US"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sSubSup>
                        <m:sSubSupPr>
                          <m:ctrlPr>
                            <a:rPr lang="en-US"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ctrlPr>
                        </m:sSubSupPr>
                        <m:e>
                          <m:r>
                            <m:rPr>
                              <m:sty m:val="p"/>
                            </m:rPr>
                            <a:rPr lang="en-US"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G</m:t>
                          </m:r>
                        </m:e>
                        <m:sub>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𝑁𝑂𝐷𝑖𝑚𝑚𝑖𝑛𝑔</m:t>
                          </m:r>
                        </m:sub>
                        <m:sup>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𝑁𝑂𝑆𝑜𝑖𝑙𝑖𝑛𝑔</m:t>
                          </m:r>
                        </m:sup>
                      </m:sSubSup>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sSubSup>
                        <m:sSubSupPr>
                          <m:ctrlPr>
                            <a:rPr lang="en-US"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ctrlPr>
                        </m:sSubSupPr>
                        <m:e>
                          <m:r>
                            <m:rPr>
                              <m:sty m:val="p"/>
                            </m:rPr>
                            <a:rPr lang="en-US"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G</m:t>
                          </m:r>
                        </m:e>
                        <m:sub>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𝐷𝑖𝑚𝑚𝑖𝑛𝑔</m:t>
                          </m:r>
                        </m:sub>
                        <m:sup>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𝑆𝑜𝑖𝑙𝑖𝑛𝑔</m:t>
                          </m:r>
                        </m:sup>
                      </m:sSubSup>
                    </m:oMath>
                  </m:oMathPara>
                </a14:m>
                <a:endParaRPr lang="en-GB" altLang="zh-CN" sz="1200" dirty="0">
                  <a:solidFill>
                    <a:prstClr val="black"/>
                  </a:solidFill>
                  <a:ea typeface="等线" panose="02010600030101010101" pitchFamily="2" charset="-122"/>
                  <a:cs typeface="Arial" panose="020B0604020202020204" pitchFamily="34" charset="0"/>
                </a:endParaRPr>
              </a:p>
              <a:p>
                <a:pPr algn="ctr" defTabSz="457200"/>
                <a14:m>
                  <m:oMathPara xmlns:m="http://schemas.openxmlformats.org/officeDocument/2006/math">
                    <m:oMath>
                      <m:sSub>
                        <m:sSubPr>
                          <m:ctrlP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ctrlPr>
                        </m:sSubPr>
                        <m:e>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r>
                            <m:rPr>
                              <m:sty m:val="p"/>
                            </m:rP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G</m:t>
                          </m:r>
                        </m:e>
                        <m:sub>
                          <m:r>
                            <a:rPr lang="en-GB" altLang="zh-CN" sz="1200" i="1">
                              <a:solidFill>
                                <a:prstClr val="black"/>
                              </a:solidFill>
                              <a:latin typeface="Cambria Math" panose="02040503050406030204" pitchFamily="18" charset="0"/>
                              <a:cs typeface="Arial" panose="020B0604020202020204" pitchFamily="34" charset="0"/>
                            </a:rPr>
                            <m:t>𝑦𝑟</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𝑦𝑟</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+1</m:t>
                          </m:r>
                        </m:sub>
                      </m:sSub>
                      <m:r>
                        <a:rPr lang="en-GB" altLang="zh-CN" sz="1200" i="1">
                          <a:solidFill>
                            <a:prstClr val="black"/>
                          </a:solidFill>
                          <a:latin typeface="Cambria Math" panose="02040503050406030204" pitchFamily="18" charset="0"/>
                          <a:cs typeface="Arial" panose="020B0604020202020204" pitchFamily="34" charset="0"/>
                        </a:rPr>
                        <m:t>=</m:t>
                      </m:r>
                      <m:sSub>
                        <m:sSubPr>
                          <m:ctrlP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ctrlPr>
                        </m:sSubPr>
                        <m:e>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𝐺</m:t>
                          </m:r>
                        </m:e>
                        <m:sub>
                          <m:r>
                            <a:rPr lang="en-GB" altLang="zh-CN" sz="1200" i="1">
                              <a:solidFill>
                                <a:prstClr val="black"/>
                              </a:solidFill>
                              <a:latin typeface="Cambria Math" panose="02040503050406030204" pitchFamily="18" charset="0"/>
                              <a:cs typeface="Arial" panose="020B0604020202020204" pitchFamily="34" charset="0"/>
                            </a:rPr>
                            <m:t>𝑦𝑟</m:t>
                          </m:r>
                          <m:r>
                            <a:rPr lang="en-GB" altLang="zh-CN" sz="1200" i="1">
                              <a:solidFill>
                                <a:prstClr val="black"/>
                              </a:solidFill>
                              <a:latin typeface="Cambria Math" panose="02040503050406030204" pitchFamily="18" charset="0"/>
                              <a:cs typeface="Arial" panose="020B0604020202020204" pitchFamily="34" charset="0"/>
                            </a:rPr>
                            <m:t>+1</m:t>
                          </m:r>
                        </m:sub>
                      </m:sSub>
                      <m:r>
                        <a:rPr lang="en-GB" altLang="zh-CN" sz="1200" i="1">
                          <a:solidFill>
                            <a:prstClr val="black"/>
                          </a:solidFill>
                          <a:latin typeface="Cambria Math" panose="02040503050406030204" pitchFamily="18" charset="0"/>
                          <a:cs typeface="Arial" panose="020B0604020202020204" pitchFamily="34" charset="0"/>
                        </a:rPr>
                        <m:t>−</m:t>
                      </m:r>
                      <m:sSub>
                        <m:sSubPr>
                          <m:ctrlP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ctrlPr>
                        </m:sSubPr>
                        <m:e>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𝐺</m:t>
                          </m:r>
                        </m:e>
                        <m:sub>
                          <m:r>
                            <a:rPr lang="en-GB" altLang="zh-CN" sz="1200" i="1">
                              <a:solidFill>
                                <a:prstClr val="black"/>
                              </a:solidFill>
                              <a:latin typeface="Cambria Math" panose="02040503050406030204" pitchFamily="18" charset="0"/>
                              <a:cs typeface="Arial" panose="020B0604020202020204" pitchFamily="34" charset="0"/>
                            </a:rPr>
                            <m:t>𝑦𝑟</m:t>
                          </m:r>
                        </m:sub>
                      </m:sSub>
                    </m:oMath>
                  </m:oMathPara>
                </a14:m>
                <a:endParaRPr lang="en-GB" altLang="zh-CN" sz="1200" dirty="0">
                  <a:solidFill>
                    <a:prstClr val="black"/>
                  </a:solidFill>
                  <a:ea typeface="等线" panose="02010600030101010101" pitchFamily="2" charset="-122"/>
                  <a:cs typeface="Arial" panose="020B0604020202020204" pitchFamily="34" charset="0"/>
                </a:endParaRPr>
              </a:p>
              <a:p>
                <a:pPr algn="ctr" defTabSz="457200"/>
                <a:endParaRPr lang="en-GB" altLang="zh-CN" sz="1200" dirty="0">
                  <a:solidFill>
                    <a:prstClr val="black"/>
                  </a:solidFill>
                  <a:latin typeface="Aptos" panose="02110004020202020204"/>
                  <a:ea typeface="Cambria Math" panose="02040503050406030204" pitchFamily="18" charset="0"/>
                  <a:cs typeface="Arial" panose="020B0604020202020204" pitchFamily="34" charset="0"/>
                </a:endParaRPr>
              </a:p>
              <a:p>
                <a:pPr algn="ctr" defTabSz="457200"/>
                <a:r>
                  <a:rPr lang="zh-CN" altLang="en-GB" sz="1200" b="1" dirty="0">
                    <a:solidFill>
                      <a:prstClr val="black"/>
                    </a:solidFill>
                    <a:latin typeface="Aptos" panose="02110004020202020204"/>
                    <a:ea typeface="Cambria Math" panose="02040503050406030204" pitchFamily="18" charset="0"/>
                    <a:cs typeface="Arial" panose="020B0604020202020204" pitchFamily="34" charset="0"/>
                  </a:rPr>
                  <a:t>损失</a:t>
                </a:r>
                <a:r>
                  <a:rPr lang="zh-CN" altLang="en-US" sz="1200" b="1" dirty="0">
                    <a:solidFill>
                      <a:prstClr val="black"/>
                    </a:solidFill>
                    <a:latin typeface="Aptos" panose="02110004020202020204"/>
                    <a:ea typeface="Cambria Math" panose="02040503050406030204" pitchFamily="18" charset="0"/>
                    <a:cs typeface="Arial" panose="020B0604020202020204" pitchFamily="34" charset="0"/>
                  </a:rPr>
                  <a:t>变化归因</a:t>
                </a:r>
                <a14:m>
                  <m:oMath xmlns:m="http://schemas.openxmlformats.org/officeDocument/2006/math">
                    <m:r>
                      <a:rPr lang="en-GB" altLang="zh-CN" sz="1200" b="1">
                        <a:solidFill>
                          <a:prstClr val="black"/>
                        </a:solidFill>
                        <a:latin typeface="Cambria Math" panose="02040503050406030204" pitchFamily="18" charset="0"/>
                        <a:ea typeface="Cambria Math" panose="02040503050406030204" pitchFamily="18" charset="0"/>
                        <a:cs typeface="Arial" panose="020B0604020202020204" pitchFamily="34" charset="0"/>
                      </a:rPr>
                      <m:t>:</m:t>
                    </m:r>
                  </m:oMath>
                </a14:m>
                <a:endParaRPr lang="en-GB" altLang="zh-CN" sz="1200" b="1" dirty="0">
                  <a:solidFill>
                    <a:prstClr val="black"/>
                  </a:solidFill>
                  <a:latin typeface="Cambria Math" panose="02040503050406030204" pitchFamily="18" charset="0"/>
                  <a:ea typeface="Cambria Math" panose="02040503050406030204" pitchFamily="18" charset="0"/>
                  <a:cs typeface="Arial" panose="020B0604020202020204" pitchFamily="34" charset="0"/>
                </a:endParaRPr>
              </a:p>
              <a:p>
                <a:pPr algn="ctr" defTabSz="457200"/>
                <a14:m>
                  <m:oMathPara xmlns:m="http://schemas.openxmlformats.org/officeDocument/2006/math">
                    <m:oMath>
                      <m:sSub>
                        <m:sSubPr>
                          <m:ctrlP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ctrlPr>
                        </m:sSubPr>
                        <m:e>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r>
                            <m:rPr>
                              <m:sty m:val="p"/>
                            </m:rP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G</m:t>
                          </m:r>
                        </m:e>
                        <m:sub>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𝑦𝑟</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𝑦𝑟</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+1</m:t>
                          </m:r>
                        </m:sub>
                      </m:sSub>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nary>
                        <m:naryPr>
                          <m:chr m:val="∑"/>
                          <m:supHide m:val="on"/>
                          <m:ctrlP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ctrlPr>
                        </m:naryPr>
                        <m:sub>
                          <m:r>
                            <m:rPr>
                              <m:brk m:alnAt="7"/>
                            </m:rP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𝑓</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𝑐</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𝐸</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𝑀</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GB" altLang="zh-CN" sz="120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𝑇</m:t>
                          </m:r>
                          <m:r>
                            <a:rPr lang="en-GB" altLang="zh-CN" sz="1200" i="1" smtClean="0">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𝑃</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sub>
                        <m:sup/>
                        <m:e>
                          <m:sSubSup>
                            <m:sSubSupPr>
                              <m:ctrlP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ctrlPr>
                            </m:sSubSupPr>
                            <m:e>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𝐺</m:t>
                              </m:r>
                            </m:e>
                            <m:sub>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𝑦𝑟</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𝑦𝑟</m:t>
                              </m:r>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+1</m:t>
                              </m:r>
                            </m:sub>
                            <m:sup>
                              <m:r>
                                <a:rPr lang="en-GB" altLang="zh-CN" sz="1200" i="1">
                                  <a:solidFill>
                                    <a:prstClr val="black"/>
                                  </a:solidFill>
                                  <a:latin typeface="Cambria Math" panose="02040503050406030204" pitchFamily="18" charset="0"/>
                                  <a:ea typeface="Cambria Math" panose="02040503050406030204" pitchFamily="18" charset="0"/>
                                  <a:cs typeface="Arial" panose="020B0604020202020204" pitchFamily="34" charset="0"/>
                                </a:rPr>
                                <m:t>𝑓𝑐</m:t>
                              </m:r>
                            </m:sup>
                          </m:sSubSup>
                        </m:e>
                      </m:nary>
                    </m:oMath>
                  </m:oMathPara>
                </a14:m>
                <a:endParaRPr lang="en-GB" altLang="zh-CN" sz="1200" dirty="0">
                  <a:solidFill>
                    <a:prstClr val="black"/>
                  </a:solidFill>
                  <a:latin typeface="Aptos" panose="02110004020202020204"/>
                  <a:ea typeface="Cambria Math" panose="02040503050406030204" pitchFamily="18" charset="0"/>
                  <a:cs typeface="Arial" panose="020B0604020202020204" pitchFamily="34" charset="0"/>
                </a:endParaRPr>
              </a:p>
              <a:p>
                <a:pPr algn="ctr" defTabSz="457200"/>
                <a:endParaRPr lang="en-GB" altLang="zh-CN" sz="1200" dirty="0">
                  <a:solidFill>
                    <a:prstClr val="black"/>
                  </a:solidFill>
                  <a:latin typeface="Aptos" panose="02110004020202020204"/>
                  <a:ea typeface="Cambria Math" panose="02040503050406030204" pitchFamily="18" charset="0"/>
                  <a:cs typeface="Arial" panose="020B0604020202020204" pitchFamily="34" charset="0"/>
                </a:endParaRPr>
              </a:p>
              <a:p>
                <a:pPr algn="ctr" defTabSz="457200"/>
                <a:endParaRPr lang="en-GB" altLang="zh-CN" sz="1200" dirty="0">
                  <a:solidFill>
                    <a:prstClr val="black"/>
                  </a:solidFill>
                  <a:latin typeface="Aptos" panose="02110004020202020204"/>
                  <a:ea typeface="Cambria Math" panose="02040503050406030204" pitchFamily="18" charset="0"/>
                  <a:cs typeface="Arial" panose="020B0604020202020204" pitchFamily="34" charset="0"/>
                </a:endParaRPr>
              </a:p>
            </p:txBody>
          </p:sp>
        </mc:Choice>
        <mc:Fallback xmlns="">
          <p:sp>
            <p:nvSpPr>
              <p:cNvPr id="17" name="TextBox 16">
                <a:extLst>
                  <a:ext uri="{FF2B5EF4-FFF2-40B4-BE49-F238E27FC236}">
                    <a16:creationId xmlns:a16="http://schemas.microsoft.com/office/drawing/2014/main" id="{24CFBA22-3649-FE3C-DB58-8C88CDE06BB4}"/>
                  </a:ext>
                </a:extLst>
              </p:cNvPr>
              <p:cNvSpPr txBox="1">
                <a:spLocks noRot="1" noChangeAspect="1" noMove="1" noResize="1" noEditPoints="1" noAdjustHandles="1" noChangeArrowheads="1" noChangeShapeType="1" noTextEdit="1"/>
              </p:cNvSpPr>
              <p:nvPr/>
            </p:nvSpPr>
            <p:spPr>
              <a:xfrm>
                <a:off x="6059754" y="1974306"/>
                <a:ext cx="2205188" cy="3142014"/>
              </a:xfrm>
              <a:prstGeom prst="rect">
                <a:avLst/>
              </a:prstGeom>
              <a:blipFill>
                <a:blip r:embed="rId3"/>
                <a:stretch>
                  <a:fillRect t="-8468" b="-15726"/>
                </a:stretch>
              </a:blipFill>
              <a:ln>
                <a:noFill/>
              </a:ln>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6E0285E-8E1B-FBAE-0316-8FC5176A4534}"/>
                  </a:ext>
                </a:extLst>
              </p:cNvPr>
              <p:cNvSpPr txBox="1"/>
              <p:nvPr/>
            </p:nvSpPr>
            <p:spPr>
              <a:xfrm>
                <a:off x="6061087" y="5001671"/>
                <a:ext cx="2208697" cy="606641"/>
              </a:xfrm>
              <a:prstGeom prst="rect">
                <a:avLst/>
              </a:prstGeom>
              <a:solidFill>
                <a:srgbClr val="196B24">
                  <a:lumMod val="20000"/>
                  <a:lumOff val="80000"/>
                </a:srgbClr>
              </a:solidFill>
              <a:ln>
                <a:noFill/>
              </a:ln>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prstClr val="black"/>
                    </a:solidFill>
                    <a:effectLst/>
                    <a:uLnTx/>
                    <a:uFillTx/>
                    <a:latin typeface="Aptos" panose="02110004020202020204"/>
                    <a:ea typeface="等线" panose="02010600030101010101" pitchFamily="2" charset="-122"/>
                  </a:rPr>
                  <a:t>发电量</a:t>
                </a:r>
                <a:r>
                  <a:rPr kumimoji="0" lang="zh-CN" altLang="en-US" sz="1400" b="1" i="0" u="none" strike="noStrike" kern="0" cap="none" spc="0" normalizeH="0" baseline="0" noProof="0">
                    <a:ln>
                      <a:noFill/>
                    </a:ln>
                    <a:solidFill>
                      <a:prstClr val="black"/>
                    </a:solidFill>
                    <a:effectLst/>
                    <a:uLnTx/>
                    <a:uFillTx/>
                    <a:latin typeface="Aptos" panose="02110004020202020204"/>
                    <a:ea typeface="等线" panose="02010600030101010101" pitchFamily="2" charset="-122"/>
                  </a:rPr>
                  <a:t>损失变化</a:t>
                </a:r>
                <a:r>
                  <a:rPr kumimoji="0" lang="zh-CN" altLang="en-GB" sz="1400" b="1" i="0" u="none" strike="noStrike" kern="0" cap="none" spc="0" normalizeH="0" baseline="0" noProof="0">
                    <a:ln>
                      <a:noFill/>
                    </a:ln>
                    <a:solidFill>
                      <a:prstClr val="black"/>
                    </a:solidFill>
                    <a:effectLst/>
                    <a:uLnTx/>
                    <a:uFillTx/>
                    <a:latin typeface="Aptos" panose="02110004020202020204"/>
                    <a:ea typeface="等线" panose="02010600030101010101" pitchFamily="2" charset="-122"/>
                  </a:rPr>
                  <a:t>及其</a:t>
                </a:r>
                <a:r>
                  <a:rPr kumimoji="0" lang="zh-CN" altLang="en-US" sz="1400" b="1" i="0" u="none" strike="noStrike" kern="0" cap="none" spc="0" normalizeH="0" baseline="0" noProof="0">
                    <a:ln>
                      <a:noFill/>
                    </a:ln>
                    <a:solidFill>
                      <a:prstClr val="black"/>
                    </a:solidFill>
                    <a:effectLst/>
                    <a:uLnTx/>
                    <a:uFillTx/>
                    <a:latin typeface="Aptos" panose="02110004020202020204"/>
                    <a:ea typeface="等线" panose="02010600030101010101" pitchFamily="2" charset="-122"/>
                  </a:rPr>
                  <a:t>驱动</a:t>
                </a:r>
                <a:r>
                  <a:rPr kumimoji="0" lang="zh-CN" altLang="en-US" sz="1400" b="1" i="0" u="none" strike="noStrike" kern="0" cap="none" spc="0" normalizeH="0" baseline="0" noProof="0" dirty="0">
                    <a:ln>
                      <a:noFill/>
                    </a:ln>
                    <a:solidFill>
                      <a:prstClr val="black"/>
                    </a:solidFill>
                    <a:effectLst/>
                    <a:uLnTx/>
                    <a:uFillTx/>
                    <a:latin typeface="Aptos" panose="02110004020202020204"/>
                    <a:ea typeface="等线" panose="02010600030101010101" pitchFamily="2" charset="-122"/>
                  </a:rPr>
                  <a:t>因素（</a:t>
                </a:r>
                <a14:m>
                  <m:oMath xmlns:m="http://schemas.openxmlformats.org/officeDocument/2006/math">
                    <m:sSubSup>
                      <m:sSubSupPr>
                        <m:ctrlPr>
                          <a:rPr kumimoji="0" lang="en-US" altLang="zh-CN" sz="1400" b="1"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sSubSupPr>
                      <m:e>
                        <m:r>
                          <a:rPr kumimoji="0" lang="en-US" altLang="zh-CN" sz="1400" b="1"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m:rPr>
                            <m:sty m:val="p"/>
                          </m:rPr>
                          <a:rPr kumimoji="0" lang="en-US" altLang="zh-CN" sz="1400" b="1"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G</m:t>
                        </m:r>
                      </m:e>
                      <m:sub>
                        <m:r>
                          <a:rPr kumimoji="0" lang="en-GB" altLang="zh-CN" sz="1400" b="1" i="1" u="none" strike="noStrike" kern="0" cap="none" spc="0" normalizeH="0" baseline="0" noProof="0" smtClean="0">
                            <a:ln>
                              <a:noFill/>
                            </a:ln>
                            <a:solidFill>
                              <a:prstClr val="black"/>
                            </a:solidFill>
                            <a:effectLst/>
                            <a:uLnTx/>
                            <a:uFillTx/>
                            <a:latin typeface="Cambria Math" panose="02040503050406030204" pitchFamily="18" charset="0"/>
                          </a:rPr>
                          <m:t>𝒚𝒓</m:t>
                        </m:r>
                        <m:r>
                          <a:rPr kumimoji="0" lang="en-GB" altLang="zh-CN" sz="1400" b="1"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GB" altLang="zh-CN" sz="1400" b="1"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𝒚𝒓</m:t>
                        </m:r>
                        <m:r>
                          <a:rPr kumimoji="0" lang="en-GB" altLang="zh-CN" sz="1400" b="1"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GB" altLang="zh-CN" sz="1400" b="1"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𝟏</m:t>
                        </m:r>
                      </m:sub>
                      <m:sup>
                        <m:r>
                          <a:rPr kumimoji="0" lang="en-GB" altLang="zh-CN" sz="1400" b="1" i="1" u="none" strike="noStrike" kern="0" cap="none" spc="0" normalizeH="0" baseline="0" noProof="0" smtClean="0">
                            <a:ln>
                              <a:noFill/>
                            </a:ln>
                            <a:solidFill>
                              <a:prstClr val="black"/>
                            </a:solidFill>
                            <a:effectLst/>
                            <a:uLnTx/>
                            <a:uFillTx/>
                            <a:latin typeface="Cambria Math" panose="02040503050406030204" pitchFamily="18" charset="0"/>
                          </a:rPr>
                          <m:t>𝒇𝒄</m:t>
                        </m:r>
                      </m:sup>
                    </m:sSubSup>
                  </m:oMath>
                </a14:m>
                <a:r>
                  <a:rPr kumimoji="0" lang="zh-CN" altLang="en-US" sz="1400" b="1" i="0" u="none" strike="noStrike" kern="0" cap="none" spc="0" normalizeH="0" baseline="0" noProof="0" dirty="0">
                    <a:ln>
                      <a:noFill/>
                    </a:ln>
                    <a:solidFill>
                      <a:prstClr val="black"/>
                    </a:solidFill>
                    <a:effectLst/>
                    <a:uLnTx/>
                    <a:uFillTx/>
                    <a:latin typeface="Aptos" panose="02110004020202020204"/>
                    <a:ea typeface="等线" panose="02010600030101010101" pitchFamily="2" charset="-122"/>
                  </a:rPr>
                  <a:t>）</a:t>
                </a:r>
                <a:endParaRPr kumimoji="0" lang="en-US" altLang="zh-CN" sz="1400" b="1" i="0" u="none" strike="noStrike" kern="0" cap="none" spc="0" normalizeH="0" baseline="0" noProof="0" dirty="0">
                  <a:ln>
                    <a:noFill/>
                  </a:ln>
                  <a:solidFill>
                    <a:prstClr val="black"/>
                  </a:solidFill>
                  <a:effectLst/>
                  <a:uLnTx/>
                  <a:uFillTx/>
                  <a:latin typeface="Aptos" panose="02110004020202020204"/>
                  <a:ea typeface="等线" panose="02010600030101010101" pitchFamily="2" charset="-122"/>
                </a:endParaRPr>
              </a:p>
            </p:txBody>
          </p:sp>
        </mc:Choice>
        <mc:Fallback xmlns="">
          <p:sp>
            <p:nvSpPr>
              <p:cNvPr id="18" name="TextBox 17">
                <a:extLst>
                  <a:ext uri="{FF2B5EF4-FFF2-40B4-BE49-F238E27FC236}">
                    <a16:creationId xmlns:a16="http://schemas.microsoft.com/office/drawing/2014/main" id="{B6E0285E-8E1B-FBAE-0316-8FC5176A4534}"/>
                  </a:ext>
                </a:extLst>
              </p:cNvPr>
              <p:cNvSpPr txBox="1">
                <a:spLocks noRot="1" noChangeAspect="1" noMove="1" noResize="1" noEditPoints="1" noAdjustHandles="1" noChangeArrowheads="1" noChangeShapeType="1" noTextEdit="1"/>
              </p:cNvSpPr>
              <p:nvPr/>
            </p:nvSpPr>
            <p:spPr>
              <a:xfrm>
                <a:off x="6061087" y="5001671"/>
                <a:ext cx="2208697" cy="606641"/>
              </a:xfrm>
              <a:prstGeom prst="rect">
                <a:avLst/>
              </a:prstGeom>
              <a:blipFill>
                <a:blip r:embed="rId4"/>
                <a:stretch>
                  <a:fillRect b="-4082"/>
                </a:stretch>
              </a:blipFill>
              <a:ln>
                <a:noFill/>
              </a:ln>
            </p:spPr>
            <p:txBody>
              <a:bodyPr/>
              <a:lstStyle/>
              <a:p>
                <a:r>
                  <a:rPr lang="en-CN">
                    <a:noFill/>
                  </a:rPr>
                  <a:t> </a:t>
                </a:r>
              </a:p>
            </p:txBody>
          </p:sp>
        </mc:Fallback>
      </mc:AlternateContent>
      <p:sp>
        <p:nvSpPr>
          <p:cNvPr id="19" name="Rectangle 18">
            <a:extLst>
              <a:ext uri="{FF2B5EF4-FFF2-40B4-BE49-F238E27FC236}">
                <a16:creationId xmlns:a16="http://schemas.microsoft.com/office/drawing/2014/main" id="{5626F36D-941B-987F-8E59-E86A6AE4B8F8}"/>
              </a:ext>
            </a:extLst>
          </p:cNvPr>
          <p:cNvSpPr/>
          <p:nvPr/>
        </p:nvSpPr>
        <p:spPr>
          <a:xfrm>
            <a:off x="6059021" y="1451086"/>
            <a:ext cx="2208698" cy="4145044"/>
          </a:xfrm>
          <a:prstGeom prst="rect">
            <a:avLst/>
          </a:prstGeom>
          <a:noFill/>
          <a:ln w="19050" cap="flat" cmpd="sng" algn="ctr">
            <a:solidFill>
              <a:srgbClr val="4EA72E"/>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472" b="0" i="0" u="none" strike="noStrike" kern="0" cap="none" spc="0" normalizeH="0" baseline="0" noProof="0">
              <a:ln>
                <a:noFill/>
              </a:ln>
              <a:solidFill>
                <a:prstClr val="white"/>
              </a:solidFill>
              <a:effectLst/>
              <a:uLnTx/>
              <a:uFillTx/>
              <a:latin typeface="Aptos" panose="02110004020202020204"/>
              <a:ea typeface="+mn-ea"/>
              <a:cs typeface="+mn-cs"/>
            </a:endParaRPr>
          </a:p>
        </p:txBody>
      </p:sp>
      <p:cxnSp>
        <p:nvCxnSpPr>
          <p:cNvPr id="25" name="Straight Arrow Connector 24">
            <a:extLst>
              <a:ext uri="{FF2B5EF4-FFF2-40B4-BE49-F238E27FC236}">
                <a16:creationId xmlns:a16="http://schemas.microsoft.com/office/drawing/2014/main" id="{F33EB3F8-838C-CC74-0837-B3FCAB216A6D}"/>
              </a:ext>
            </a:extLst>
          </p:cNvPr>
          <p:cNvCxnSpPr>
            <a:cxnSpLocks/>
            <a:endCxn id="65" idx="3"/>
          </p:cNvCxnSpPr>
          <p:nvPr/>
        </p:nvCxnSpPr>
        <p:spPr>
          <a:xfrm flipH="1">
            <a:off x="5600338" y="2623408"/>
            <a:ext cx="692886" cy="12496"/>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 name="Rectangle 29">
            <a:extLst>
              <a:ext uri="{FF2B5EF4-FFF2-40B4-BE49-F238E27FC236}">
                <a16:creationId xmlns:a16="http://schemas.microsoft.com/office/drawing/2014/main" id="{EE7F395F-1892-2163-2201-855625178A28}"/>
              </a:ext>
            </a:extLst>
          </p:cNvPr>
          <p:cNvSpPr/>
          <p:nvPr/>
        </p:nvSpPr>
        <p:spPr>
          <a:xfrm>
            <a:off x="1009884" y="1904127"/>
            <a:ext cx="720000" cy="72000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5" name="Rectangle 34">
            <a:extLst>
              <a:ext uri="{FF2B5EF4-FFF2-40B4-BE49-F238E27FC236}">
                <a16:creationId xmlns:a16="http://schemas.microsoft.com/office/drawing/2014/main" id="{8AB24AA1-155E-E12F-512C-3A7CDD363F30}"/>
              </a:ext>
            </a:extLst>
          </p:cNvPr>
          <p:cNvSpPr/>
          <p:nvPr/>
        </p:nvSpPr>
        <p:spPr>
          <a:xfrm>
            <a:off x="1729884" y="1904127"/>
            <a:ext cx="720000" cy="72000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6" name="Rectangle 35">
            <a:extLst>
              <a:ext uri="{FF2B5EF4-FFF2-40B4-BE49-F238E27FC236}">
                <a16:creationId xmlns:a16="http://schemas.microsoft.com/office/drawing/2014/main" id="{4EE8C439-53EF-5167-36E7-80C6C082D69A}"/>
              </a:ext>
            </a:extLst>
          </p:cNvPr>
          <p:cNvSpPr/>
          <p:nvPr/>
        </p:nvSpPr>
        <p:spPr>
          <a:xfrm>
            <a:off x="1009884" y="2623410"/>
            <a:ext cx="720000" cy="72000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7" name="Rectangle 36">
            <a:extLst>
              <a:ext uri="{FF2B5EF4-FFF2-40B4-BE49-F238E27FC236}">
                <a16:creationId xmlns:a16="http://schemas.microsoft.com/office/drawing/2014/main" id="{2E633457-B843-E063-F0B5-21F428A47D48}"/>
              </a:ext>
            </a:extLst>
          </p:cNvPr>
          <p:cNvSpPr/>
          <p:nvPr/>
        </p:nvSpPr>
        <p:spPr>
          <a:xfrm>
            <a:off x="1729884" y="2623410"/>
            <a:ext cx="720000" cy="72000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4" name="Regular Pentagon 33">
            <a:extLst>
              <a:ext uri="{FF2B5EF4-FFF2-40B4-BE49-F238E27FC236}">
                <a16:creationId xmlns:a16="http://schemas.microsoft.com/office/drawing/2014/main" id="{714B069F-C568-2A9F-0158-DBE4C2494302}"/>
              </a:ext>
            </a:extLst>
          </p:cNvPr>
          <p:cNvSpPr/>
          <p:nvPr/>
        </p:nvSpPr>
        <p:spPr>
          <a:xfrm>
            <a:off x="1468567" y="2188278"/>
            <a:ext cx="925227" cy="881446"/>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8" name="Freeform 47">
            <a:extLst>
              <a:ext uri="{FF2B5EF4-FFF2-40B4-BE49-F238E27FC236}">
                <a16:creationId xmlns:a16="http://schemas.microsoft.com/office/drawing/2014/main" id="{4AF13FBE-EEC1-DCB0-3046-87F1A5D0ECEC}"/>
              </a:ext>
            </a:extLst>
          </p:cNvPr>
          <p:cNvSpPr/>
          <p:nvPr/>
        </p:nvSpPr>
        <p:spPr>
          <a:xfrm>
            <a:off x="3045252" y="2187559"/>
            <a:ext cx="663909" cy="435849"/>
          </a:xfrm>
          <a:custGeom>
            <a:avLst/>
            <a:gdLst>
              <a:gd name="csX0" fmla="*/ 201297 w 663909"/>
              <a:gd name="csY0" fmla="*/ 0 h 435849"/>
              <a:gd name="csX1" fmla="*/ 663909 w 663909"/>
              <a:gd name="csY1" fmla="*/ 336682 h 435849"/>
              <a:gd name="csX2" fmla="*/ 631743 w 663909"/>
              <a:gd name="csY2" fmla="*/ 435849 h 435849"/>
              <a:gd name="csX3" fmla="*/ 0 w 663909"/>
              <a:gd name="csY3" fmla="*/ 435849 h 435849"/>
              <a:gd name="csX4" fmla="*/ 0 w 663909"/>
              <a:gd name="csY4" fmla="*/ 146501 h 435849"/>
            </a:gdLst>
            <a:ahLst/>
            <a:cxnLst>
              <a:cxn ang="0">
                <a:pos x="csX0" y="csY0"/>
              </a:cxn>
              <a:cxn ang="0">
                <a:pos x="csX1" y="csY1"/>
              </a:cxn>
              <a:cxn ang="0">
                <a:pos x="csX2" y="csY2"/>
              </a:cxn>
              <a:cxn ang="0">
                <a:pos x="csX3" y="csY3"/>
              </a:cxn>
              <a:cxn ang="0">
                <a:pos x="csX4" y="csY4"/>
              </a:cxn>
            </a:cxnLst>
            <a:rect l="l" t="t" r="r" b="b"/>
            <a:pathLst>
              <a:path w="663909" h="435849">
                <a:moveTo>
                  <a:pt x="201297" y="0"/>
                </a:moveTo>
                <a:lnTo>
                  <a:pt x="663909" y="336682"/>
                </a:lnTo>
                <a:lnTo>
                  <a:pt x="631743" y="435849"/>
                </a:lnTo>
                <a:lnTo>
                  <a:pt x="0" y="435849"/>
                </a:lnTo>
                <a:lnTo>
                  <a:pt x="0" y="146501"/>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N"/>
          </a:p>
        </p:txBody>
      </p:sp>
      <p:sp>
        <p:nvSpPr>
          <p:cNvPr id="51" name="Freeform 50">
            <a:extLst>
              <a:ext uri="{FF2B5EF4-FFF2-40B4-BE49-F238E27FC236}">
                <a16:creationId xmlns:a16="http://schemas.microsoft.com/office/drawing/2014/main" id="{6ECF881C-511F-86F4-57CD-E98C7F5F3645}"/>
              </a:ext>
            </a:extLst>
          </p:cNvPr>
          <p:cNvSpPr/>
          <p:nvPr/>
        </p:nvSpPr>
        <p:spPr>
          <a:xfrm>
            <a:off x="2815569" y="2623410"/>
            <a:ext cx="229382" cy="446312"/>
          </a:xfrm>
          <a:custGeom>
            <a:avLst/>
            <a:gdLst>
              <a:gd name="csX0" fmla="*/ 0 w 229382"/>
              <a:gd name="csY0" fmla="*/ 0 h 446312"/>
              <a:gd name="csX1" fmla="*/ 229382 w 229382"/>
              <a:gd name="csY1" fmla="*/ 0 h 446312"/>
              <a:gd name="csX2" fmla="*/ 229382 w 229382"/>
              <a:gd name="csY2" fmla="*/ 446312 h 446312"/>
              <a:gd name="csX3" fmla="*/ 144768 w 229382"/>
              <a:gd name="csY3" fmla="*/ 446312 h 446312"/>
            </a:gdLst>
            <a:ahLst/>
            <a:cxnLst>
              <a:cxn ang="0">
                <a:pos x="csX0" y="csY0"/>
              </a:cxn>
              <a:cxn ang="0">
                <a:pos x="csX1" y="csY1"/>
              </a:cxn>
              <a:cxn ang="0">
                <a:pos x="csX2" y="csY2"/>
              </a:cxn>
              <a:cxn ang="0">
                <a:pos x="csX3" y="csY3"/>
              </a:cxn>
            </a:cxnLst>
            <a:rect l="l" t="t" r="r" b="b"/>
            <a:pathLst>
              <a:path w="229382" h="446312">
                <a:moveTo>
                  <a:pt x="0" y="0"/>
                </a:moveTo>
                <a:lnTo>
                  <a:pt x="229382" y="0"/>
                </a:lnTo>
                <a:lnTo>
                  <a:pt x="229382" y="446312"/>
                </a:lnTo>
                <a:lnTo>
                  <a:pt x="144768" y="446312"/>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N"/>
          </a:p>
        </p:txBody>
      </p:sp>
      <p:sp>
        <p:nvSpPr>
          <p:cNvPr id="54" name="Freeform 53">
            <a:extLst>
              <a:ext uri="{FF2B5EF4-FFF2-40B4-BE49-F238E27FC236}">
                <a16:creationId xmlns:a16="http://schemas.microsoft.com/office/drawing/2014/main" id="{6D77A825-4C1B-84B1-26EE-37EEA90DD0C0}"/>
              </a:ext>
            </a:extLst>
          </p:cNvPr>
          <p:cNvSpPr/>
          <p:nvPr/>
        </p:nvSpPr>
        <p:spPr>
          <a:xfrm>
            <a:off x="3045252" y="2623410"/>
            <a:ext cx="631975" cy="446312"/>
          </a:xfrm>
          <a:custGeom>
            <a:avLst/>
            <a:gdLst>
              <a:gd name="csX0" fmla="*/ 0 w 631975"/>
              <a:gd name="csY0" fmla="*/ 0 h 446312"/>
              <a:gd name="csX1" fmla="*/ 631975 w 631975"/>
              <a:gd name="csY1" fmla="*/ 0 h 446312"/>
              <a:gd name="csX2" fmla="*/ 487207 w 631975"/>
              <a:gd name="csY2" fmla="*/ 446312 h 446312"/>
              <a:gd name="csX3" fmla="*/ 0 w 631975"/>
              <a:gd name="csY3" fmla="*/ 446312 h 446312"/>
            </a:gdLst>
            <a:ahLst/>
            <a:cxnLst>
              <a:cxn ang="0">
                <a:pos x="csX0" y="csY0"/>
              </a:cxn>
              <a:cxn ang="0">
                <a:pos x="csX1" y="csY1"/>
              </a:cxn>
              <a:cxn ang="0">
                <a:pos x="csX2" y="csY2"/>
              </a:cxn>
              <a:cxn ang="0">
                <a:pos x="csX3" y="csY3"/>
              </a:cxn>
            </a:cxnLst>
            <a:rect l="l" t="t" r="r" b="b"/>
            <a:pathLst>
              <a:path w="631975" h="446312">
                <a:moveTo>
                  <a:pt x="0" y="0"/>
                </a:moveTo>
                <a:lnTo>
                  <a:pt x="631975" y="0"/>
                </a:lnTo>
                <a:lnTo>
                  <a:pt x="487207" y="446312"/>
                </a:lnTo>
                <a:lnTo>
                  <a:pt x="0" y="446312"/>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N"/>
          </a:p>
        </p:txBody>
      </p:sp>
      <p:sp>
        <p:nvSpPr>
          <p:cNvPr id="57" name="Freeform 56">
            <a:extLst>
              <a:ext uri="{FF2B5EF4-FFF2-40B4-BE49-F238E27FC236}">
                <a16:creationId xmlns:a16="http://schemas.microsoft.com/office/drawing/2014/main" id="{D1076D5A-BB36-9F05-CF99-5EAE5AB01CAA}"/>
              </a:ext>
            </a:extLst>
          </p:cNvPr>
          <p:cNvSpPr/>
          <p:nvPr/>
        </p:nvSpPr>
        <p:spPr>
          <a:xfrm>
            <a:off x="2783786" y="2334060"/>
            <a:ext cx="261316" cy="289348"/>
          </a:xfrm>
          <a:custGeom>
            <a:avLst/>
            <a:gdLst>
              <a:gd name="csX0" fmla="*/ 261316 w 261316"/>
              <a:gd name="csY0" fmla="*/ 0 h 289348"/>
              <a:gd name="csX1" fmla="*/ 261316 w 261316"/>
              <a:gd name="csY1" fmla="*/ 289348 h 289348"/>
              <a:gd name="csX2" fmla="*/ 32167 w 261316"/>
              <a:gd name="csY2" fmla="*/ 289348 h 289348"/>
              <a:gd name="csX3" fmla="*/ 0 w 261316"/>
              <a:gd name="csY3" fmla="*/ 190181 h 289348"/>
            </a:gdLst>
            <a:ahLst/>
            <a:cxnLst>
              <a:cxn ang="0">
                <a:pos x="csX0" y="csY0"/>
              </a:cxn>
              <a:cxn ang="0">
                <a:pos x="csX1" y="csY1"/>
              </a:cxn>
              <a:cxn ang="0">
                <a:pos x="csX2" y="csY2"/>
              </a:cxn>
              <a:cxn ang="0">
                <a:pos x="csX3" y="csY3"/>
              </a:cxn>
            </a:cxnLst>
            <a:rect l="l" t="t" r="r" b="b"/>
            <a:pathLst>
              <a:path w="261316" h="289348">
                <a:moveTo>
                  <a:pt x="261316" y="0"/>
                </a:moveTo>
                <a:lnTo>
                  <a:pt x="261316" y="289348"/>
                </a:lnTo>
                <a:lnTo>
                  <a:pt x="32167" y="289348"/>
                </a:lnTo>
                <a:lnTo>
                  <a:pt x="0" y="190181"/>
                </a:lnTo>
                <a:close/>
              </a:path>
            </a:pathLst>
          </a:cu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N"/>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1DF59DE3-CA5A-4142-D81A-5EF97BAC7DF5}"/>
                  </a:ext>
                </a:extLst>
              </p:cNvPr>
              <p:cNvSpPr txBox="1"/>
              <p:nvPr/>
            </p:nvSpPr>
            <p:spPr>
              <a:xfrm>
                <a:off x="3977604" y="2344830"/>
                <a:ext cx="1369606" cy="582147"/>
              </a:xfrm>
              <a:prstGeom prst="rect">
                <a:avLst/>
              </a:prstGeom>
              <a:noFill/>
            </p:spPr>
            <p:txBody>
              <a:bodyPr wrap="none" lIns="0" tIns="0" rIns="0" bIns="0" rtlCol="0">
                <a:spAutoFit/>
              </a:bodyPr>
              <a:lstStyle/>
              <a:p>
                <a:pPr/>
                <a14:m>
                  <m:oMathPara xmlns:m="http://schemas.openxmlformats.org/officeDocument/2006/math">
                    <m:oMath>
                      <m:r>
                        <m:rPr>
                          <m:sty m:val="p"/>
                        </m:rPr>
                        <a:rPr lang="en-CN" i="1" smtClean="0">
                          <a:latin typeface="Cambria Math" panose="02040503050406030204" pitchFamily="18" charset="0"/>
                        </a:rPr>
                        <m:t>CF</m:t>
                      </m:r>
                      <m:r>
                        <a:rPr lang="en-US" b="0" i="1" smtClean="0">
                          <a:latin typeface="Cambria Math" panose="02040503050406030204" pitchFamily="18" charset="0"/>
                        </a:rPr>
                        <m:t>=</m:t>
                      </m:r>
                      <m:f>
                        <m:fPr>
                          <m:ctrlPr>
                            <a:rPr lang="en-CN" b="0" i="1" smtClean="0">
                              <a:latin typeface="Cambria Math" panose="02040503050406030204" pitchFamily="18" charset="0"/>
                            </a:rPr>
                          </m:ctrlPr>
                        </m:fPr>
                        <m:num>
                          <m:nary>
                            <m:naryPr>
                              <m:chr m:val="∑"/>
                              <m:subHide m:val="on"/>
                              <m:supHide m:val="on"/>
                              <m:ctrlPr>
                                <a:rPr lang="en-CN" b="0" i="1" smtClean="0">
                                  <a:latin typeface="Cambria Math" panose="02040503050406030204" pitchFamily="18" charset="0"/>
                                </a:rPr>
                              </m:ctrlPr>
                            </m:naryP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𝐶𝐹</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e>
                          </m:nary>
                        </m:num>
                        <m:den>
                          <m:nary>
                            <m:naryPr>
                              <m:chr m:val="∑"/>
                              <m:subHide m:val="on"/>
                              <m:supHide m:val="on"/>
                              <m:ctrlPr>
                                <a:rPr lang="en-CN" b="0" i="1" smtClean="0">
                                  <a:latin typeface="Cambria Math" panose="02040503050406030204" pitchFamily="18" charset="0"/>
                                </a:rPr>
                              </m:ctrlPr>
                            </m:naryP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e>
                          </m:nary>
                        </m:den>
                      </m:f>
                    </m:oMath>
                  </m:oMathPara>
                </a14:m>
                <a:endParaRPr lang="en-CN" dirty="0"/>
              </a:p>
            </p:txBody>
          </p:sp>
        </mc:Choice>
        <mc:Fallback xmlns="">
          <p:sp>
            <p:nvSpPr>
              <p:cNvPr id="59" name="TextBox 58">
                <a:extLst>
                  <a:ext uri="{FF2B5EF4-FFF2-40B4-BE49-F238E27FC236}">
                    <a16:creationId xmlns:a16="http://schemas.microsoft.com/office/drawing/2014/main" id="{1DF59DE3-CA5A-4142-D81A-5EF97BAC7DF5}"/>
                  </a:ext>
                </a:extLst>
              </p:cNvPr>
              <p:cNvSpPr txBox="1">
                <a:spLocks noRot="1" noChangeAspect="1" noMove="1" noResize="1" noEditPoints="1" noAdjustHandles="1" noChangeArrowheads="1" noChangeShapeType="1" noTextEdit="1"/>
              </p:cNvSpPr>
              <p:nvPr/>
            </p:nvSpPr>
            <p:spPr>
              <a:xfrm>
                <a:off x="3977604" y="2344830"/>
                <a:ext cx="1369606" cy="582147"/>
              </a:xfrm>
              <a:prstGeom prst="rect">
                <a:avLst/>
              </a:prstGeom>
              <a:blipFill>
                <a:blip r:embed="rId5"/>
                <a:stretch>
                  <a:fillRect l="-1835" t="-80851" r="-917" b="-117021"/>
                </a:stretch>
              </a:blipFill>
            </p:spPr>
            <p:txBody>
              <a:bodyPr/>
              <a:lstStyle/>
              <a:p>
                <a:r>
                  <a:rPr lang="en-CN">
                    <a:noFill/>
                  </a:rPr>
                  <a:t> </a:t>
                </a:r>
              </a:p>
            </p:txBody>
          </p:sp>
        </mc:Fallback>
      </mc:AlternateContent>
      <p:sp>
        <p:nvSpPr>
          <p:cNvPr id="65" name="Rectangle 64">
            <a:extLst>
              <a:ext uri="{FF2B5EF4-FFF2-40B4-BE49-F238E27FC236}">
                <a16:creationId xmlns:a16="http://schemas.microsoft.com/office/drawing/2014/main" id="{68F53C5E-B28F-DC44-BDD1-44F725E70D84}"/>
              </a:ext>
            </a:extLst>
          </p:cNvPr>
          <p:cNvSpPr/>
          <p:nvPr/>
        </p:nvSpPr>
        <p:spPr>
          <a:xfrm>
            <a:off x="745950" y="1714796"/>
            <a:ext cx="4854388" cy="1842216"/>
          </a:xfrm>
          <a:prstGeom prst="rect">
            <a:avLst/>
          </a:prstGeom>
          <a:noFill/>
          <a:ln w="19050" cap="flat" cmpd="sng" algn="ctr">
            <a:solidFill>
              <a:schemeClr val="accent1"/>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472" b="0" i="0" u="none" strike="noStrike" kern="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graphicFrame>
            <p:nvGraphicFramePr>
              <p:cNvPr id="68" name="Table 67">
                <a:extLst>
                  <a:ext uri="{FF2B5EF4-FFF2-40B4-BE49-F238E27FC236}">
                    <a16:creationId xmlns:a16="http://schemas.microsoft.com/office/drawing/2014/main" id="{95AA19AE-565E-410F-1EDA-9312005179A2}"/>
                  </a:ext>
                </a:extLst>
              </p:cNvPr>
              <p:cNvGraphicFramePr>
                <a:graphicFrameLocks noGrp="1"/>
              </p:cNvGraphicFramePr>
              <p:nvPr>
                <p:extLst>
                  <p:ext uri="{D42A27DB-BD31-4B8C-83A1-F6EECF244321}">
                    <p14:modId xmlns:p14="http://schemas.microsoft.com/office/powerpoint/2010/main" val="380430053"/>
                  </p:ext>
                </p:extLst>
              </p:nvPr>
            </p:nvGraphicFramePr>
            <p:xfrm>
              <a:off x="745948" y="3835591"/>
              <a:ext cx="4854390" cy="1760539"/>
            </p:xfrm>
            <a:graphic>
              <a:graphicData uri="http://schemas.openxmlformats.org/drawingml/2006/table">
                <a:tbl>
                  <a:tblPr firstRow="1" bandRow="1">
                    <a:tableStyleId>{5C22544A-7EE6-4342-B048-85BDC9FD1C3A}</a:tableStyleId>
                  </a:tblPr>
                  <a:tblGrid>
                    <a:gridCol w="1618130">
                      <a:extLst>
                        <a:ext uri="{9D8B030D-6E8A-4147-A177-3AD203B41FA5}">
                          <a16:colId xmlns:a16="http://schemas.microsoft.com/office/drawing/2014/main" val="109115177"/>
                        </a:ext>
                      </a:extLst>
                    </a:gridCol>
                    <a:gridCol w="1618130">
                      <a:extLst>
                        <a:ext uri="{9D8B030D-6E8A-4147-A177-3AD203B41FA5}">
                          <a16:colId xmlns:a16="http://schemas.microsoft.com/office/drawing/2014/main" val="1645965103"/>
                        </a:ext>
                      </a:extLst>
                    </a:gridCol>
                    <a:gridCol w="1618130">
                      <a:extLst>
                        <a:ext uri="{9D8B030D-6E8A-4147-A177-3AD203B41FA5}">
                          <a16:colId xmlns:a16="http://schemas.microsoft.com/office/drawing/2014/main" val="805792371"/>
                        </a:ext>
                      </a:extLst>
                    </a:gridCol>
                  </a:tblGrid>
                  <a:tr h="370840">
                    <a:tc>
                      <a:txBody>
                        <a:bodyPr/>
                        <a:lstStyle/>
                        <a:p>
                          <a:endParaRPr lang="en-CN"/>
                        </a:p>
                      </a:txBody>
                      <a:tcPr/>
                    </a:tc>
                    <a:tc>
                      <a:txBody>
                        <a:bodyPr/>
                        <a:lstStyle/>
                        <a:p>
                          <a:r>
                            <a:rPr lang="en-CN" dirty="0"/>
                            <a:t>考虑遮蔽</a:t>
                          </a:r>
                          <a:r>
                            <a:rPr lang="zh-CN" altLang="en-US" dirty="0"/>
                            <a:t>？</a:t>
                          </a:r>
                          <a:endParaRPr lang="en-CN" dirty="0"/>
                        </a:p>
                      </a:txBody>
                      <a:tcPr/>
                    </a:tc>
                    <a:tc>
                      <a:txBody>
                        <a:bodyPr/>
                        <a:lstStyle/>
                        <a:p>
                          <a:r>
                            <a:rPr lang="en-CN" dirty="0"/>
                            <a:t>考虑覆尘</a:t>
                          </a:r>
                          <a:r>
                            <a:rPr lang="zh-CN" altLang="en-US" dirty="0"/>
                            <a:t>？</a:t>
                          </a:r>
                          <a:endParaRPr lang="en-CN" dirty="0"/>
                        </a:p>
                      </a:txBody>
                      <a:tcPr/>
                    </a:tc>
                    <a:extLst>
                      <a:ext uri="{0D108BD9-81ED-4DB2-BD59-A6C34878D82A}">
                        <a16:rowId xmlns:a16="http://schemas.microsoft.com/office/drawing/2014/main" val="962514225"/>
                      </a:ext>
                    </a:extLst>
                  </a:tr>
                  <a:tr h="370840">
                    <a:tc>
                      <a:txBody>
                        <a:bodyPr/>
                        <a:lstStyle/>
                        <a:p>
                          <a:pPr/>
                          <a14:m>
                            <m:oMathPara xmlns:m="http://schemas.openxmlformats.org/officeDocument/2006/math">
                              <m:o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𝐺</m:t>
                                    </m:r>
                                  </m:e>
                                  <m:sub>
                                    <m:r>
                                      <a:rPr lang="en-US" b="0" i="1" smtClean="0">
                                        <a:latin typeface="Cambria Math" panose="02040503050406030204" pitchFamily="18" charset="0"/>
                                      </a:rPr>
                                      <m:t>𝐷𝑖𝑚𝑚𝑖𝑛𝑔</m:t>
                                    </m:r>
                                  </m:sub>
                                  <m:sup>
                                    <m:r>
                                      <a:rPr lang="en-US" b="0" i="1" smtClean="0">
                                        <a:latin typeface="Cambria Math" panose="02040503050406030204" pitchFamily="18" charset="0"/>
                                      </a:rPr>
                                      <m:t>𝑆𝑜𝑖𝑙𝑖𝑛𝑔</m:t>
                                    </m:r>
                                  </m:sup>
                                </m:sSubSup>
                              </m:oMath>
                            </m:oMathPara>
                          </a14:m>
                          <a:endParaRPr lang="en-CN" dirty="0"/>
                        </a:p>
                      </a:txBody>
                      <a:tcPr/>
                    </a:tc>
                    <a:tc>
                      <a:txBody>
                        <a:bodyPr/>
                        <a:lstStyle/>
                        <a:p>
                          <a:r>
                            <a:rPr lang="en-CN" dirty="0"/>
                            <a:t>Yes</a:t>
                          </a:r>
                        </a:p>
                      </a:txBody>
                      <a:tcPr/>
                    </a:tc>
                    <a:tc>
                      <a:txBody>
                        <a:bodyPr/>
                        <a:lstStyle/>
                        <a:p>
                          <a:r>
                            <a:rPr lang="en-CN" dirty="0"/>
                            <a:t>Yes</a:t>
                          </a:r>
                        </a:p>
                      </a:txBody>
                      <a:tcPr/>
                    </a:tc>
                    <a:extLst>
                      <a:ext uri="{0D108BD9-81ED-4DB2-BD59-A6C34878D82A}">
                        <a16:rowId xmlns:a16="http://schemas.microsoft.com/office/drawing/2014/main" val="3455325161"/>
                      </a:ext>
                    </a:extLst>
                  </a:tr>
                  <a:tr h="370840">
                    <a:tc>
                      <a:txBody>
                        <a:bodyPr/>
                        <a:lstStyle/>
                        <a:p>
                          <a:pPr/>
                          <a14:m>
                            <m:oMathPara xmlns:m="http://schemas.openxmlformats.org/officeDocument/2006/math">
                              <m:o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𝐺</m:t>
                                    </m:r>
                                  </m:e>
                                  <m:sub>
                                    <m:r>
                                      <a:rPr lang="en-US" b="0" i="1" smtClean="0">
                                        <a:latin typeface="Cambria Math" panose="02040503050406030204" pitchFamily="18" charset="0"/>
                                      </a:rPr>
                                      <m:t>𝐷𝑖𝑚𝑚𝑖𝑛𝑔</m:t>
                                    </m:r>
                                  </m:sub>
                                  <m:sup>
                                    <m:r>
                                      <a:rPr lang="en-US" b="0" i="1" smtClean="0">
                                        <a:latin typeface="Cambria Math" panose="02040503050406030204" pitchFamily="18" charset="0"/>
                                      </a:rPr>
                                      <m:t>𝑁𝑂𝑆𝑜𝑖𝑙𝑖𝑛𝑔</m:t>
                                    </m:r>
                                  </m:sup>
                                </m:sSubSup>
                              </m:oMath>
                            </m:oMathPara>
                          </a14:m>
                          <a:endParaRPr lang="en-CN" dirty="0"/>
                        </a:p>
                      </a:txBody>
                      <a:tcPr/>
                    </a:tc>
                    <a:tc>
                      <a:txBody>
                        <a:bodyPr/>
                        <a:lstStyle/>
                        <a:p>
                          <a:r>
                            <a:rPr lang="en-CN" dirty="0"/>
                            <a:t>Yes</a:t>
                          </a:r>
                        </a:p>
                      </a:txBody>
                      <a:tcPr/>
                    </a:tc>
                    <a:tc>
                      <a:txBody>
                        <a:bodyPr/>
                        <a:lstStyle/>
                        <a:p>
                          <a:r>
                            <a:rPr lang="en-CN" dirty="0"/>
                            <a:t>No</a:t>
                          </a:r>
                        </a:p>
                      </a:txBody>
                      <a:tcPr/>
                    </a:tc>
                    <a:extLst>
                      <a:ext uri="{0D108BD9-81ED-4DB2-BD59-A6C34878D82A}">
                        <a16:rowId xmlns:a16="http://schemas.microsoft.com/office/drawing/2014/main" val="14595864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𝐺</m:t>
                                    </m:r>
                                  </m:e>
                                  <m:sub>
                                    <m:r>
                                      <a:rPr lang="en-US" b="0" i="1" smtClean="0">
                                        <a:latin typeface="Cambria Math" panose="02040503050406030204" pitchFamily="18" charset="0"/>
                                      </a:rPr>
                                      <m:t>𝑁𝑂𝐷𝑖𝑚𝑚𝑖𝑛𝑔</m:t>
                                    </m:r>
                                  </m:sub>
                                  <m:sup>
                                    <m:r>
                                      <a:rPr lang="en-US" b="0" i="1" smtClean="0">
                                        <a:latin typeface="Cambria Math" panose="02040503050406030204" pitchFamily="18" charset="0"/>
                                      </a:rPr>
                                      <m:t>𝑁𝑂𝑆𝑜𝑖𝑙𝑖𝑛𝑔</m:t>
                                    </m:r>
                                  </m:sup>
                                </m:sSubSup>
                              </m:oMath>
                            </m:oMathPara>
                          </a14:m>
                          <a:endParaRPr lang="en-CN" dirty="0"/>
                        </a:p>
                      </a:txBody>
                      <a:tcPr/>
                    </a:tc>
                    <a:tc>
                      <a:txBody>
                        <a:bodyPr/>
                        <a:lstStyle/>
                        <a:p>
                          <a:r>
                            <a:rPr lang="en-CN" dirty="0"/>
                            <a:t>No</a:t>
                          </a:r>
                        </a:p>
                      </a:txBody>
                      <a:tcPr/>
                    </a:tc>
                    <a:tc>
                      <a:txBody>
                        <a:bodyPr/>
                        <a:lstStyle/>
                        <a:p>
                          <a:r>
                            <a:rPr lang="en-CN" dirty="0"/>
                            <a:t>No</a:t>
                          </a:r>
                        </a:p>
                      </a:txBody>
                      <a:tcPr/>
                    </a:tc>
                    <a:extLst>
                      <a:ext uri="{0D108BD9-81ED-4DB2-BD59-A6C34878D82A}">
                        <a16:rowId xmlns:a16="http://schemas.microsoft.com/office/drawing/2014/main" val="2410656600"/>
                      </a:ext>
                    </a:extLst>
                  </a:tr>
                </a:tbl>
              </a:graphicData>
            </a:graphic>
          </p:graphicFrame>
        </mc:Choice>
        <mc:Fallback xmlns="">
          <p:graphicFrame>
            <p:nvGraphicFramePr>
              <p:cNvPr id="68" name="Table 67">
                <a:extLst>
                  <a:ext uri="{FF2B5EF4-FFF2-40B4-BE49-F238E27FC236}">
                    <a16:creationId xmlns:a16="http://schemas.microsoft.com/office/drawing/2014/main" id="{95AA19AE-565E-410F-1EDA-9312005179A2}"/>
                  </a:ext>
                </a:extLst>
              </p:cNvPr>
              <p:cNvGraphicFramePr>
                <a:graphicFrameLocks noGrp="1"/>
              </p:cNvGraphicFramePr>
              <p:nvPr>
                <p:extLst>
                  <p:ext uri="{D42A27DB-BD31-4B8C-83A1-F6EECF244321}">
                    <p14:modId xmlns:p14="http://schemas.microsoft.com/office/powerpoint/2010/main" val="380430053"/>
                  </p:ext>
                </p:extLst>
              </p:nvPr>
            </p:nvGraphicFramePr>
            <p:xfrm>
              <a:off x="745948" y="3835591"/>
              <a:ext cx="4854390" cy="1760539"/>
            </p:xfrm>
            <a:graphic>
              <a:graphicData uri="http://schemas.openxmlformats.org/drawingml/2006/table">
                <a:tbl>
                  <a:tblPr firstRow="1" bandRow="1">
                    <a:tableStyleId>{5C22544A-7EE6-4342-B048-85BDC9FD1C3A}</a:tableStyleId>
                  </a:tblPr>
                  <a:tblGrid>
                    <a:gridCol w="1618130">
                      <a:extLst>
                        <a:ext uri="{9D8B030D-6E8A-4147-A177-3AD203B41FA5}">
                          <a16:colId xmlns:a16="http://schemas.microsoft.com/office/drawing/2014/main" val="109115177"/>
                        </a:ext>
                      </a:extLst>
                    </a:gridCol>
                    <a:gridCol w="1618130">
                      <a:extLst>
                        <a:ext uri="{9D8B030D-6E8A-4147-A177-3AD203B41FA5}">
                          <a16:colId xmlns:a16="http://schemas.microsoft.com/office/drawing/2014/main" val="1645965103"/>
                        </a:ext>
                      </a:extLst>
                    </a:gridCol>
                    <a:gridCol w="1618130">
                      <a:extLst>
                        <a:ext uri="{9D8B030D-6E8A-4147-A177-3AD203B41FA5}">
                          <a16:colId xmlns:a16="http://schemas.microsoft.com/office/drawing/2014/main" val="805792371"/>
                        </a:ext>
                      </a:extLst>
                    </a:gridCol>
                  </a:tblGrid>
                  <a:tr h="370840">
                    <a:tc>
                      <a:txBody>
                        <a:bodyPr/>
                        <a:lstStyle/>
                        <a:p>
                          <a:endParaRPr lang="en-CN"/>
                        </a:p>
                      </a:txBody>
                      <a:tcPr/>
                    </a:tc>
                    <a:tc>
                      <a:txBody>
                        <a:bodyPr/>
                        <a:lstStyle/>
                        <a:p>
                          <a:r>
                            <a:rPr lang="en-CN" dirty="0"/>
                            <a:t>考虑遮蔽</a:t>
                          </a:r>
                          <a:r>
                            <a:rPr lang="zh-CN" altLang="en-US" dirty="0"/>
                            <a:t>？</a:t>
                          </a:r>
                          <a:endParaRPr lang="en-CN" dirty="0"/>
                        </a:p>
                      </a:txBody>
                      <a:tcPr/>
                    </a:tc>
                    <a:tc>
                      <a:txBody>
                        <a:bodyPr/>
                        <a:lstStyle/>
                        <a:p>
                          <a:r>
                            <a:rPr lang="en-CN" dirty="0"/>
                            <a:t>考虑覆尘</a:t>
                          </a:r>
                          <a:r>
                            <a:rPr lang="zh-CN" altLang="en-US" dirty="0"/>
                            <a:t>？</a:t>
                          </a:r>
                          <a:endParaRPr lang="en-CN" dirty="0"/>
                        </a:p>
                      </a:txBody>
                      <a:tcPr/>
                    </a:tc>
                    <a:extLst>
                      <a:ext uri="{0D108BD9-81ED-4DB2-BD59-A6C34878D82A}">
                        <a16:rowId xmlns:a16="http://schemas.microsoft.com/office/drawing/2014/main" val="962514225"/>
                      </a:ext>
                    </a:extLst>
                  </a:tr>
                  <a:tr h="463233">
                    <a:tc>
                      <a:txBody>
                        <a:bodyPr/>
                        <a:lstStyle/>
                        <a:p>
                          <a:endParaRPr lang="en-CN"/>
                        </a:p>
                      </a:txBody>
                      <a:tcPr>
                        <a:blipFill>
                          <a:blip r:embed="rId6"/>
                          <a:stretch>
                            <a:fillRect t="-83784" r="-201563" b="-205405"/>
                          </a:stretch>
                        </a:blipFill>
                      </a:tcPr>
                    </a:tc>
                    <a:tc>
                      <a:txBody>
                        <a:bodyPr/>
                        <a:lstStyle/>
                        <a:p>
                          <a:r>
                            <a:rPr lang="en-CN" dirty="0"/>
                            <a:t>Yes</a:t>
                          </a:r>
                        </a:p>
                      </a:txBody>
                      <a:tcPr/>
                    </a:tc>
                    <a:tc>
                      <a:txBody>
                        <a:bodyPr/>
                        <a:lstStyle/>
                        <a:p>
                          <a:r>
                            <a:rPr lang="en-CN" dirty="0"/>
                            <a:t>Yes</a:t>
                          </a:r>
                        </a:p>
                      </a:txBody>
                      <a:tcPr/>
                    </a:tc>
                    <a:extLst>
                      <a:ext uri="{0D108BD9-81ED-4DB2-BD59-A6C34878D82A}">
                        <a16:rowId xmlns:a16="http://schemas.microsoft.com/office/drawing/2014/main" val="3455325161"/>
                      </a:ext>
                    </a:extLst>
                  </a:tr>
                  <a:tr h="463233">
                    <a:tc>
                      <a:txBody>
                        <a:bodyPr/>
                        <a:lstStyle/>
                        <a:p>
                          <a:endParaRPr lang="en-CN"/>
                        </a:p>
                      </a:txBody>
                      <a:tcPr>
                        <a:blipFill>
                          <a:blip r:embed="rId6"/>
                          <a:stretch>
                            <a:fillRect t="-188889" r="-201563" b="-111111"/>
                          </a:stretch>
                        </a:blipFill>
                      </a:tcPr>
                    </a:tc>
                    <a:tc>
                      <a:txBody>
                        <a:bodyPr/>
                        <a:lstStyle/>
                        <a:p>
                          <a:r>
                            <a:rPr lang="en-CN" dirty="0"/>
                            <a:t>Yes</a:t>
                          </a:r>
                        </a:p>
                      </a:txBody>
                      <a:tcPr/>
                    </a:tc>
                    <a:tc>
                      <a:txBody>
                        <a:bodyPr/>
                        <a:lstStyle/>
                        <a:p>
                          <a:r>
                            <a:rPr lang="en-CN" dirty="0"/>
                            <a:t>No</a:t>
                          </a:r>
                        </a:p>
                      </a:txBody>
                      <a:tcPr/>
                    </a:tc>
                    <a:extLst>
                      <a:ext uri="{0D108BD9-81ED-4DB2-BD59-A6C34878D82A}">
                        <a16:rowId xmlns:a16="http://schemas.microsoft.com/office/drawing/2014/main" val="1459586435"/>
                      </a:ext>
                    </a:extLst>
                  </a:tr>
                  <a:tr h="463233">
                    <a:tc>
                      <a:txBody>
                        <a:bodyPr/>
                        <a:lstStyle/>
                        <a:p>
                          <a:endParaRPr lang="en-CN"/>
                        </a:p>
                      </a:txBody>
                      <a:tcPr>
                        <a:blipFill>
                          <a:blip r:embed="rId6"/>
                          <a:stretch>
                            <a:fillRect t="-281081" r="-201563" b="-8108"/>
                          </a:stretch>
                        </a:blipFill>
                      </a:tcPr>
                    </a:tc>
                    <a:tc>
                      <a:txBody>
                        <a:bodyPr/>
                        <a:lstStyle/>
                        <a:p>
                          <a:r>
                            <a:rPr lang="en-CN" dirty="0"/>
                            <a:t>No</a:t>
                          </a:r>
                        </a:p>
                      </a:txBody>
                      <a:tcPr/>
                    </a:tc>
                    <a:tc>
                      <a:txBody>
                        <a:bodyPr/>
                        <a:lstStyle/>
                        <a:p>
                          <a:r>
                            <a:rPr lang="en-CN" dirty="0"/>
                            <a:t>No</a:t>
                          </a:r>
                        </a:p>
                      </a:txBody>
                      <a:tcPr/>
                    </a:tc>
                    <a:extLst>
                      <a:ext uri="{0D108BD9-81ED-4DB2-BD59-A6C34878D82A}">
                        <a16:rowId xmlns:a16="http://schemas.microsoft.com/office/drawing/2014/main" val="2410656600"/>
                      </a:ext>
                    </a:extLst>
                  </a:tr>
                </a:tbl>
              </a:graphicData>
            </a:graphic>
          </p:graphicFrame>
        </mc:Fallback>
      </mc:AlternateContent>
      <p:cxnSp>
        <p:nvCxnSpPr>
          <p:cNvPr id="79" name="Straight Arrow Connector 78">
            <a:extLst>
              <a:ext uri="{FF2B5EF4-FFF2-40B4-BE49-F238E27FC236}">
                <a16:creationId xmlns:a16="http://schemas.microsoft.com/office/drawing/2014/main" id="{5D9FBB05-4BBB-BD91-E6CD-9BD16E880D7B}"/>
              </a:ext>
            </a:extLst>
          </p:cNvPr>
          <p:cNvCxnSpPr>
            <a:cxnSpLocks/>
            <a:stCxn id="17" idx="1"/>
            <a:endCxn id="68" idx="3"/>
          </p:cNvCxnSpPr>
          <p:nvPr/>
        </p:nvCxnSpPr>
        <p:spPr>
          <a:xfrm flipH="1">
            <a:off x="5600338" y="3545313"/>
            <a:ext cx="459416" cy="1170547"/>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aphicFrame>
        <p:nvGraphicFramePr>
          <p:cNvPr id="85" name="Table 84">
            <a:extLst>
              <a:ext uri="{FF2B5EF4-FFF2-40B4-BE49-F238E27FC236}">
                <a16:creationId xmlns:a16="http://schemas.microsoft.com/office/drawing/2014/main" id="{E87FB3BB-D2E4-43D1-C37D-EBB579FE10CB}"/>
              </a:ext>
            </a:extLst>
          </p:cNvPr>
          <p:cNvGraphicFramePr>
            <a:graphicFrameLocks noGrp="1"/>
          </p:cNvGraphicFramePr>
          <p:nvPr>
            <p:extLst>
              <p:ext uri="{D42A27DB-BD31-4B8C-83A1-F6EECF244321}">
                <p14:modId xmlns:p14="http://schemas.microsoft.com/office/powerpoint/2010/main" val="4282074180"/>
              </p:ext>
            </p:extLst>
          </p:nvPr>
        </p:nvGraphicFramePr>
        <p:xfrm>
          <a:off x="8726402" y="1451086"/>
          <a:ext cx="2970298" cy="2966720"/>
        </p:xfrm>
        <a:graphic>
          <a:graphicData uri="http://schemas.openxmlformats.org/drawingml/2006/table">
            <a:tbl>
              <a:tblPr firstRow="1" bandRow="1">
                <a:tableStyleId>{5C22544A-7EE6-4342-B048-85BDC9FD1C3A}</a:tableStyleId>
              </a:tblPr>
              <a:tblGrid>
                <a:gridCol w="2970298">
                  <a:extLst>
                    <a:ext uri="{9D8B030D-6E8A-4147-A177-3AD203B41FA5}">
                      <a16:colId xmlns:a16="http://schemas.microsoft.com/office/drawing/2014/main" val="765368048"/>
                    </a:ext>
                  </a:extLst>
                </a:gridCol>
              </a:tblGrid>
              <a:tr h="370840">
                <a:tc>
                  <a:txBody>
                    <a:bodyPr/>
                    <a:lstStyle/>
                    <a:p>
                      <a:pPr algn="ctr"/>
                      <a:r>
                        <a:rPr lang="en-CN" dirty="0"/>
                        <a:t>七个光伏发电效率情景</a:t>
                      </a:r>
                    </a:p>
                  </a:txBody>
                  <a:tcPr/>
                </a:tc>
                <a:extLst>
                  <a:ext uri="{0D108BD9-81ED-4DB2-BD59-A6C34878D82A}">
                    <a16:rowId xmlns:a16="http://schemas.microsoft.com/office/drawing/2014/main" val="2213050518"/>
                  </a:ext>
                </a:extLst>
              </a:tr>
              <a:tr h="370840">
                <a:tc>
                  <a:txBody>
                    <a:bodyPr/>
                    <a:lstStyle/>
                    <a:p>
                      <a:pPr algn="ctr"/>
                      <a:r>
                        <a:rPr lang="en-CN" dirty="0">
                          <a:latin typeface="Kaiti TC" panose="02010600040101010101" pitchFamily="2" charset="-120"/>
                          <a:ea typeface="Kaiti TC" panose="02010600040101010101" pitchFamily="2" charset="-120"/>
                        </a:rPr>
                        <a:t>基线</a:t>
                      </a:r>
                    </a:p>
                  </a:txBody>
                  <a:tcPr/>
                </a:tc>
                <a:extLst>
                  <a:ext uri="{0D108BD9-81ED-4DB2-BD59-A6C34878D82A}">
                    <a16:rowId xmlns:a16="http://schemas.microsoft.com/office/drawing/2014/main" val="318701481"/>
                  </a:ext>
                </a:extLst>
              </a:tr>
              <a:tr h="370840">
                <a:tc>
                  <a:txBody>
                    <a:bodyPr/>
                    <a:lstStyle/>
                    <a:p>
                      <a:pPr algn="ctr"/>
                      <a:r>
                        <a:rPr lang="en-CN" dirty="0">
                          <a:latin typeface="Kaiti TC" panose="02010600040101010101" pitchFamily="2" charset="-120"/>
                          <a:ea typeface="Kaiti TC" panose="02010600040101010101" pitchFamily="2" charset="-120"/>
                        </a:rPr>
                        <a:t>排放滞后</a:t>
                      </a:r>
                    </a:p>
                  </a:txBody>
                  <a:tcPr/>
                </a:tc>
                <a:extLst>
                  <a:ext uri="{0D108BD9-81ED-4DB2-BD59-A6C34878D82A}">
                    <a16:rowId xmlns:a16="http://schemas.microsoft.com/office/drawing/2014/main" val="406315006"/>
                  </a:ext>
                </a:extLst>
              </a:tr>
              <a:tr h="370840">
                <a:tc>
                  <a:txBody>
                    <a:bodyPr/>
                    <a:lstStyle/>
                    <a:p>
                      <a:pPr algn="ctr"/>
                      <a:r>
                        <a:rPr lang="en-CN" dirty="0">
                          <a:latin typeface="Kaiti TC" panose="02010600040101010101" pitchFamily="2" charset="-120"/>
                          <a:ea typeface="Kaiti TC" panose="02010600040101010101" pitchFamily="2" charset="-120"/>
                        </a:rPr>
                        <a:t>气象滞后</a:t>
                      </a:r>
                    </a:p>
                  </a:txBody>
                  <a:tcPr/>
                </a:tc>
                <a:extLst>
                  <a:ext uri="{0D108BD9-81ED-4DB2-BD59-A6C34878D82A}">
                    <a16:rowId xmlns:a16="http://schemas.microsoft.com/office/drawing/2014/main" val="2908399479"/>
                  </a:ext>
                </a:extLst>
              </a:tr>
              <a:tr h="370840">
                <a:tc>
                  <a:txBody>
                    <a:bodyPr/>
                    <a:lstStyle/>
                    <a:p>
                      <a:pPr algn="ctr"/>
                      <a:r>
                        <a:rPr lang="en-CN" dirty="0">
                          <a:latin typeface="Kaiti TC" panose="02010600040101010101" pitchFamily="2" charset="-120"/>
                          <a:ea typeface="Kaiti TC" panose="02010600040101010101" pitchFamily="2" charset="-120"/>
                        </a:rPr>
                        <a:t>区域传输滞后</a:t>
                      </a:r>
                    </a:p>
                  </a:txBody>
                  <a:tcPr/>
                </a:tc>
                <a:extLst>
                  <a:ext uri="{0D108BD9-81ED-4DB2-BD59-A6C34878D82A}">
                    <a16:rowId xmlns:a16="http://schemas.microsoft.com/office/drawing/2014/main" val="2319411040"/>
                  </a:ext>
                </a:extLst>
              </a:tr>
              <a:tr h="370840">
                <a:tc>
                  <a:txBody>
                    <a:bodyPr/>
                    <a:lstStyle/>
                    <a:p>
                      <a:pPr algn="ctr"/>
                      <a:r>
                        <a:rPr lang="en-CN" dirty="0">
                          <a:latin typeface="Kaiti TC" panose="02010600040101010101" pitchFamily="2" charset="-120"/>
                          <a:ea typeface="Kaiti TC" panose="02010600040101010101" pitchFamily="2" charset="-120"/>
                        </a:rPr>
                        <a:t>排放和气象滞后</a:t>
                      </a:r>
                    </a:p>
                  </a:txBody>
                  <a:tcPr/>
                </a:tc>
                <a:extLst>
                  <a:ext uri="{0D108BD9-81ED-4DB2-BD59-A6C34878D82A}">
                    <a16:rowId xmlns:a16="http://schemas.microsoft.com/office/drawing/2014/main" val="1843064928"/>
                  </a:ext>
                </a:extLst>
              </a:tr>
              <a:tr h="370840">
                <a:tc>
                  <a:txBody>
                    <a:bodyPr/>
                    <a:lstStyle/>
                    <a:p>
                      <a:pPr algn="ctr"/>
                      <a:r>
                        <a:rPr lang="en-CN" dirty="0">
                          <a:latin typeface="Kaiti TC" panose="02010600040101010101" pitchFamily="2" charset="-120"/>
                          <a:ea typeface="Kaiti TC" panose="02010600040101010101" pitchFamily="2" charset="-120"/>
                        </a:rPr>
                        <a:t>排放和区域传输滞后</a:t>
                      </a:r>
                    </a:p>
                  </a:txBody>
                  <a:tcPr/>
                </a:tc>
                <a:extLst>
                  <a:ext uri="{0D108BD9-81ED-4DB2-BD59-A6C34878D82A}">
                    <a16:rowId xmlns:a16="http://schemas.microsoft.com/office/drawing/2014/main" val="1181312707"/>
                  </a:ext>
                </a:extLst>
              </a:tr>
              <a:tr h="370840">
                <a:tc>
                  <a:txBody>
                    <a:bodyPr/>
                    <a:lstStyle/>
                    <a:p>
                      <a:pPr algn="ctr"/>
                      <a:r>
                        <a:rPr lang="en-CN" dirty="0">
                          <a:latin typeface="Kaiti TC" panose="02010600040101010101" pitchFamily="2" charset="-120"/>
                          <a:ea typeface="Kaiti TC" panose="02010600040101010101" pitchFamily="2" charset="-120"/>
                        </a:rPr>
                        <a:t>气象和区域传输滞后</a:t>
                      </a:r>
                    </a:p>
                  </a:txBody>
                  <a:tcPr/>
                </a:tc>
                <a:extLst>
                  <a:ext uri="{0D108BD9-81ED-4DB2-BD59-A6C34878D82A}">
                    <a16:rowId xmlns:a16="http://schemas.microsoft.com/office/drawing/2014/main" val="977838024"/>
                  </a:ext>
                </a:extLst>
              </a:tr>
            </a:tbl>
          </a:graphicData>
        </a:graphic>
      </p:graphicFrame>
      <p:cxnSp>
        <p:nvCxnSpPr>
          <p:cNvPr id="82" name="Straight Arrow Connector 81">
            <a:extLst>
              <a:ext uri="{FF2B5EF4-FFF2-40B4-BE49-F238E27FC236}">
                <a16:creationId xmlns:a16="http://schemas.microsoft.com/office/drawing/2014/main" id="{272FECFA-09AA-585E-0412-5AED20CD34D9}"/>
              </a:ext>
            </a:extLst>
          </p:cNvPr>
          <p:cNvCxnSpPr>
            <a:cxnSpLocks/>
            <a:endCxn id="85" idx="1"/>
          </p:cNvCxnSpPr>
          <p:nvPr/>
        </p:nvCxnSpPr>
        <p:spPr>
          <a:xfrm flipV="1">
            <a:off x="8264942" y="2934446"/>
            <a:ext cx="461460" cy="1436046"/>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aphicFrame>
        <p:nvGraphicFramePr>
          <p:cNvPr id="90" name="Table 89">
            <a:extLst>
              <a:ext uri="{FF2B5EF4-FFF2-40B4-BE49-F238E27FC236}">
                <a16:creationId xmlns:a16="http://schemas.microsoft.com/office/drawing/2014/main" id="{00013186-EFEF-83DB-4E40-EADE5874C433}"/>
              </a:ext>
            </a:extLst>
          </p:cNvPr>
          <p:cNvGraphicFramePr>
            <a:graphicFrameLocks noGrp="1"/>
          </p:cNvGraphicFramePr>
          <p:nvPr>
            <p:extLst>
              <p:ext uri="{D42A27DB-BD31-4B8C-83A1-F6EECF244321}">
                <p14:modId xmlns:p14="http://schemas.microsoft.com/office/powerpoint/2010/main" val="90163477"/>
              </p:ext>
            </p:extLst>
          </p:nvPr>
        </p:nvGraphicFramePr>
        <p:xfrm>
          <a:off x="8726402" y="4585456"/>
          <a:ext cx="2970298" cy="1112520"/>
        </p:xfrm>
        <a:graphic>
          <a:graphicData uri="http://schemas.openxmlformats.org/drawingml/2006/table">
            <a:tbl>
              <a:tblPr firstRow="1" bandRow="1">
                <a:tableStyleId>{5C22544A-7EE6-4342-B048-85BDC9FD1C3A}</a:tableStyleId>
              </a:tblPr>
              <a:tblGrid>
                <a:gridCol w="2970298">
                  <a:extLst>
                    <a:ext uri="{9D8B030D-6E8A-4147-A177-3AD203B41FA5}">
                      <a16:colId xmlns:a16="http://schemas.microsoft.com/office/drawing/2014/main" val="765368048"/>
                    </a:ext>
                  </a:extLst>
                </a:gridCol>
              </a:tblGrid>
              <a:tr h="370840">
                <a:tc>
                  <a:txBody>
                    <a:bodyPr/>
                    <a:lstStyle/>
                    <a:p>
                      <a:pPr algn="ctr"/>
                      <a:r>
                        <a:rPr lang="en-CN" dirty="0"/>
                        <a:t>两个光伏装机情景</a:t>
                      </a:r>
                    </a:p>
                  </a:txBody>
                  <a:tcPr/>
                </a:tc>
                <a:extLst>
                  <a:ext uri="{0D108BD9-81ED-4DB2-BD59-A6C34878D82A}">
                    <a16:rowId xmlns:a16="http://schemas.microsoft.com/office/drawing/2014/main" val="2213050518"/>
                  </a:ext>
                </a:extLst>
              </a:tr>
              <a:tr h="370840">
                <a:tc>
                  <a:txBody>
                    <a:bodyPr/>
                    <a:lstStyle/>
                    <a:p>
                      <a:pPr algn="ctr"/>
                      <a:r>
                        <a:rPr lang="en-CN" dirty="0">
                          <a:latin typeface="Kaiti TC" panose="02010600040101010101" pitchFamily="2" charset="-120"/>
                          <a:ea typeface="Kaiti TC" panose="02010600040101010101" pitchFamily="2" charset="-120"/>
                        </a:rPr>
                        <a:t>基线</a:t>
                      </a:r>
                    </a:p>
                  </a:txBody>
                  <a:tcPr/>
                </a:tc>
                <a:extLst>
                  <a:ext uri="{0D108BD9-81ED-4DB2-BD59-A6C34878D82A}">
                    <a16:rowId xmlns:a16="http://schemas.microsoft.com/office/drawing/2014/main" val="318701481"/>
                  </a:ext>
                </a:extLst>
              </a:tr>
              <a:tr h="370840">
                <a:tc>
                  <a:txBody>
                    <a:bodyPr/>
                    <a:lstStyle/>
                    <a:p>
                      <a:pPr algn="ctr"/>
                      <a:r>
                        <a:rPr lang="en-CN" dirty="0">
                          <a:latin typeface="Kaiti TC" panose="02010600040101010101" pitchFamily="2" charset="-120"/>
                          <a:ea typeface="Kaiti TC" panose="02010600040101010101" pitchFamily="2" charset="-120"/>
                        </a:rPr>
                        <a:t>光伏装机滞后</a:t>
                      </a:r>
                    </a:p>
                  </a:txBody>
                  <a:tcPr/>
                </a:tc>
                <a:extLst>
                  <a:ext uri="{0D108BD9-81ED-4DB2-BD59-A6C34878D82A}">
                    <a16:rowId xmlns:a16="http://schemas.microsoft.com/office/drawing/2014/main" val="406315006"/>
                  </a:ext>
                </a:extLst>
              </a:tr>
            </a:tbl>
          </a:graphicData>
        </a:graphic>
      </p:graphicFrame>
    </p:spTree>
    <p:extLst>
      <p:ext uri="{BB962C8B-B14F-4D97-AF65-F5344CB8AC3E}">
        <p14:creationId xmlns:p14="http://schemas.microsoft.com/office/powerpoint/2010/main" val="3717548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AF1EF-0311-3651-5C95-64C4C931CD67}"/>
              </a:ext>
            </a:extLst>
          </p:cNvPr>
          <p:cNvSpPr>
            <a:spLocks noGrp="1"/>
          </p:cNvSpPr>
          <p:nvPr>
            <p:ph type="title"/>
          </p:nvPr>
        </p:nvSpPr>
        <p:spPr/>
        <p:txBody>
          <a:bodyPr/>
          <a:lstStyle/>
          <a:p>
            <a:r>
              <a:rPr lang="en-CN" dirty="0"/>
              <a:t>现有光伏设施数据集概览</a:t>
            </a:r>
          </a:p>
        </p:txBody>
      </p:sp>
      <p:sp>
        <p:nvSpPr>
          <p:cNvPr id="3" name="Slide Number Placeholder 2">
            <a:extLst>
              <a:ext uri="{FF2B5EF4-FFF2-40B4-BE49-F238E27FC236}">
                <a16:creationId xmlns:a16="http://schemas.microsoft.com/office/drawing/2014/main" id="{B57123FF-41CA-2F97-C032-86973678F601}"/>
              </a:ext>
            </a:extLst>
          </p:cNvPr>
          <p:cNvSpPr>
            <a:spLocks noGrp="1"/>
          </p:cNvSpPr>
          <p:nvPr>
            <p:ph type="sldNum" sz="quarter" idx="12"/>
          </p:nvPr>
        </p:nvSpPr>
        <p:spPr/>
        <p:txBody>
          <a:bodyPr/>
          <a:lstStyle/>
          <a:p>
            <a:fld id="{3ACD1EC8-6F57-41A7-99F1-FEDB2874BA2B}" type="slidenum">
              <a:rPr lang="zh-CN" altLang="en-US" smtClean="0"/>
              <a:t>16</a:t>
            </a:fld>
            <a:endParaRPr lang="zh-CN" altLang="en-US"/>
          </a:p>
        </p:txBody>
      </p:sp>
      <p:graphicFrame>
        <p:nvGraphicFramePr>
          <p:cNvPr id="11" name="Object 10">
            <a:extLst>
              <a:ext uri="{FF2B5EF4-FFF2-40B4-BE49-F238E27FC236}">
                <a16:creationId xmlns:a16="http://schemas.microsoft.com/office/drawing/2014/main" id="{68A544FA-08B9-2FB4-BAB3-07774F45BADE}"/>
              </a:ext>
            </a:extLst>
          </p:cNvPr>
          <p:cNvGraphicFramePr>
            <a:graphicFrameLocks noChangeAspect="1"/>
          </p:cNvGraphicFramePr>
          <p:nvPr>
            <p:extLst>
              <p:ext uri="{D42A27DB-BD31-4B8C-83A1-F6EECF244321}">
                <p14:modId xmlns:p14="http://schemas.microsoft.com/office/powerpoint/2010/main" val="1744142465"/>
              </p:ext>
            </p:extLst>
          </p:nvPr>
        </p:nvGraphicFramePr>
        <p:xfrm>
          <a:off x="464733" y="3538566"/>
          <a:ext cx="11262535" cy="2938817"/>
        </p:xfrm>
        <a:graphic>
          <a:graphicData uri="http://schemas.openxmlformats.org/presentationml/2006/ole">
            <mc:AlternateContent xmlns:mc="http://schemas.openxmlformats.org/markup-compatibility/2006">
              <mc:Choice xmlns:v="urn:schemas-microsoft-com:vml" Requires="v">
                <p:oleObj name="Worksheet" r:id="rId3" imgW="12801600" imgH="3340100" progId="Excel.Sheet.12">
                  <p:embed/>
                </p:oleObj>
              </mc:Choice>
              <mc:Fallback>
                <p:oleObj name="Worksheet" r:id="rId3" imgW="12801600" imgH="3340100" progId="Excel.Sheet.12">
                  <p:embed/>
                  <p:pic>
                    <p:nvPicPr>
                      <p:cNvPr id="0" name=""/>
                      <p:cNvPicPr/>
                      <p:nvPr/>
                    </p:nvPicPr>
                    <p:blipFill>
                      <a:blip r:embed="rId4"/>
                      <a:stretch>
                        <a:fillRect/>
                      </a:stretch>
                    </p:blipFill>
                    <p:spPr>
                      <a:xfrm>
                        <a:off x="464733" y="3538566"/>
                        <a:ext cx="11262535" cy="2938817"/>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E9E9ADA8-B3A6-9999-38B9-707AADE25A26}"/>
              </a:ext>
            </a:extLst>
          </p:cNvPr>
          <p:cNvPicPr>
            <a:picLocks noChangeAspect="1"/>
          </p:cNvPicPr>
          <p:nvPr/>
        </p:nvPicPr>
        <p:blipFill>
          <a:blip r:embed="rId5"/>
          <a:stretch>
            <a:fillRect/>
          </a:stretch>
        </p:blipFill>
        <p:spPr>
          <a:xfrm>
            <a:off x="646879" y="1664475"/>
            <a:ext cx="10898243" cy="1772875"/>
          </a:xfrm>
          <a:prstGeom prst="rect">
            <a:avLst/>
          </a:prstGeom>
        </p:spPr>
      </p:pic>
      <p:sp>
        <p:nvSpPr>
          <p:cNvPr id="13" name="文本框 7">
            <a:extLst>
              <a:ext uri="{FF2B5EF4-FFF2-40B4-BE49-F238E27FC236}">
                <a16:creationId xmlns:a16="http://schemas.microsoft.com/office/drawing/2014/main" id="{CDA7AECC-C291-B373-ADB9-AAD5B5F8152C}"/>
              </a:ext>
            </a:extLst>
          </p:cNvPr>
          <p:cNvSpPr txBox="1"/>
          <p:nvPr/>
        </p:nvSpPr>
        <p:spPr>
          <a:xfrm>
            <a:off x="482601" y="929378"/>
            <a:ext cx="11214099" cy="707886"/>
          </a:xfrm>
          <a:prstGeom prst="rect">
            <a:avLst/>
          </a:prstGeom>
          <a:noFill/>
        </p:spPr>
        <p:txBody>
          <a:bodyPr wrap="square" rtlCol="0">
            <a:spAutoFit/>
          </a:bodyPr>
          <a:lstStyle/>
          <a:p>
            <a:pPr>
              <a:spcAft>
                <a:spcPts val="1200"/>
              </a:spcAft>
            </a:pPr>
            <a:r>
              <a:rPr lang="zh-CN" altLang="en-US" sz="2000" dirty="0"/>
              <a:t>基于遥感与深度学习的光伏设施数据集构建已成为主流，但现有数据集多局限于单一年份或少数年份，且普遍忽略光伏设施的拆除情况，难以支撑长期动态变化分析。</a:t>
            </a:r>
          </a:p>
        </p:txBody>
      </p:sp>
    </p:spTree>
    <p:extLst>
      <p:ext uri="{BB962C8B-B14F-4D97-AF65-F5344CB8AC3E}">
        <p14:creationId xmlns:p14="http://schemas.microsoft.com/office/powerpoint/2010/main" val="41078403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177e98ad-1ab0-4991-b7e8-761cc9e9e2e8&quot;,&quot;Name&quot;:&quot;极简9&quot;,&quot;Kind&quot;:&quot;Custom&quot;,&quot;OldGuidesSetting&quot;:{&quot;HeaderHeight&quot;:11.0,&quot;FooterHeight&quot;:4.0,&quot;SideMargin&quot;:4.0,&quot;TopMargin&quot;:0.0,&quot;BottomMargin&quot;:0.0,&quot;IntervalMargin&quot;:0.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33.49999999999994,&quot;left&quot;:76.75,&quot;top&quot;:120.48511811023623,&quot;width&quot;:815.7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33.49999999999994,&quot;left&quot;:76.75,&quot;top&quot;:120.48511811023623,&quot;width&quot;:815.7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33.49999999999994,&quot;left&quot;:76.75,&quot;top&quot;:120.48511811023623,&quot;width&quot;:815.7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33.49999999999994,&quot;left&quot;:76.75,&quot;top&quot;:120.48511811023623,&quot;width&quot;:815.7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33.49999999999994,&quot;left&quot;:76.75,&quot;top&quot;:120.48511811023623,&quot;width&quot;:815.7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33.49999999999994,&quot;left&quot;:76.75,&quot;top&quot;:120.48511811023623,&quot;width&quot;:815.7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33.49999999999994,&quot;left&quot;:76.75,&quot;top&quot;:120.48511811023623,&quot;width&quot;:815.7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33.49999999999994,&quot;left&quot;:76.75,&quot;top&quot;:120.48511811023623,&quot;width&quot;:815.7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33.49999999999994,&quot;left&quot;:76.75,&quot;top&quot;:120.48511811023623,&quot;width&quot;:815.7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33.49999999999994,&quot;left&quot;:76.75,&quot;top&quot;:120.48511811023623,&quot;width&quot;:815.7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33.49999999999994,&quot;left&quot;:76.75,&quot;top&quot;:120.48511811023623,&quot;width&quot;:815.7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33.49999999999994,&quot;left&quot;:76.75,&quot;top&quot;:120.48511811023623,&quot;width&quot;:815.75}"/>
</p:tagLst>
</file>

<file path=ppt/theme/theme1.xml><?xml version="1.0" encoding="utf-8"?>
<a:theme xmlns:a="http://schemas.openxmlformats.org/drawingml/2006/main" name="Office 主题​​">
  <a:themeElements>
    <a:clrScheme name="SJTUB">
      <a:dk1>
        <a:srgbClr val="000000"/>
      </a:dk1>
      <a:lt1>
        <a:srgbClr val="FFFFFF"/>
      </a:lt1>
      <a:dk2>
        <a:srgbClr val="BD9F68"/>
      </a:dk2>
      <a:lt2>
        <a:srgbClr val="B5B5B6"/>
      </a:lt2>
      <a:accent1>
        <a:srgbClr val="004098"/>
      </a:accent1>
      <a:accent2>
        <a:srgbClr val="0086D1"/>
      </a:accent2>
      <a:accent3>
        <a:srgbClr val="F08300"/>
      </a:accent3>
      <a:accent4>
        <a:srgbClr val="FDD000"/>
      </a:accent4>
      <a:accent5>
        <a:srgbClr val="338D27"/>
      </a:accent5>
      <a:accent6>
        <a:srgbClr val="00514E"/>
      </a:accent6>
      <a:hlink>
        <a:srgbClr val="B5B5B6"/>
      </a:hlink>
      <a:folHlink>
        <a:srgbClr val="BD9F68"/>
      </a:folHlink>
    </a:clrScheme>
    <a:fontScheme name="雅黑">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9632</TotalTime>
  <Words>1088</Words>
  <Application>Microsoft Macintosh PowerPoint</Application>
  <PresentationFormat>Widescreen</PresentationFormat>
  <Paragraphs>138</Paragraphs>
  <Slides>16</Slides>
  <Notes>9</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6" baseType="lpstr">
      <vt:lpstr>等线</vt:lpstr>
      <vt:lpstr>Kaiti TC</vt:lpstr>
      <vt:lpstr>微软雅黑</vt:lpstr>
      <vt:lpstr>汉仪君黑-45简</vt:lpstr>
      <vt:lpstr>Aptos</vt:lpstr>
      <vt:lpstr>Arial</vt:lpstr>
      <vt:lpstr>Calibri</vt:lpstr>
      <vt:lpstr>Cambria Math</vt:lpstr>
      <vt:lpstr>Office 主题​​</vt:lpstr>
      <vt:lpstr>Microsoft Excel Worksheet</vt:lpstr>
      <vt:lpstr>大气污染影响下长三角光伏发电损失的时空演变与驱动归因</vt:lpstr>
      <vt:lpstr>教育及科研工作经历</vt:lpstr>
      <vt:lpstr>学术成绩总览</vt:lpstr>
      <vt:lpstr>研究背景与关键科学问题</vt:lpstr>
      <vt:lpstr>成果一：定量评估</vt:lpstr>
      <vt:lpstr>成果二：来源解析</vt:lpstr>
      <vt:lpstr>成果三：应对策略</vt:lpstr>
      <vt:lpstr>拟开展工作研究背景与关键科学问题</vt:lpstr>
      <vt:lpstr>研究工作思路</vt:lpstr>
      <vt:lpstr>特色、创新点与进度安排</vt:lpstr>
      <vt:lpstr>谢谢！</vt:lpstr>
      <vt:lpstr>Additional Slides</vt:lpstr>
      <vt:lpstr>光伏发电效率及其颗粒物污染致损模拟</vt:lpstr>
      <vt:lpstr>光伏设施提取与装机容量估算</vt:lpstr>
      <vt:lpstr>光伏发电量损失估算及其演变归因</vt:lpstr>
      <vt:lpstr>现有光伏设施数据集概览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SHEN Xiaodan</dc:creator>
  <cp:lastModifiedBy>Fei Yao</cp:lastModifiedBy>
  <cp:revision>174</cp:revision>
  <dcterms:created xsi:type="dcterms:W3CDTF">2021-12-04T09:40:10Z</dcterms:created>
  <dcterms:modified xsi:type="dcterms:W3CDTF">2026-10-27T02:26:18Z</dcterms:modified>
  <cp:contentStatus/>
</cp:coreProperties>
</file>